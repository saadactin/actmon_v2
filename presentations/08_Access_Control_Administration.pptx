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4966"/>
                </a:solidFill>
                <a:latin typeface="Segoe UI"/>
              </a:rPr>
              <a:t>● ACTMON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C4966"/>
                </a:solidFill>
                <a:latin typeface="Segoe UI"/>
              </a:rPr>
              <a:t>ACCESS CONTROL
&amp; ADMINISTRATION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4114800"/>
            <a:ext cx="2377440" cy="73152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43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B47"/>
                </a:solidFill>
                <a:latin typeface="Segoe UI"/>
              </a:rPr>
              <a:t>Manage organizations, employees, roles and login accounts — and control exactly who can see and do what, with secure sign-in and a complete audit trail.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983480" cy="4846320"/>
          </a:xfrm>
          <a:prstGeom prst="roundRect">
            <a:avLst/>
          </a:prstGeom>
          <a:solidFill>
            <a:srgbClr val="B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/>
          <a:lstStyle/>
          <a:p>
            <a:pPr algn="l"/>
            <a:r>
              <a:rPr sz="2700" b="1">
                <a:solidFill>
                  <a:srgbClr val="1C4966"/>
                </a:solidFill>
                <a:latin typeface="Segoe UI"/>
              </a:rPr>
              <a:t>WHAT IS THE ADMINISTRATION MODULE?</a:t>
            </a:r>
          </a:p>
          <a:p>
            <a:pPr algn="l">
              <a:spcBef>
                <a:spcPts val="1000"/>
              </a:spcBef>
            </a:pPr>
            <a:r>
              <a:rPr sz="1250" b="0">
                <a:solidFill>
                  <a:srgbClr val="1C4966"/>
                </a:solidFill>
                <a:latin typeface="Segoe UI"/>
              </a:rPr>
              <a:t>It is Actmon's built-in access-control system. It manages your organizations, employees, roles and login accounts, and decides which screens and actions each user is allowed — all from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27432" cy="4663440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91072" y="134416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2527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01  </a:t>
            </a:r>
            <a:r>
              <a:rPr sz="1400" b="1">
                <a:solidFill>
                  <a:srgbClr val="1C4966"/>
                </a:solidFill>
                <a:latin typeface="Segoe UI"/>
              </a:rPr>
              <a:t>One place to manage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Add organizations, departments, designations and employees, then turn an employee into a login user, without touching the database directly.</a:t>
            </a:r>
          </a:p>
        </p:txBody>
      </p:sp>
      <p:sp>
        <p:nvSpPr>
          <p:cNvPr id="10" name="Oval 9"/>
          <p:cNvSpPr/>
          <p:nvPr/>
        </p:nvSpPr>
        <p:spPr>
          <a:xfrm>
            <a:off x="6291072" y="289864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8072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02  </a:t>
            </a:r>
            <a:r>
              <a:rPr sz="1400" b="1">
                <a:solidFill>
                  <a:srgbClr val="1C4966"/>
                </a:solidFill>
                <a:latin typeface="Segoe UI"/>
              </a:rPr>
              <a:t>Control who can do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Each role is granted specific pages and actions, so users only see and use the parts of Actmon their job actually needs.</a:t>
            </a:r>
          </a:p>
        </p:txBody>
      </p:sp>
      <p:sp>
        <p:nvSpPr>
          <p:cNvPr id="13" name="Oval 12"/>
          <p:cNvSpPr/>
          <p:nvPr/>
        </p:nvSpPr>
        <p:spPr>
          <a:xfrm>
            <a:off x="6291072" y="445312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4361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03  </a:t>
            </a:r>
            <a:r>
              <a:rPr sz="1400" b="1">
                <a:solidFill>
                  <a:srgbClr val="1C4966"/>
                </a:solidFill>
                <a:latin typeface="Segoe UI"/>
              </a:rPr>
              <a:t>Secure and audited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800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Sign-in uses a one-time passcode by email, and every change to master data is recorded for a complete audit trail.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BUSINESS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Stronger security, easier administration and clear accountability.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Stronger security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Access is granted by role, not by person, so each user gets exactly the permissions their job needs and nothing more — the principle of least privilege, applied across the whole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Easy onboarding &amp; offboarding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Create an employee, auto-generate a login, set a password and assign a role in minutes — and remove or lock access just as quickly when someone leaves the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Multi-company ready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Everything is separated by organization, so a single Actmon can serve many companies or teams while keeping each one's data and users fully apart from the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Compliance &amp; accountability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full audit log records who changed what and when, and login history shows who signed in, so you always have clear answers when there is an audit or a security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HOW ACCESS IS STRUCTURED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Access flows from the organization down to the individual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Organization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Everything belongs to an organization — the top level that keeps each company's roles, employees and users separate from every other company in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Roles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Within an organization you create roles such as Administrator or Database Administrator. A role is simply a named set of permissions that you then assign to people.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Pages &amp; permissions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The application is made of modules and pages. For each role you choose which pages it can open and what it can do there — view, add, edit or delete.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login account links a person (an employee) to a role. When they sign in, they automatically receive exactly the access their role allows — no more, no 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MASTER DATA YOU MANAGE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All the people and structure records live in one administration area.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Organizations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Company records with their details and status. This is the top level that every other record — roles, employees, users — belongs 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Departments &amp; designations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Reusable lists for organising employees by department and by job title, so people records stay consistent and easy to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Employees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People records holding the code, name, email, mobile, department, designation, joining date and reporting manager for each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Login accounts that connect an employee to a role, and control whether the account is active or locked.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EMPLOYEES &amp; INSTANT LOGIN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Adding a person and giving them access takes just one short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Auto employee code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When you add an employee, Actmon generates the next employee code automatically (for example ACT005), so codes stay unique and consistent without manual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Create login instantly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Right after the employee is saved, Actmon offers to create their login account, with the username suggested automatically from the person's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Set &amp; confirm password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You set the password with a confirm field and a show/hide toggle, and pick the role — all in one short, guided step that anyone can follow.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Correct linking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The login is linked to the right employee, so the system always knows who the user is — and sends their sign-in passcode to the correct email address.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ROLES &amp;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Fine-grained control over what each role can see and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Roles per organization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Each organization defines its own roles, so a role created in one company never affects users in any other company.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Modules &amp; pages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The app's menu is built from modules and pages, and permissions are granted at the page level, giving precise control over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Permission actions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For each role and page you allow specific actions — View, Add, Edit and Delete — combined in any way the role requires.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Role-permission grid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single grid lets you set, for every page, exactly what a role can do, giving a clear at-a-glance picture of who has access to what.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983480" cy="4846320"/>
          </a:xfrm>
          <a:prstGeom prst="roundRect">
            <a:avLst/>
          </a:prstGeom>
          <a:solidFill>
            <a:srgbClr val="B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/>
          <a:lstStyle/>
          <a:p>
            <a:pPr algn="l"/>
            <a:r>
              <a:rPr sz="2700" b="1">
                <a:solidFill>
                  <a:srgbClr val="1C4966"/>
                </a:solidFill>
                <a:latin typeface="Segoe UI"/>
              </a:rPr>
              <a:t>PERMISSIONS ARE ENFORCED EVERYWHERE</a:t>
            </a:r>
          </a:p>
          <a:p>
            <a:pPr algn="l">
              <a:spcBef>
                <a:spcPts val="1000"/>
              </a:spcBef>
            </a:pPr>
            <a:r>
              <a:rPr sz="1250" b="0">
                <a:solidFill>
                  <a:srgbClr val="1C4966"/>
                </a:solidFill>
                <a:latin typeface="Segoe UI"/>
              </a:rPr>
              <a:t>Permissions are not just stored — they are applied across the whole app. The menu, the buttons and the pages all respect the signed-in user's role.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27432" cy="4663440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91072" y="134416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2527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01  </a:t>
            </a:r>
            <a:r>
              <a:rPr sz="1400" b="1">
                <a:solidFill>
                  <a:srgbClr val="1C4966"/>
                </a:solidFill>
                <a:latin typeface="Segoe UI"/>
              </a:rPr>
              <a:t>Only what is allowed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A user only sees the menu items and pages their role can view, and only sees Add, Edit or Delete buttons where their role permits those actions.</a:t>
            </a:r>
          </a:p>
        </p:txBody>
      </p:sp>
      <p:sp>
        <p:nvSpPr>
          <p:cNvPr id="10" name="Oval 9"/>
          <p:cNvSpPr/>
          <p:nvPr/>
        </p:nvSpPr>
        <p:spPr>
          <a:xfrm>
            <a:off x="6291072" y="289864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8072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02  </a:t>
            </a:r>
            <a:r>
              <a:rPr sz="1400" b="1">
                <a:solidFill>
                  <a:srgbClr val="1C4966"/>
                </a:solidFill>
                <a:latin typeface="Segoe UI"/>
              </a:rPr>
              <a:t>Blocked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If a role has no access to a page, opening it is refused — so a restricted page cannot be reached just by typing its link directly.</a:t>
            </a:r>
          </a:p>
        </p:txBody>
      </p:sp>
      <p:sp>
        <p:nvSpPr>
          <p:cNvPr id="13" name="Oval 12"/>
          <p:cNvSpPr/>
          <p:nvPr/>
        </p:nvSpPr>
        <p:spPr>
          <a:xfrm>
            <a:off x="6291072" y="445312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4361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03  </a:t>
            </a:r>
            <a:r>
              <a:rPr sz="1400" b="1">
                <a:solidFill>
                  <a:srgbClr val="1C4966"/>
                </a:solidFill>
                <a:latin typeface="Segoe UI"/>
              </a:rPr>
              <a:t>Self-protection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800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An administrator cannot change the permissions of their own role, which prevents accidental or deliberate privilege escalation.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SECURE LOGIN WITH A ONE-TIME PASSCODE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Signing in takes two steps, so a stolen password alone is not enough.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Username &amp; password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Sign-in begins with the username and password of the user account, checked against the stored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One-time passcode (OTP)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six-digit code is then emailed to the user and must be entered to continue — a second factor that blocks anyone who only has the password.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Session &amp; sign-out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Once the code is verified, a secure session is created. Users can sign out at any time, and sessions expire on their own after a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Account protection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Accounts can be locked, and repeated failed sign-ins are tracked, helping protect against password-guessing attempts.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983480" cy="4846320"/>
          </a:xfrm>
          <a:prstGeom prst="roundRect">
            <a:avLst/>
          </a:prstGeom>
          <a:solidFill>
            <a:srgbClr val="B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274320"/>
          <a:lstStyle/>
          <a:p>
            <a:pPr algn="l"/>
            <a:r>
              <a:rPr sz="2700" b="1">
                <a:solidFill>
                  <a:srgbClr val="1C4966"/>
                </a:solidFill>
                <a:latin typeface="Segoe UI"/>
              </a:rPr>
              <a:t>BUILT FOR MANY ORGANIZATIONS</a:t>
            </a:r>
          </a:p>
          <a:p>
            <a:pPr algn="l">
              <a:spcBef>
                <a:spcPts val="1000"/>
              </a:spcBef>
            </a:pPr>
            <a:r>
              <a:rPr sz="1250" b="0">
                <a:solidFill>
                  <a:srgbClr val="1C4966"/>
                </a:solidFill>
                <a:latin typeface="Segoe UI"/>
              </a:rPr>
              <a:t>Actmon is multi-tenant: it can serve many organizations from one system, with each organization's data kept completely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27432" cy="4663440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91072" y="134416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2527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01  </a:t>
            </a:r>
            <a:r>
              <a:rPr sz="1400" b="1">
                <a:solidFill>
                  <a:srgbClr val="1C4966"/>
                </a:solidFill>
                <a:latin typeface="Segoe UI"/>
              </a:rPr>
              <a:t>Separated by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16916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Every record — roles, employees, users and permissions — belongs to an organization, so companies never see each other's data.</a:t>
            </a:r>
          </a:p>
        </p:txBody>
      </p:sp>
      <p:sp>
        <p:nvSpPr>
          <p:cNvPr id="10" name="Oval 9"/>
          <p:cNvSpPr/>
          <p:nvPr/>
        </p:nvSpPr>
        <p:spPr>
          <a:xfrm>
            <a:off x="6291072" y="289864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8072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02  </a:t>
            </a:r>
            <a:r>
              <a:rPr sz="1400" b="1">
                <a:solidFill>
                  <a:srgbClr val="1C4966"/>
                </a:solidFill>
                <a:latin typeface="Segoe UI"/>
              </a:rPr>
              <a:t>Super administrator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A super administrator can work across all organizations, which is useful for the central team that runs the platform.</a:t>
            </a:r>
          </a:p>
        </p:txBody>
      </p:sp>
      <p:sp>
        <p:nvSpPr>
          <p:cNvPr id="13" name="Oval 12"/>
          <p:cNvSpPr/>
          <p:nvPr/>
        </p:nvSpPr>
        <p:spPr>
          <a:xfrm>
            <a:off x="6291072" y="4453128"/>
            <a:ext cx="155448" cy="155448"/>
          </a:xfrm>
          <a:prstGeom prst="ellipse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4361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4966"/>
                </a:solidFill>
                <a:latin typeface="Segoe UI"/>
              </a:rPr>
              <a:t>03  </a:t>
            </a:r>
            <a:r>
              <a:rPr sz="1400" b="1">
                <a:solidFill>
                  <a:srgbClr val="1C4966"/>
                </a:solidFill>
                <a:latin typeface="Segoe UI"/>
              </a:rPr>
              <a:t>Scoped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800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B47"/>
                </a:solidFill>
                <a:latin typeface="Segoe UI"/>
              </a:rPr>
              <a:t>Everyone else is automatically limited to their own organization, so they only ever manage their own company's people and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AUDITING, SESSIONS &amp;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A complete record of who did what, and who is signed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Audit log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Every add, edit and delete to master data is recorded with the old and new values, who made the change, and from which address — a complete, tamper-evident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Login history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record of who signed in and when, including device and address, so unusual or unexpected access is easy to spot and investigate.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Active sessions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The current user sessions are listed, so you can see exactly who is signed in to Actmon right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Password history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Password changes are tracked over time, which supports good password hygiene and any password-reuse policy you operate.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48495" y="-1554480"/>
            <a:ext cx="4206240" cy="420624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97680"/>
            <a:ext cx="4023360" cy="4023360"/>
          </a:xfrm>
          <a:prstGeom prst="ellipse">
            <a:avLst/>
          </a:prstGeom>
          <a:solidFill>
            <a:srgbClr val="D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4966"/>
                </a:solidFill>
                <a:latin typeface="Segoe UI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207008"/>
            <a:ext cx="1463040" cy="54864"/>
          </a:xfrm>
          <a:prstGeom prst="rect">
            <a:avLst/>
          </a:prstGeom>
          <a:solidFill>
            <a:srgbClr val="1C4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B47"/>
                </a:solidFill>
                <a:latin typeface="Segoe UI"/>
              </a:rPr>
              <a:t>Manage people and access centrally — securely, separately and accountably.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5417820" cy="1965960"/>
          </a:xfrm>
          <a:prstGeom prst="roundRect">
            <a:avLst/>
          </a:prstGeom>
          <a:solidFill>
            <a:srgbClr val="6E9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01   </a:t>
            </a:r>
            <a:r>
              <a:rPr sz="1400" b="1">
                <a:solidFill>
                  <a:srgbClr val="FFFFFF"/>
                </a:solidFill>
                <a:latin typeface="Segoe UI"/>
              </a:rPr>
              <a:t>Manage people &amp; companies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Organizations, departments, designations, employees and login users are all managed in one administration 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965960"/>
            <a:ext cx="5417820" cy="1965960"/>
          </a:xfrm>
          <a:prstGeom prst="roundRect">
            <a:avLst/>
          </a:prstGeom>
          <a:solidFill>
            <a:srgbClr val="4F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02   </a:t>
            </a:r>
            <a:r>
              <a:rPr sz="1400" b="1">
                <a:solidFill>
                  <a:srgbClr val="FFFFFF"/>
                </a:solidFill>
                <a:latin typeface="Segoe UI"/>
              </a:rPr>
              <a:t>Control access by role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Grant each role the exact pages and actions it needs, and have those rules enforced consistently across the whole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417820" cy="1965960"/>
          </a:xfrm>
          <a:prstGeom prst="roundRect">
            <a:avLst/>
          </a:prstGeom>
          <a:solidFill>
            <a:srgbClr val="3A6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03   </a:t>
            </a:r>
            <a:r>
              <a:rPr sz="1400" b="1">
                <a:solidFill>
                  <a:srgbClr val="FFFFFF"/>
                </a:solidFill>
                <a:latin typeface="Segoe UI"/>
              </a:rPr>
              <a:t>Secure every login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password plus an emailed one-time passcode, with account lockout and session control, protects every sign-in.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206240"/>
            <a:ext cx="5417820" cy="1965960"/>
          </a:xfrm>
          <a:prstGeom prst="roundRect">
            <a:avLst/>
          </a:prstGeom>
          <a:solidFill>
            <a:srgbClr val="2A5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37744" tIns="146304"/>
          <a:lstStyle/>
          <a:p>
            <a:pPr algn="l"/>
            <a:r>
              <a:rPr sz="1800" b="1">
                <a:solidFill>
                  <a:srgbClr val="D7E6EF"/>
                </a:solidFill>
                <a:latin typeface="Segoe UI"/>
              </a:rPr>
              <a:t>04   </a:t>
            </a:r>
            <a:r>
              <a:rPr sz="1400" b="1">
                <a:solidFill>
                  <a:srgbClr val="FFFFFF"/>
                </a:solidFill>
                <a:latin typeface="Segoe UI"/>
              </a:rPr>
              <a:t>Prove what happened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Segoe UI"/>
              </a:rPr>
              <a:t>A full audit log, login history, active sessions and password history give you complete accountability at any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6B76"/>
                </a:solidFill>
                <a:latin typeface="Segoe UI"/>
              </a:rPr>
              <a:t>Actmon  ·  Access Control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E6B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