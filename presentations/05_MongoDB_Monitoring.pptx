
<file path=[Content_Types].xml><?xml version="1.0" encoding="utf-8"?>
<Types xmlns="http://schemas.openxmlformats.org/package/2006/content-types">
  <Default Extension="bin" ContentType="application/vnd.openxmlformats-officedocument.presentationml.printerSettings"/>
  <Default Extension="jpeg" ContentType="image/jpeg"/>
  <Default Extension="rels" ContentType="application/vnd.openxmlformats-package.relationships+xml"/>
  <Default Extension="xml" ContentType="application/xml"/>
  <Override PartName="/docProps/app.xml" ContentType="application/vnd.openxmlformats-officedocument.extended-properties+xml"/>
  <Override PartName="/docProps/core.xml" ContentType="application/vnd.openxmlformats-package.core-properties+xml"/>
  <Override PartName="/ppt/presProps.xml" ContentType="application/vnd.openxmlformats-officedocument.presentationml.presProps+xml"/>
  <Override PartName="/ppt/presentation.xml" ContentType="application/vnd.openxmlformats-officedocument.presentationml.presentation.main+xml"/>
  <Override PartName="/ppt/slideLayouts/slideLayout1.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Masters/slideMaster1.xml" ContentType="application/vnd.openxmlformats-officedocument.presentationml.slideMaster+xml"/>
  <Override PartName="/ppt/slides/slide1.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slides/slide15.xml" ContentType="application/vnd.openxmlformats-officedocument.presentationml.slide+xml"/>
  <Override PartName="/ppt/slides/slide16.xml" ContentType="application/vnd.openxmlformats-officedocument.presentationml.slide+xml"/>
  <Override PartName="/ppt/slides/slide17.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tableStyles.xml" ContentType="application/vnd.openxmlformats-officedocument.presentationml.tableStyles+xml"/>
  <Override PartName="/ppt/theme/theme1.xml" ContentType="application/vnd.openxmlformats-officedocument.theme+xml"/>
  <Override PartName="/ppt/viewProps.xml" ContentType="application/vnd.openxmlformats-officedocument.presentationml.viewProps+xml"/>
</Types>
</file>

<file path=_rels/.rels><?xml version='1.0' encoding='UTF-8' standalone='yes'?>
<Relationships xmlns="http://schemas.openxmlformats.org/package/2006/relationships"><Relationship Id="rId1" Type="http://schemas.openxmlformats.org/officeDocument/2006/relationships/officeDocument" Target="ppt/presentation.xml"/><Relationship Id="rId2" Type="http://schemas.openxmlformats.org/package/2006/relationships/metadata/thumbnail" Target="docProps/thumbnail.jpeg"/><Relationship Id="rId3" Type="http://schemas.openxmlformats.org/package/2006/relationships/metadata/core-properties" Target="docProps/core.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autoCompressPictures="0">
  <p:sldMasterIdLst>
    <p:sldMasterId id="2147483648" r:id="rId1"/>
  </p:sldMasterIdLst>
  <p:sldIdLst>
    <p:sldId id="256" r:id="rId7"/>
    <p:sldId id="257" r:id="rId8"/>
    <p:sldId id="258" r:id="rId9"/>
    <p:sldId id="259" r:id="rId10"/>
    <p:sldId id="260" r:id="rId11"/>
    <p:sldId id="261" r:id="rId12"/>
    <p:sldId id="262" r:id="rId13"/>
    <p:sldId id="263" r:id="rId14"/>
    <p:sldId id="264" r:id="rId15"/>
    <p:sldId id="265" r:id="rId16"/>
    <p:sldId id="266" r:id="rId17"/>
    <p:sldId id="267" r:id="rId18"/>
    <p:sldId id="268" r:id="rId19"/>
    <p:sldId id="269" r:id="rId20"/>
    <p:sldId id="270" r:id="rId21"/>
    <p:sldId id="271" r:id="rId22"/>
    <p:sldId id="272" r:id="rId23"/>
  </p:sldIdLst>
  <p:sldSz cx="12191695" cy="6858000" type="screen4x3"/>
  <p:notesSz cx="6858000" cy="9144000"/>
  <p:defaultText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p:defaultTextStyle>
</p:presentation>
</file>

<file path=ppt/presProps.xml><?xml version="1.0" encoding="utf-8"?>
<p:presentationPr xmlns:a="http://schemas.openxmlformats.org/drawingml/2006/main" xmlns:r="http://schemas.openxmlformats.org/officeDocument/2006/relationships" xmlns:p="http://schemas.openxmlformats.org/presentationml/2006/main">
  <p:extLst>
    <p:ext uri="{E76CE94A-603C-4142-B9EB-6D1370010A27}">
      <p14:discardImageEditData xmlns:p14="http://schemas.microsoft.com/office/powerpoint/2010/main" val="0"/>
    </p:ext>
    <p:ext uri="{D31A062A-798A-4329-ABDD-BBA856620510}">
      <p14:defaultImageDpi xmlns:p14="http://schemas.microsoft.com/office/powerpoint/2010/main" val="0"/>
    </p:ext>
  </p:extLst>
</p:presentationPr>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lastView="sldThumbnailView">
  <p:normalViewPr>
    <p:restoredLeft sz="15620"/>
    <p:restoredTop sz="94660"/>
  </p:normalViewPr>
  <p:slideViewPr>
    <p:cSldViewPr snapToGrid="0" snapToObjects="1">
      <p:cViewPr varScale="1">
        <p:scale>
          <a:sx n="124" d="100"/>
          <a:sy n="124" d="100"/>
        </p:scale>
        <p:origin x="-1512" y="-112"/>
      </p:cViewPr>
      <p:guideLst>
        <p:guide orient="horz" pos="2160"/>
        <p:guide pos="2880"/>
      </p:guideLst>
    </p:cSldViewPr>
  </p:slideViewPr>
  <p:notesTextViewPr>
    <p:cViewPr>
      <p:scale>
        <a:sx n="100" d="100"/>
        <a:sy n="100" d="100"/>
      </p:scale>
      <p:origin x="0" y="0"/>
    </p:cViewPr>
  </p:notesTextViewPr>
  <p:gridSpacing cx="76200" cy="76200"/>
</p:viewPr>
</file>

<file path=ppt/_rels/presentation.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printerSettings" Target="printerSettings/printerSettings1.bin"/><Relationship Id="rId3" Type="http://schemas.openxmlformats.org/officeDocument/2006/relationships/presProps" Target="presProps.xml"/><Relationship Id="rId4" Type="http://schemas.openxmlformats.org/officeDocument/2006/relationships/viewProps" Target="viewProps.xml"/><Relationship Id="rId5" Type="http://schemas.openxmlformats.org/officeDocument/2006/relationships/theme" Target="theme/theme1.xml"/><Relationship Id="rId6" Type="http://schemas.openxmlformats.org/officeDocument/2006/relationships/tableStyles" Target="tableStyles.xml"/><Relationship Id="rId7" Type="http://schemas.openxmlformats.org/officeDocument/2006/relationships/slide" Target="slides/slide1.xml"/><Relationship Id="rId8" Type="http://schemas.openxmlformats.org/officeDocument/2006/relationships/slide" Target="slides/slide2.xml"/><Relationship Id="rId9" Type="http://schemas.openxmlformats.org/officeDocument/2006/relationships/slide" Target="slides/slide3.xml"/><Relationship Id="rId10" Type="http://schemas.openxmlformats.org/officeDocument/2006/relationships/slide" Target="slides/slide4.xml"/><Relationship Id="rId11" Type="http://schemas.openxmlformats.org/officeDocument/2006/relationships/slide" Target="slides/slide5.xml"/><Relationship Id="rId12" Type="http://schemas.openxmlformats.org/officeDocument/2006/relationships/slide" Target="slides/slide6.xml"/><Relationship Id="rId13" Type="http://schemas.openxmlformats.org/officeDocument/2006/relationships/slide" Target="slides/slide7.xml"/><Relationship Id="rId14" Type="http://schemas.openxmlformats.org/officeDocument/2006/relationships/slide" Target="slides/slide8.xml"/><Relationship Id="rId15" Type="http://schemas.openxmlformats.org/officeDocument/2006/relationships/slide" Target="slides/slide9.xml"/><Relationship Id="rId16" Type="http://schemas.openxmlformats.org/officeDocument/2006/relationships/slide" Target="slides/slide10.xml"/><Relationship Id="rId17" Type="http://schemas.openxmlformats.org/officeDocument/2006/relationships/slide" Target="slides/slide11.xml"/><Relationship Id="rId18" Type="http://schemas.openxmlformats.org/officeDocument/2006/relationships/slide" Target="slides/slide12.xml"/><Relationship Id="rId19" Type="http://schemas.openxmlformats.org/officeDocument/2006/relationships/slide" Target="slides/slide13.xml"/><Relationship Id="rId20" Type="http://schemas.openxmlformats.org/officeDocument/2006/relationships/slide" Target="slides/slide14.xml"/><Relationship Id="rId21" Type="http://schemas.openxmlformats.org/officeDocument/2006/relationships/slide" Target="slides/slide15.xml"/><Relationship Id="rId22" Type="http://schemas.openxmlformats.org/officeDocument/2006/relationships/slide" Target="slides/slide16.xml"/><Relationship Id="rId23" Type="http://schemas.openxmlformats.org/officeDocument/2006/relationships/slide" Target="slides/slide17.xml"/></Relationship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type="title" preserve="1">
  <p:cSld name="Title Slide">
    <p:spTree>
      <p:nvGrpSpPr>
        <p:cNvPr id="1" name=""/>
        <p:cNvGrpSpPr/>
        <p:nvPr/>
      </p:nvGrpSpPr>
      <p:grpSpPr>
        <a:xfrm>
          <a:off x="0" y="0"/>
          <a:ext cx="0" cy="0"/>
          <a:chOff x="0" y="0"/>
          <a:chExt cx="0" cy="0"/>
        </a:xfrm>
      </p:grpSpPr>
      <p:sp>
        <p:nvSpPr>
          <p:cNvPr id="2" name="Title 1"/>
          <p:cNvSpPr>
            <a:spLocks noGrp="1"/>
          </p:cNvSpPr>
          <p:nvPr>
            <p:ph type="ctrTitle"/>
          </p:nvPr>
        </p:nvSpPr>
        <p:spPr>
          <a:xfrm>
            <a:off x="685800" y="2130425"/>
            <a:ext cx="7772400" cy="1470025"/>
          </a:xfrm>
        </p:spPr>
        <p:txBody>
          <a:bodyPr/>
          <a:lstStyle/>
          <a:p>
            <a:r>
              <a:rPr lang="en-US" smtClean="0"/>
              <a:t>Click to edit Master title style</a:t>
            </a:r>
            <a:endParaRPr lang="en-US"/>
          </a:p>
        </p:txBody>
      </p:sp>
      <p:sp>
        <p:nvSpPr>
          <p:cNvPr id="3" name="Subtitle 2"/>
          <p:cNvSpPr>
            <a:spLocks noGrp="1"/>
          </p:cNvSpPr>
          <p:nvPr>
            <p:ph type="subTitle" idx="1"/>
          </p:nvPr>
        </p:nvSpPr>
        <p:spPr>
          <a:xfrm>
            <a:off x="1371600" y="3886200"/>
            <a:ext cx="6400800" cy="1752600"/>
          </a:xfrm>
        </p:spPr>
        <p:txBody>
          <a:bodyPr/>
          <a:lstStyle>
            <a:lvl1pPr marL="0" indent="0" algn="ctr">
              <a:buNone/>
              <a:defRPr>
                <a:solidFill>
                  <a:schemeClr val="tx1">
                    <a:tint val="75000"/>
                  </a:schemeClr>
                </a:solidFill>
              </a:defRPr>
            </a:lvl1pPr>
            <a:lvl2pPr marL="457200" indent="0" algn="ctr">
              <a:buNone/>
              <a:defRPr>
                <a:solidFill>
                  <a:schemeClr val="tx1">
                    <a:tint val="75000"/>
                  </a:schemeClr>
                </a:solidFill>
              </a:defRPr>
            </a:lvl2pPr>
            <a:lvl3pPr marL="914400" indent="0" algn="ctr">
              <a:buNone/>
              <a:defRPr>
                <a:solidFill>
                  <a:schemeClr val="tx1">
                    <a:tint val="75000"/>
                  </a:schemeClr>
                </a:solidFill>
              </a:defRPr>
            </a:lvl3pPr>
            <a:lvl4pPr marL="1371600" indent="0" algn="ctr">
              <a:buNone/>
              <a:defRPr>
                <a:solidFill>
                  <a:schemeClr val="tx1">
                    <a:tint val="75000"/>
                  </a:schemeClr>
                </a:solidFill>
              </a:defRPr>
            </a:lvl4pPr>
            <a:lvl5pPr marL="1828800" indent="0" algn="ctr">
              <a:buNone/>
              <a:defRPr>
                <a:solidFill>
                  <a:schemeClr val="tx1">
                    <a:tint val="75000"/>
                  </a:schemeClr>
                </a:solidFill>
              </a:defRPr>
            </a:lvl5pPr>
            <a:lvl6pPr marL="2286000" indent="0" algn="ctr">
              <a:buNone/>
              <a:defRPr>
                <a:solidFill>
                  <a:schemeClr val="tx1">
                    <a:tint val="75000"/>
                  </a:schemeClr>
                </a:solidFill>
              </a:defRPr>
            </a:lvl6pPr>
            <a:lvl7pPr marL="2743200" indent="0" algn="ctr">
              <a:buNone/>
              <a:defRPr>
                <a:solidFill>
                  <a:schemeClr val="tx1">
                    <a:tint val="75000"/>
                  </a:schemeClr>
                </a:solidFill>
              </a:defRPr>
            </a:lvl7pPr>
            <a:lvl8pPr marL="3200400" indent="0" algn="ctr">
              <a:buNone/>
              <a:defRPr>
                <a:solidFill>
                  <a:schemeClr val="tx1">
                    <a:tint val="75000"/>
                  </a:schemeClr>
                </a:solidFill>
              </a:defRPr>
            </a:lvl8pPr>
            <a:lvl9pPr marL="3657600" indent="0" algn="ctr">
              <a:buNone/>
              <a:defRPr>
                <a:solidFill>
                  <a:schemeClr val="tx1">
                    <a:tint val="75000"/>
                  </a:schemeClr>
                </a:solidFill>
              </a:defRPr>
            </a:lvl9pPr>
          </a:lstStyle>
          <a:p>
            <a:r>
              <a:rPr lang="en-US" smtClean="0"/>
              <a:t>Click to edit Master subtitle style</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168075583"/>
      </p:ext>
    </p:extLst>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Content Placeholder 2"/>
          <p:cNvSpPr>
            <a:spLocks noGrp="1"/>
          </p:cNvSpPr>
          <p:nvPr>
            <p:ph idx="1"/>
          </p:nvPr>
        </p:nvSpPr>
        <p:spPr/>
        <p:txBody>
          <a:body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614314258"/>
      </p:ext>
    </p:extLst>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type="secHead" preserve="1">
  <p:cSld name="Section Header">
    <p:spTree>
      <p:nvGrpSpPr>
        <p:cNvPr id="1" name=""/>
        <p:cNvGrpSpPr/>
        <p:nvPr/>
      </p:nvGrpSpPr>
      <p:grpSpPr>
        <a:xfrm>
          <a:off x="0" y="0"/>
          <a:ext cx="0" cy="0"/>
          <a:chOff x="0" y="0"/>
          <a:chExt cx="0" cy="0"/>
        </a:xfrm>
      </p:grpSpPr>
      <p:sp>
        <p:nvSpPr>
          <p:cNvPr id="2" name="Title 1"/>
          <p:cNvSpPr>
            <a:spLocks noGrp="1"/>
          </p:cNvSpPr>
          <p:nvPr>
            <p:ph type="title"/>
          </p:nvPr>
        </p:nvSpPr>
        <p:spPr>
          <a:xfrm>
            <a:off x="722313" y="4406900"/>
            <a:ext cx="7772400" cy="1362075"/>
          </a:xfrm>
        </p:spPr>
        <p:txBody>
          <a:bodyPr anchor="t"/>
          <a:lstStyle>
            <a:lvl1pPr algn="l">
              <a:defRPr sz="4000" b="1" cap="all"/>
            </a:lvl1pPr>
          </a:lstStyle>
          <a:p>
            <a:r>
              <a:rPr lang="en-US" smtClean="0"/>
              <a:t>Click to edit Master title style</a:t>
            </a:r>
            <a:endParaRPr lang="en-US"/>
          </a:p>
        </p:txBody>
      </p:sp>
      <p:sp>
        <p:nvSpPr>
          <p:cNvPr id="3" name="Text Placeholder 2"/>
          <p:cNvSpPr>
            <a:spLocks noGrp="1"/>
          </p:cNvSpPr>
          <p:nvPr>
            <p:ph type="body" idx="1"/>
          </p:nvPr>
        </p:nvSpPr>
        <p:spPr>
          <a:xfrm>
            <a:off x="722313" y="2906713"/>
            <a:ext cx="7772400" cy="1500187"/>
          </a:xfrm>
        </p:spPr>
        <p:txBody>
          <a:bodyPr anchor="b"/>
          <a:lstStyle>
            <a:lvl1pPr marL="0" indent="0">
              <a:buNone/>
              <a:defRPr sz="2000">
                <a:solidFill>
                  <a:schemeClr val="tx1">
                    <a:tint val="75000"/>
                  </a:schemeClr>
                </a:solidFill>
              </a:defRPr>
            </a:lvl1pPr>
            <a:lvl2pPr marL="457200" indent="0">
              <a:buNone/>
              <a:defRPr sz="1800">
                <a:solidFill>
                  <a:schemeClr val="tx1">
                    <a:tint val="75000"/>
                  </a:schemeClr>
                </a:solidFill>
              </a:defRPr>
            </a:lvl2pPr>
            <a:lvl3pPr marL="914400" indent="0">
              <a:buNone/>
              <a:defRPr sz="1600">
                <a:solidFill>
                  <a:schemeClr val="tx1">
                    <a:tint val="75000"/>
                  </a:schemeClr>
                </a:solidFill>
              </a:defRPr>
            </a:lvl3pPr>
            <a:lvl4pPr marL="1371600" indent="0">
              <a:buNone/>
              <a:defRPr sz="1400">
                <a:solidFill>
                  <a:schemeClr val="tx1">
                    <a:tint val="75000"/>
                  </a:schemeClr>
                </a:solidFill>
              </a:defRPr>
            </a:lvl4pPr>
            <a:lvl5pPr marL="1828800" indent="0">
              <a:buNone/>
              <a:defRPr sz="1400">
                <a:solidFill>
                  <a:schemeClr val="tx1">
                    <a:tint val="75000"/>
                  </a:schemeClr>
                </a:solidFill>
              </a:defRPr>
            </a:lvl5pPr>
            <a:lvl6pPr marL="2286000" indent="0">
              <a:buNone/>
              <a:defRPr sz="1400">
                <a:solidFill>
                  <a:schemeClr val="tx1">
                    <a:tint val="75000"/>
                  </a:schemeClr>
                </a:solidFill>
              </a:defRPr>
            </a:lvl6pPr>
            <a:lvl7pPr marL="2743200" indent="0">
              <a:buNone/>
              <a:defRPr sz="1400">
                <a:solidFill>
                  <a:schemeClr val="tx1">
                    <a:tint val="75000"/>
                  </a:schemeClr>
                </a:solidFill>
              </a:defRPr>
            </a:lvl7pPr>
            <a:lvl8pPr marL="3200400" indent="0">
              <a:buNone/>
              <a:defRPr sz="1400">
                <a:solidFill>
                  <a:schemeClr val="tx1">
                    <a:tint val="75000"/>
                  </a:schemeClr>
                </a:solidFill>
              </a:defRPr>
            </a:lvl8pPr>
            <a:lvl9pPr marL="3657600" indent="0">
              <a:buNone/>
              <a:defRPr sz="1400">
                <a:solidFill>
                  <a:schemeClr val="tx1">
                    <a:tint val="75000"/>
                  </a:schemeClr>
                </a:solidFill>
              </a:defRPr>
            </a:lvl9pPr>
          </a:lstStyle>
          <a:p>
            <a:pPr lvl="0"/>
            <a:r>
              <a:rPr lang="en-US" smtClean="0"/>
              <a:t>Click to edit Master text styles</a:t>
            </a:r>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960648375"/>
      </p:ext>
    </p:extLst>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Two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Content Placeholder 2"/>
          <p:cNvSpPr>
            <a:spLocks noGrp="1"/>
          </p:cNvSpPr>
          <p:nvPr>
            <p:ph sz="half" idx="1"/>
          </p:nvPr>
        </p:nvSpPr>
        <p:spPr>
          <a:xfrm>
            <a:off x="457200" y="1600200"/>
            <a:ext cx="40386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Content Placeholder 3"/>
          <p:cNvSpPr>
            <a:spLocks noGrp="1"/>
          </p:cNvSpPr>
          <p:nvPr>
            <p:ph sz="half" idx="2"/>
          </p:nvPr>
        </p:nvSpPr>
        <p:spPr>
          <a:xfrm>
            <a:off x="4648200" y="1600200"/>
            <a:ext cx="40386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5" name="Date Placeholder 4"/>
          <p:cNvSpPr>
            <a:spLocks noGrp="1"/>
          </p:cNvSpPr>
          <p:nvPr>
            <p:ph type="dt" sz="half" idx="10"/>
          </p:nvPr>
        </p:nvSpPr>
        <p:spPr/>
        <p:txBody>
          <a:bodyPr/>
          <a:lstStyle/>
          <a:p>
            <a:fld id="{5BCAD085-E8A6-8845-BD4E-CB4CCA059FC4}" type="datetimeFigureOut">
              <a:rPr lang="en-US" smtClean="0"/>
              <a:t>1/27/13</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782244947"/>
      </p:ext>
    </p:extLst>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p:cSld name="Comparison">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lvl1pPr>
              <a:defRPr/>
            </a:lvl1pPr>
          </a:lstStyle>
          <a:p>
            <a:r>
              <a:rPr lang="en-US" smtClean="0"/>
              <a:t>Click to edit Master title style</a:t>
            </a:r>
            <a:endParaRPr lang="en-US"/>
          </a:p>
        </p:txBody>
      </p:sp>
      <p:sp>
        <p:nvSpPr>
          <p:cNvPr id="3" name="Text Placeholder 2"/>
          <p:cNvSpPr>
            <a:spLocks noGrp="1"/>
          </p:cNvSpPr>
          <p:nvPr>
            <p:ph type="body" idx="1"/>
          </p:nvPr>
        </p:nvSpPr>
        <p:spPr>
          <a:xfrm>
            <a:off x="457200" y="1535113"/>
            <a:ext cx="4040188"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smtClean="0"/>
              <a:t>Click to edit Master text styles</a:t>
            </a:r>
          </a:p>
        </p:txBody>
      </p:sp>
      <p:sp>
        <p:nvSpPr>
          <p:cNvPr id="4" name="Content Placeholder 3"/>
          <p:cNvSpPr>
            <a:spLocks noGrp="1"/>
          </p:cNvSpPr>
          <p:nvPr>
            <p:ph sz="half" idx="2"/>
          </p:nvPr>
        </p:nvSpPr>
        <p:spPr>
          <a:xfrm>
            <a:off x="457200" y="2174875"/>
            <a:ext cx="4040188"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5" name="Text Placeholder 4"/>
          <p:cNvSpPr>
            <a:spLocks noGrp="1"/>
          </p:cNvSpPr>
          <p:nvPr>
            <p:ph type="body" sz="quarter" idx="3"/>
          </p:nvPr>
        </p:nvSpPr>
        <p:spPr>
          <a:xfrm>
            <a:off x="4645025" y="1535113"/>
            <a:ext cx="4041775"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smtClean="0"/>
              <a:t>Click to edit Master text styles</a:t>
            </a:r>
          </a:p>
        </p:txBody>
      </p:sp>
      <p:sp>
        <p:nvSpPr>
          <p:cNvPr id="6" name="Content Placeholder 5"/>
          <p:cNvSpPr>
            <a:spLocks noGrp="1"/>
          </p:cNvSpPr>
          <p:nvPr>
            <p:ph sz="quarter" idx="4"/>
          </p:nvPr>
        </p:nvSpPr>
        <p:spPr>
          <a:xfrm>
            <a:off x="4645025" y="2174875"/>
            <a:ext cx="4041775"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7" name="Date Placeholder 6"/>
          <p:cNvSpPr>
            <a:spLocks noGrp="1"/>
          </p:cNvSpPr>
          <p:nvPr>
            <p:ph type="dt" sz="half" idx="10"/>
          </p:nvPr>
        </p:nvSpPr>
        <p:spPr/>
        <p:txBody>
          <a:bodyPr/>
          <a:lstStyle/>
          <a:p>
            <a:fld id="{5BCAD085-E8A6-8845-BD4E-CB4CCA059FC4}" type="datetimeFigureOut">
              <a:rPr lang="en-US" smtClean="0"/>
              <a:t>1/27/13</a:t>
            </a:fld>
            <a:endParaRPr lang="en-US"/>
          </a:p>
        </p:txBody>
      </p:sp>
      <p:sp>
        <p:nvSpPr>
          <p:cNvPr id="8" name="Footer Placeholder 7"/>
          <p:cNvSpPr>
            <a:spLocks noGrp="1"/>
          </p:cNvSpPr>
          <p:nvPr>
            <p:ph type="ftr" sz="quarter" idx="11"/>
          </p:nvPr>
        </p:nvSpPr>
        <p:spPr/>
        <p:txBody>
          <a:bodyPr/>
          <a:lstStyle/>
          <a:p>
            <a:endParaRPr lang="en-US"/>
          </a:p>
        </p:txBody>
      </p:sp>
      <p:sp>
        <p:nvSpPr>
          <p:cNvPr id="9" name="Slide Number Placeholder 8"/>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990158736"/>
      </p:ext>
    </p:extLst>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Title Only">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Date Placeholder 2"/>
          <p:cNvSpPr>
            <a:spLocks noGrp="1"/>
          </p:cNvSpPr>
          <p:nvPr>
            <p:ph type="dt" sz="half" idx="10"/>
          </p:nvPr>
        </p:nvSpPr>
        <p:spPr/>
        <p:txBody>
          <a:bodyPr/>
          <a:lstStyle/>
          <a:p>
            <a:fld id="{5BCAD085-E8A6-8845-BD4E-CB4CCA059FC4}" type="datetimeFigureOut">
              <a:rPr lang="en-US" smtClean="0"/>
              <a:t>1/27/13</a:t>
            </a:fld>
            <a:endParaRPr lang="en-US"/>
          </a:p>
        </p:txBody>
      </p:sp>
      <p:sp>
        <p:nvSpPr>
          <p:cNvPr id="4" name="Footer Placeholder 3"/>
          <p:cNvSpPr>
            <a:spLocks noGrp="1"/>
          </p:cNvSpPr>
          <p:nvPr>
            <p:ph type="ftr" sz="quarter" idx="11"/>
          </p:nvPr>
        </p:nvSpPr>
        <p:spPr/>
        <p:txBody>
          <a:bodyPr/>
          <a:lstStyle/>
          <a:p>
            <a:endParaRPr lang="en-US"/>
          </a:p>
        </p:txBody>
      </p:sp>
      <p:sp>
        <p:nvSpPr>
          <p:cNvPr id="5" name="Slide Number Placeholder 4"/>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727027711"/>
      </p:ext>
    </p:extLst>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type="blank" preserve="1">
  <p:cSld name="Blank">
    <p:spTree>
      <p:nvGrpSpPr>
        <p:cNvPr id="1" name=""/>
        <p:cNvGrpSpPr/>
        <p:nvPr/>
      </p:nvGrpSpPr>
      <p:grpSpPr>
        <a:xfrm>
          <a:off x="0" y="0"/>
          <a:ext cx="0" cy="0"/>
          <a:chOff x="0" y="0"/>
          <a:chExt cx="0" cy="0"/>
        </a:xfrm>
      </p:grpSpPr>
      <p:sp>
        <p:nvSpPr>
          <p:cNvPr id="2" name="Date Placeholder 1"/>
          <p:cNvSpPr>
            <a:spLocks noGrp="1"/>
          </p:cNvSpPr>
          <p:nvPr>
            <p:ph type="dt" sz="half" idx="10"/>
          </p:nvPr>
        </p:nvSpPr>
        <p:spPr/>
        <p:txBody>
          <a:bodyPr/>
          <a:lstStyle/>
          <a:p>
            <a:fld id="{5BCAD085-E8A6-8845-BD4E-CB4CCA059FC4}" type="datetimeFigureOut">
              <a:rPr lang="en-US" smtClean="0"/>
              <a:t>1/27/13</a:t>
            </a:fld>
            <a:endParaRPr lang="en-US"/>
          </a:p>
        </p:txBody>
      </p:sp>
      <p:sp>
        <p:nvSpPr>
          <p:cNvPr id="3" name="Footer Placeholder 2"/>
          <p:cNvSpPr>
            <a:spLocks noGrp="1"/>
          </p:cNvSpPr>
          <p:nvPr>
            <p:ph type="ftr" sz="quarter" idx="11"/>
          </p:nvPr>
        </p:nvSpPr>
        <p:spPr/>
        <p:txBody>
          <a:bodyPr/>
          <a:lstStyle/>
          <a:p>
            <a:endParaRPr lang="en-US"/>
          </a:p>
        </p:txBody>
      </p:sp>
      <p:sp>
        <p:nvSpPr>
          <p:cNvPr id="4" name="Slide Number Placeholder 3"/>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1212999818"/>
      </p:ext>
    </p:extLst>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type="objTx" preserve="1">
  <p:cSld name="Content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457200" y="273050"/>
            <a:ext cx="3008313" cy="1162050"/>
          </a:xfrm>
        </p:spPr>
        <p:txBody>
          <a:bodyPr anchor="b"/>
          <a:lstStyle>
            <a:lvl1pPr algn="l">
              <a:defRPr sz="2000" b="1"/>
            </a:lvl1pPr>
          </a:lstStyle>
          <a:p>
            <a:r>
              <a:rPr lang="en-US" smtClean="0"/>
              <a:t>Click to edit Master title style</a:t>
            </a:r>
            <a:endParaRPr lang="en-US"/>
          </a:p>
        </p:txBody>
      </p:sp>
      <p:sp>
        <p:nvSpPr>
          <p:cNvPr id="3" name="Content Placeholder 2"/>
          <p:cNvSpPr>
            <a:spLocks noGrp="1"/>
          </p:cNvSpPr>
          <p:nvPr>
            <p:ph idx="1"/>
          </p:nvPr>
        </p:nvSpPr>
        <p:spPr>
          <a:xfrm>
            <a:off x="3575050" y="273050"/>
            <a:ext cx="5111750" cy="5853113"/>
          </a:xfrm>
        </p:spPr>
        <p:txBody>
          <a:bodyPr/>
          <a:lstStyle>
            <a:lvl1pPr>
              <a:defRPr sz="3200"/>
            </a:lvl1pPr>
            <a:lvl2pPr>
              <a:defRPr sz="2800"/>
            </a:lvl2pPr>
            <a:lvl3pPr>
              <a:defRPr sz="2400"/>
            </a:lvl3pPr>
            <a:lvl4pPr>
              <a:defRPr sz="2000"/>
            </a:lvl4pPr>
            <a:lvl5pPr>
              <a:defRPr sz="2000"/>
            </a:lvl5pPr>
            <a:lvl6pPr>
              <a:defRPr sz="2000"/>
            </a:lvl6pPr>
            <a:lvl7pPr>
              <a:defRPr sz="2000"/>
            </a:lvl7pPr>
            <a:lvl8pPr>
              <a:defRPr sz="2000"/>
            </a:lvl8pPr>
            <a:lvl9pPr>
              <a:defRPr sz="20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Text Placeholder 3"/>
          <p:cNvSpPr>
            <a:spLocks noGrp="1"/>
          </p:cNvSpPr>
          <p:nvPr>
            <p:ph type="body" sz="half" idx="2"/>
          </p:nvPr>
        </p:nvSpPr>
        <p:spPr>
          <a:xfrm>
            <a:off x="457200" y="1435100"/>
            <a:ext cx="3008313" cy="4691063"/>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smtClean="0"/>
              <a:t>Click to edit Master text styles</a:t>
            </a:r>
          </a:p>
        </p:txBody>
      </p:sp>
      <p:sp>
        <p:nvSpPr>
          <p:cNvPr id="5" name="Date Placeholder 4"/>
          <p:cNvSpPr>
            <a:spLocks noGrp="1"/>
          </p:cNvSpPr>
          <p:nvPr>
            <p:ph type="dt" sz="half" idx="10"/>
          </p:nvPr>
        </p:nvSpPr>
        <p:spPr/>
        <p:txBody>
          <a:bodyPr/>
          <a:lstStyle/>
          <a:p>
            <a:fld id="{5BCAD085-E8A6-8845-BD4E-CB4CCA059FC4}" type="datetimeFigureOut">
              <a:rPr lang="en-US" smtClean="0"/>
              <a:t>1/27/13</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1840726560"/>
      </p:ext>
    </p:extLst>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type="picTx" preserve="1">
  <p:cSld name="Picture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1792288" y="4800600"/>
            <a:ext cx="5486400" cy="566738"/>
          </a:xfrm>
        </p:spPr>
        <p:txBody>
          <a:bodyPr anchor="b"/>
          <a:lstStyle>
            <a:lvl1pPr algn="l">
              <a:defRPr sz="2000" b="1"/>
            </a:lvl1pPr>
          </a:lstStyle>
          <a:p>
            <a:r>
              <a:rPr lang="en-US" smtClean="0"/>
              <a:t>Click to edit Master title style</a:t>
            </a:r>
            <a:endParaRPr lang="en-US"/>
          </a:p>
        </p:txBody>
      </p:sp>
      <p:sp>
        <p:nvSpPr>
          <p:cNvPr id="3" name="Picture Placeholder 2"/>
          <p:cNvSpPr>
            <a:spLocks noGrp="1"/>
          </p:cNvSpPr>
          <p:nvPr>
            <p:ph type="pic" idx="1"/>
          </p:nvPr>
        </p:nvSpPr>
        <p:spPr>
          <a:xfrm>
            <a:off x="1792288" y="612775"/>
            <a:ext cx="5486400" cy="4114800"/>
          </a:xfrm>
        </p:spPr>
        <p:txBody>
          <a:bodyPr/>
          <a:lstStyle>
            <a:lvl1pPr marL="0" indent="0">
              <a:buNone/>
              <a:defRPr sz="32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endParaRPr lang="en-US"/>
          </a:p>
        </p:txBody>
      </p:sp>
      <p:sp>
        <p:nvSpPr>
          <p:cNvPr id="4" name="Text Placeholder 3"/>
          <p:cNvSpPr>
            <a:spLocks noGrp="1"/>
          </p:cNvSpPr>
          <p:nvPr>
            <p:ph type="body" sz="half" idx="2"/>
          </p:nvPr>
        </p:nvSpPr>
        <p:spPr>
          <a:xfrm>
            <a:off x="1792288" y="5367338"/>
            <a:ext cx="5486400" cy="804862"/>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smtClean="0"/>
              <a:t>Click to edit Master text styles</a:t>
            </a:r>
          </a:p>
        </p:txBody>
      </p:sp>
      <p:sp>
        <p:nvSpPr>
          <p:cNvPr id="5" name="Date Placeholder 4"/>
          <p:cNvSpPr>
            <a:spLocks noGrp="1"/>
          </p:cNvSpPr>
          <p:nvPr>
            <p:ph type="dt" sz="half" idx="10"/>
          </p:nvPr>
        </p:nvSpPr>
        <p:spPr/>
        <p:txBody>
          <a:bodyPr/>
          <a:lstStyle/>
          <a:p>
            <a:fld id="{5BCAD085-E8A6-8845-BD4E-CB4CCA059FC4}" type="datetimeFigureOut">
              <a:rPr lang="en-US" smtClean="0"/>
              <a:t>1/27/13</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889236939"/>
      </p:ext>
    </p:extLst>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type="vertTx" preserve="1">
  <p:cSld name="Title and Vertical Tex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Vertical Text Placeholder 2"/>
          <p:cNvSpPr>
            <a:spLocks noGrp="1"/>
          </p:cNvSpPr>
          <p:nvPr>
            <p:ph type="body" orient="vert" idx="1"/>
          </p:nvPr>
        </p:nvSpPr>
        <p:spPr/>
        <p:txBody>
          <a:bodyPr vert="eaVert"/>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910927964"/>
      </p:ext>
    </p:extLst>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type="vertTitleAndTx" preserve="1">
  <p:cSld name="Vertical Title and Text">
    <p:spTree>
      <p:nvGrpSpPr>
        <p:cNvPr id="1" name=""/>
        <p:cNvGrpSpPr/>
        <p:nvPr/>
      </p:nvGrpSpPr>
      <p:grpSpPr>
        <a:xfrm>
          <a:off x="0" y="0"/>
          <a:ext cx="0" cy="0"/>
          <a:chOff x="0" y="0"/>
          <a:chExt cx="0" cy="0"/>
        </a:xfrm>
      </p:grpSpPr>
      <p:sp>
        <p:nvSpPr>
          <p:cNvPr id="2" name="Vertical Title 1"/>
          <p:cNvSpPr>
            <a:spLocks noGrp="1"/>
          </p:cNvSpPr>
          <p:nvPr>
            <p:ph type="title" orient="vert"/>
          </p:nvPr>
        </p:nvSpPr>
        <p:spPr>
          <a:xfrm>
            <a:off x="6629400" y="274638"/>
            <a:ext cx="2057400" cy="5851525"/>
          </a:xfrm>
        </p:spPr>
        <p:txBody>
          <a:bodyPr vert="eaVert"/>
          <a:lstStyle/>
          <a:p>
            <a:r>
              <a:rPr lang="en-US" smtClean="0"/>
              <a:t>Click to edit Master title style</a:t>
            </a:r>
            <a:endParaRPr lang="en-US"/>
          </a:p>
        </p:txBody>
      </p:sp>
      <p:sp>
        <p:nvSpPr>
          <p:cNvPr id="3" name="Vertical Text Placeholder 2"/>
          <p:cNvSpPr>
            <a:spLocks noGrp="1"/>
          </p:cNvSpPr>
          <p:nvPr>
            <p:ph type="body" orient="vert" idx="1"/>
          </p:nvPr>
        </p:nvSpPr>
        <p:spPr>
          <a:xfrm>
            <a:off x="457200" y="274638"/>
            <a:ext cx="6019800" cy="5851525"/>
          </a:xfrm>
        </p:spPr>
        <p:txBody>
          <a:bodyPr vert="eaVert"/>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612223792"/>
      </p:ext>
    </p:extLst>
  </p:cSld>
  <p:clrMapOvr>
    <a:masterClrMapping/>
  </p:clrMapOvr>
</p:sldLayout>
</file>

<file path=ppt/slideMasters/_rels/slideMaster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slideLayout" Target="../slideLayouts/slideLayout2.xml"/><Relationship Id="rId3" Type="http://schemas.openxmlformats.org/officeDocument/2006/relationships/slideLayout" Target="../slideLayouts/slideLayout3.xml"/><Relationship Id="rId4" Type="http://schemas.openxmlformats.org/officeDocument/2006/relationships/slideLayout" Target="../slideLayouts/slideLayout4.xml"/><Relationship Id="rId5" Type="http://schemas.openxmlformats.org/officeDocument/2006/relationships/slideLayout" Target="../slideLayouts/slideLayout5.xml"/><Relationship Id="rId6" Type="http://schemas.openxmlformats.org/officeDocument/2006/relationships/slideLayout" Target="../slideLayouts/slideLayout6.xml"/><Relationship Id="rId7" Type="http://schemas.openxmlformats.org/officeDocument/2006/relationships/slideLayout" Target="../slideLayouts/slideLayout7.xml"/><Relationship Id="rId8" Type="http://schemas.openxmlformats.org/officeDocument/2006/relationships/slideLayout" Target="../slideLayouts/slideLayout8.xml"/><Relationship Id="rId9" Type="http://schemas.openxmlformats.org/officeDocument/2006/relationships/slideLayout" Target="../slideLayouts/slideLayout9.xml"/><Relationship Id="rId10" Type="http://schemas.openxmlformats.org/officeDocument/2006/relationships/slideLayout" Target="../slideLayouts/slideLayout10.xml"/><Relationship Id="rId11" Type="http://schemas.openxmlformats.org/officeDocument/2006/relationships/slideLayout" Target="../slideLayouts/slideLayout11.xml"/><Relationship Id="rId12" Type="http://schemas.openxmlformats.org/officeDocument/2006/relationships/theme" Target="../theme/theme1.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Title Placeholder 1"/>
          <p:cNvSpPr>
            <a:spLocks noGrp="1"/>
          </p:cNvSpPr>
          <p:nvPr>
            <p:ph type="title"/>
          </p:nvPr>
        </p:nvSpPr>
        <p:spPr>
          <a:xfrm>
            <a:off x="457200" y="274638"/>
            <a:ext cx="8229600" cy="1143000"/>
          </a:xfrm>
          <a:prstGeom prst="rect">
            <a:avLst/>
          </a:prstGeom>
        </p:spPr>
        <p:txBody>
          <a:bodyPr vert="horz" lIns="91440" tIns="45720" rIns="91440" bIns="45720" rtlCol="0" anchor="ctr">
            <a:normAutofit/>
          </a:bodyPr>
          <a:lstStyle/>
          <a:p>
            <a:r>
              <a:rPr lang="en-US" smtClean="0"/>
              <a:t>Click to edit Master title style</a:t>
            </a:r>
            <a:endParaRPr lang="en-US"/>
          </a:p>
        </p:txBody>
      </p:sp>
      <p:sp>
        <p:nvSpPr>
          <p:cNvPr id="3" name="Text Placeholder 2"/>
          <p:cNvSpPr>
            <a:spLocks noGrp="1"/>
          </p:cNvSpPr>
          <p:nvPr>
            <p:ph type="body" idx="1"/>
          </p:nvPr>
        </p:nvSpPr>
        <p:spPr>
          <a:xfrm>
            <a:off x="457200" y="1600200"/>
            <a:ext cx="8229600" cy="4525963"/>
          </a:xfrm>
          <a:prstGeom prst="rect">
            <a:avLst/>
          </a:prstGeom>
        </p:spPr>
        <p:txBody>
          <a:bodyPr vert="horz" lIns="91440" tIns="45720" rIns="91440" bIns="45720" rtlCol="0">
            <a:normAutofit/>
          </a:body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2"/>
          </p:nvPr>
        </p:nvSpPr>
        <p:spPr>
          <a:xfrm>
            <a:off x="457200" y="6356350"/>
            <a:ext cx="2133600" cy="365125"/>
          </a:xfrm>
          <a:prstGeom prst="rect">
            <a:avLst/>
          </a:prstGeom>
        </p:spPr>
        <p:txBody>
          <a:bodyPr vert="horz" lIns="91440" tIns="45720" rIns="91440" bIns="45720" rtlCol="0" anchor="ctr"/>
          <a:lstStyle>
            <a:lvl1pPr algn="l">
              <a:defRPr sz="1200">
                <a:solidFill>
                  <a:schemeClr val="tx1">
                    <a:tint val="75000"/>
                  </a:schemeClr>
                </a:solidFill>
              </a:defRPr>
            </a:lvl1pPr>
          </a:lstStyle>
          <a:p>
            <a:fld id="{5BCAD085-E8A6-8845-BD4E-CB4CCA059FC4}" type="datetimeFigureOut">
              <a:rPr lang="en-US" smtClean="0"/>
              <a:t>1/27/13</a:t>
            </a:fld>
            <a:endParaRPr lang="en-US"/>
          </a:p>
        </p:txBody>
      </p:sp>
      <p:sp>
        <p:nvSpPr>
          <p:cNvPr id="5" name="Footer Placeholder 4"/>
          <p:cNvSpPr>
            <a:spLocks noGrp="1"/>
          </p:cNvSpPr>
          <p:nvPr>
            <p:ph type="ftr" sz="quarter" idx="3"/>
          </p:nvPr>
        </p:nvSpPr>
        <p:spPr>
          <a:xfrm>
            <a:off x="3124200" y="6356350"/>
            <a:ext cx="2895600" cy="365125"/>
          </a:xfrm>
          <a:prstGeom prst="rect">
            <a:avLst/>
          </a:prstGeom>
        </p:spPr>
        <p:txBody>
          <a:bodyPr vert="horz" lIns="91440" tIns="45720" rIns="91440" bIns="45720" rtlCol="0" anchor="ctr"/>
          <a:lstStyle>
            <a:lvl1pPr algn="ctr">
              <a:defRPr sz="1200">
                <a:solidFill>
                  <a:schemeClr val="tx1">
                    <a:tint val="75000"/>
                  </a:schemeClr>
                </a:solidFill>
              </a:defRPr>
            </a:lvl1pPr>
          </a:lstStyle>
          <a:p>
            <a:endParaRPr lang="en-US"/>
          </a:p>
        </p:txBody>
      </p:sp>
      <p:sp>
        <p:nvSpPr>
          <p:cNvPr id="6" name="Slide Number Placeholder 5"/>
          <p:cNvSpPr>
            <a:spLocks noGrp="1"/>
          </p:cNvSpPr>
          <p:nvPr>
            <p:ph type="sldNum" sz="quarter" idx="4"/>
          </p:nvPr>
        </p:nvSpPr>
        <p:spPr>
          <a:xfrm>
            <a:off x="6553200" y="6356350"/>
            <a:ext cx="2133600" cy="365125"/>
          </a:xfrm>
          <a:prstGeom prst="rect">
            <a:avLst/>
          </a:prstGeom>
        </p:spPr>
        <p:txBody>
          <a:bodyPr vert="horz" lIns="91440" tIns="45720" rIns="91440" bIns="45720" rtlCol="0" anchor="ctr"/>
          <a:lstStyle>
            <a:lvl1pPr algn="r">
              <a:defRPr sz="1200">
                <a:solidFill>
                  <a:schemeClr val="tx1">
                    <a:tint val="75000"/>
                  </a:schemeClr>
                </a:solidFill>
              </a:defRPr>
            </a:lvl1pPr>
          </a:lstStyle>
          <a:p>
            <a:fld id="{C1FF6DA9-008F-8B48-92A6-B652298478BF}" type="slidenum">
              <a:rPr lang="en-US" smtClean="0"/>
              <a:t>‹#›</a:t>
            </a:fld>
            <a:endParaRPr lang="en-US"/>
          </a:p>
        </p:txBody>
      </p:sp>
    </p:spTree>
    <p:extLst>
      <p:ext uri="{BB962C8B-B14F-4D97-AF65-F5344CB8AC3E}">
        <p14:creationId xmlns:p14="http://schemas.microsoft.com/office/powerpoint/2010/main" val="2209977519"/>
      </p:ext>
    </p:extLst>
  </p:cSld>
  <p:clrMap bg1="lt1" tx1="dk1" bg2="lt2" tx2="dk2" accent1="accent1" accent2="accent2" accent3="accent3" accent4="accent4" accent5="accent5" accent6="accent6" hlink="hlink" folHlink="folHlink"/>
  <p:sldLayoutIdLst>
    <p:sldLayoutId id="2147483649" r:id="rId1"/>
    <p:sldLayoutId id="2147483650" r:id="rId2"/>
    <p:sldLayoutId id="2147483651" r:id="rId3"/>
    <p:sldLayoutId id="2147483652" r:id="rId4"/>
    <p:sldLayoutId id="2147483653" r:id="rId5"/>
    <p:sldLayoutId id="2147483654" r:id="rId6"/>
    <p:sldLayoutId id="2147483655" r:id="rId7"/>
    <p:sldLayoutId id="2147483656" r:id="rId8"/>
    <p:sldLayoutId id="2147483657" r:id="rId9"/>
    <p:sldLayoutId id="2147483658" r:id="rId10"/>
    <p:sldLayoutId id="2147483659" r:id="rId11"/>
  </p:sldLayoutIdLst>
  <p:txStyles>
    <p:titleStyle>
      <a:lvl1pPr algn="ctr" defTabSz="457200" rtl="0" eaLnBrk="1" latinLnBrk="0" hangingPunct="1">
        <a:spcBef>
          <a:spcPct val="0"/>
        </a:spcBef>
        <a:buNone/>
        <a:defRPr sz="4400" kern="1200">
          <a:solidFill>
            <a:schemeClr val="tx1"/>
          </a:solidFill>
          <a:latin typeface="+mj-lt"/>
          <a:ea typeface="+mj-ea"/>
          <a:cs typeface="+mj-cs"/>
        </a:defRPr>
      </a:lvl1pPr>
    </p:titleStyle>
    <p:bodyStyle>
      <a:lvl1pPr marL="342900" indent="-342900" algn="l" defTabSz="457200" rtl="0" eaLnBrk="1" latinLnBrk="0" hangingPunct="1">
        <a:spcBef>
          <a:spcPct val="20000"/>
        </a:spcBef>
        <a:buFont typeface="Arial"/>
        <a:buChar char="•"/>
        <a:defRPr sz="3200" kern="1200">
          <a:solidFill>
            <a:schemeClr val="tx1"/>
          </a:solidFill>
          <a:latin typeface="+mn-lt"/>
          <a:ea typeface="+mn-ea"/>
          <a:cs typeface="+mn-cs"/>
        </a:defRPr>
      </a:lvl1pPr>
      <a:lvl2pPr marL="742950" indent="-285750" algn="l" defTabSz="457200" rtl="0" eaLnBrk="1" latinLnBrk="0" hangingPunct="1">
        <a:spcBef>
          <a:spcPct val="20000"/>
        </a:spcBef>
        <a:buFont typeface="Arial"/>
        <a:buChar char="–"/>
        <a:defRPr sz="2800" kern="1200">
          <a:solidFill>
            <a:schemeClr val="tx1"/>
          </a:solidFill>
          <a:latin typeface="+mn-lt"/>
          <a:ea typeface="+mn-ea"/>
          <a:cs typeface="+mn-cs"/>
        </a:defRPr>
      </a:lvl2pPr>
      <a:lvl3pPr marL="1143000" indent="-228600" algn="l" defTabSz="457200" rtl="0" eaLnBrk="1" latinLnBrk="0" hangingPunct="1">
        <a:spcBef>
          <a:spcPct val="20000"/>
        </a:spcBef>
        <a:buFont typeface="Arial"/>
        <a:buChar char="•"/>
        <a:defRPr sz="2400" kern="1200">
          <a:solidFill>
            <a:schemeClr val="tx1"/>
          </a:solidFill>
          <a:latin typeface="+mn-lt"/>
          <a:ea typeface="+mn-ea"/>
          <a:cs typeface="+mn-cs"/>
        </a:defRPr>
      </a:lvl3pPr>
      <a:lvl4pPr marL="1600200" indent="-228600" algn="l" defTabSz="457200" rtl="0" eaLnBrk="1" latinLnBrk="0" hangingPunct="1">
        <a:spcBef>
          <a:spcPct val="20000"/>
        </a:spcBef>
        <a:buFont typeface="Arial"/>
        <a:buChar char="–"/>
        <a:defRPr sz="2000" kern="1200">
          <a:solidFill>
            <a:schemeClr val="tx1"/>
          </a:solidFill>
          <a:latin typeface="+mn-lt"/>
          <a:ea typeface="+mn-ea"/>
          <a:cs typeface="+mn-cs"/>
        </a:defRPr>
      </a:lvl4pPr>
      <a:lvl5pPr marL="2057400" indent="-228600" algn="l" defTabSz="457200" rtl="0" eaLnBrk="1" latinLnBrk="0" hangingPunct="1">
        <a:spcBef>
          <a:spcPct val="20000"/>
        </a:spcBef>
        <a:buFont typeface="Arial"/>
        <a:buChar char="»"/>
        <a:defRPr sz="2000" kern="1200">
          <a:solidFill>
            <a:schemeClr val="tx1"/>
          </a:solidFill>
          <a:latin typeface="+mn-lt"/>
          <a:ea typeface="+mn-ea"/>
          <a:cs typeface="+mn-cs"/>
        </a:defRPr>
      </a:lvl5pPr>
      <a:lvl6pPr marL="2514600" indent="-228600" algn="l" defTabSz="457200" rtl="0" eaLnBrk="1" latinLnBrk="0" hangingPunct="1">
        <a:spcBef>
          <a:spcPct val="20000"/>
        </a:spcBef>
        <a:buFont typeface="Arial"/>
        <a:buChar char="•"/>
        <a:defRPr sz="2000" kern="1200">
          <a:solidFill>
            <a:schemeClr val="tx1"/>
          </a:solidFill>
          <a:latin typeface="+mn-lt"/>
          <a:ea typeface="+mn-ea"/>
          <a:cs typeface="+mn-cs"/>
        </a:defRPr>
      </a:lvl6pPr>
      <a:lvl7pPr marL="2971800" indent="-228600" algn="l" defTabSz="457200" rtl="0" eaLnBrk="1" latinLnBrk="0" hangingPunct="1">
        <a:spcBef>
          <a:spcPct val="20000"/>
        </a:spcBef>
        <a:buFont typeface="Arial"/>
        <a:buChar char="•"/>
        <a:defRPr sz="2000" kern="1200">
          <a:solidFill>
            <a:schemeClr val="tx1"/>
          </a:solidFill>
          <a:latin typeface="+mn-lt"/>
          <a:ea typeface="+mn-ea"/>
          <a:cs typeface="+mn-cs"/>
        </a:defRPr>
      </a:lvl7pPr>
      <a:lvl8pPr marL="3429000" indent="-228600" algn="l" defTabSz="457200" rtl="0" eaLnBrk="1" latinLnBrk="0" hangingPunct="1">
        <a:spcBef>
          <a:spcPct val="20000"/>
        </a:spcBef>
        <a:buFont typeface="Arial"/>
        <a:buChar char="•"/>
        <a:defRPr sz="2000" kern="1200">
          <a:solidFill>
            <a:schemeClr val="tx1"/>
          </a:solidFill>
          <a:latin typeface="+mn-lt"/>
          <a:ea typeface="+mn-ea"/>
          <a:cs typeface="+mn-cs"/>
        </a:defRPr>
      </a:lvl8pPr>
      <a:lvl9pPr marL="3886200" indent="-228600" algn="l" defTabSz="457200" rtl="0" eaLnBrk="1" latinLnBrk="0" hangingPunct="1">
        <a:spcBef>
          <a:spcPct val="20000"/>
        </a:spcBef>
        <a:buFont typeface="Arial"/>
        <a:buChar char="•"/>
        <a:defRPr sz="2000" kern="1200">
          <a:solidFill>
            <a:schemeClr val="tx1"/>
          </a:solidFill>
          <a:latin typeface="+mn-lt"/>
          <a:ea typeface="+mn-ea"/>
          <a:cs typeface="+mn-cs"/>
        </a:defRPr>
      </a:lvl9pPr>
    </p:bodyStyle>
    <p:other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3.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4.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5.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6.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7.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8.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9.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10.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11.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12.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13.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14.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15.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16.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17.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slide1.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F4F1EA"/>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Oval 2"/>
          <p:cNvSpPr/>
          <p:nvPr/>
        </p:nvSpPr>
        <p:spPr>
          <a:xfrm>
            <a:off x="9448495" y="-1554480"/>
            <a:ext cx="4206240" cy="4206240"/>
          </a:xfrm>
          <a:prstGeom prst="ellipse">
            <a:avLst/>
          </a:prstGeom>
          <a:solidFill>
            <a:srgbClr val="DCEEEE"/>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Oval 3"/>
          <p:cNvSpPr/>
          <p:nvPr/>
        </p:nvSpPr>
        <p:spPr>
          <a:xfrm>
            <a:off x="-1645920" y="4297680"/>
            <a:ext cx="4023360" cy="4023360"/>
          </a:xfrm>
          <a:prstGeom prst="ellipse">
            <a:avLst/>
          </a:prstGeom>
          <a:solidFill>
            <a:srgbClr val="DCEEEE"/>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 name="TextBox 4"/>
          <p:cNvSpPr txBox="1"/>
          <p:nvPr/>
        </p:nvSpPr>
        <p:spPr>
          <a:xfrm>
            <a:off x="548640" y="502920"/>
            <a:ext cx="5486400" cy="365760"/>
          </a:xfrm>
          <a:prstGeom prst="rect">
            <a:avLst/>
          </a:prstGeom>
          <a:noFill/>
        </p:spPr>
        <p:txBody>
          <a:bodyPr wrap="square">
            <a:spAutoFit/>
          </a:bodyPr>
          <a:lstStyle/>
          <a:p>
            <a:pPr algn="l"/>
            <a:r>
              <a:rPr sz="1300" b="1">
                <a:solidFill>
                  <a:srgbClr val="1C4966"/>
                </a:solidFill>
                <a:latin typeface="Segoe UI"/>
              </a:rPr>
              <a:t>● ACTMON</a:t>
            </a:r>
          </a:p>
        </p:txBody>
      </p:sp>
      <p:sp>
        <p:nvSpPr>
          <p:cNvPr id="6" name="TextBox 5"/>
          <p:cNvSpPr txBox="1"/>
          <p:nvPr/>
        </p:nvSpPr>
        <p:spPr>
          <a:xfrm>
            <a:off x="548640" y="1737360"/>
            <a:ext cx="10058400" cy="2194560"/>
          </a:xfrm>
          <a:prstGeom prst="rect">
            <a:avLst/>
          </a:prstGeom>
          <a:noFill/>
        </p:spPr>
        <p:txBody>
          <a:bodyPr wrap="square">
            <a:spAutoFit/>
          </a:bodyPr>
          <a:lstStyle/>
          <a:p>
            <a:pPr algn="l"/>
            <a:r>
              <a:rPr sz="5000" b="1">
                <a:solidFill>
                  <a:srgbClr val="1C4966"/>
                </a:solidFill>
                <a:latin typeface="Segoe UI"/>
              </a:rPr>
              <a:t>MONGODB
MONITORING</a:t>
            </a:r>
          </a:p>
        </p:txBody>
      </p:sp>
      <p:sp>
        <p:nvSpPr>
          <p:cNvPr id="7" name="Rectangle 6"/>
          <p:cNvSpPr/>
          <p:nvPr/>
        </p:nvSpPr>
        <p:spPr>
          <a:xfrm>
            <a:off x="603504" y="4069080"/>
            <a:ext cx="2377440" cy="73152"/>
          </a:xfrm>
          <a:prstGeom prst="rect">
            <a:avLst/>
          </a:prstGeom>
          <a:solidFill>
            <a:srgbClr val="1C4966"/>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 name="TextBox 7"/>
          <p:cNvSpPr txBox="1"/>
          <p:nvPr/>
        </p:nvSpPr>
        <p:spPr>
          <a:xfrm>
            <a:off x="566928" y="4297680"/>
            <a:ext cx="10607040" cy="1828800"/>
          </a:xfrm>
          <a:prstGeom prst="rect">
            <a:avLst/>
          </a:prstGeom>
          <a:noFill/>
        </p:spPr>
        <p:txBody>
          <a:bodyPr wrap="square">
            <a:spAutoFit/>
          </a:bodyPr>
          <a:lstStyle/>
          <a:p>
            <a:pPr algn="l"/>
            <a:r>
              <a:rPr sz="1600" b="0">
                <a:solidFill>
                  <a:srgbClr val="2C3B47"/>
                </a:solidFill>
                <a:latin typeface="Segoe UI"/>
              </a:rPr>
              <a:t>Monitor MongoDB in real time — operations and profiler, collections and indexes, replication, oplog and sharding, transactions, WiredTiger, and host resources.</a:t>
            </a:r>
          </a:p>
        </p:txBody>
      </p:sp>
      <p:sp>
        <p:nvSpPr>
          <p:cNvPr id="9" name="TextBox 8"/>
          <p:cNvSpPr txBox="1"/>
          <p:nvPr/>
        </p:nvSpPr>
        <p:spPr>
          <a:xfrm>
            <a:off x="502920" y="6473952"/>
            <a:ext cx="8229600" cy="274320"/>
          </a:xfrm>
          <a:prstGeom prst="rect">
            <a:avLst/>
          </a:prstGeom>
          <a:noFill/>
        </p:spPr>
        <p:txBody>
          <a:bodyPr wrap="square">
            <a:spAutoFit/>
          </a:bodyPr>
          <a:lstStyle/>
          <a:p>
            <a:pPr algn="l"/>
            <a:r>
              <a:rPr sz="900" b="0">
                <a:solidFill>
                  <a:srgbClr val="5E6B76"/>
                </a:solidFill>
                <a:latin typeface="Segoe UI"/>
              </a:rPr>
              <a:t>Actmon  ·  MongoDB Monitoring</a:t>
            </a:r>
          </a:p>
        </p:txBody>
      </p:sp>
      <p:sp>
        <p:nvSpPr>
          <p:cNvPr id="10" name="TextBox 9"/>
          <p:cNvSpPr txBox="1"/>
          <p:nvPr/>
        </p:nvSpPr>
        <p:spPr>
          <a:xfrm>
            <a:off x="11155680" y="6473952"/>
            <a:ext cx="822960" cy="274320"/>
          </a:xfrm>
          <a:prstGeom prst="rect">
            <a:avLst/>
          </a:prstGeom>
          <a:noFill/>
        </p:spPr>
        <p:txBody>
          <a:bodyPr wrap="square">
            <a:spAutoFit/>
          </a:bodyPr>
          <a:lstStyle/>
          <a:p>
            <a:pPr algn="r"/>
            <a:r>
              <a:rPr sz="900" b="0">
                <a:solidFill>
                  <a:srgbClr val="5E6B76"/>
                </a:solidFill>
                <a:latin typeface="Segoe UI"/>
              </a:rPr>
              <a:t>1</a:t>
            </a:r>
          </a:p>
        </p:txBody>
      </p:sp>
    </p:spTree>
  </p:cSld>
  <p:clrMapOvr>
    <a:masterClrMapping/>
  </p:clrMapOvr>
</p:sld>
</file>

<file path=ppt/slides/slide2.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F4F1EA"/>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Oval 2"/>
          <p:cNvSpPr/>
          <p:nvPr/>
        </p:nvSpPr>
        <p:spPr>
          <a:xfrm>
            <a:off x="9448495" y="-1554480"/>
            <a:ext cx="4206240" cy="4206240"/>
          </a:xfrm>
          <a:prstGeom prst="ellipse">
            <a:avLst/>
          </a:prstGeom>
          <a:solidFill>
            <a:srgbClr val="DCEEEE"/>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Oval 3"/>
          <p:cNvSpPr/>
          <p:nvPr/>
        </p:nvSpPr>
        <p:spPr>
          <a:xfrm>
            <a:off x="-1645920" y="4297680"/>
            <a:ext cx="4023360" cy="4023360"/>
          </a:xfrm>
          <a:prstGeom prst="ellipse">
            <a:avLst/>
          </a:prstGeom>
          <a:solidFill>
            <a:srgbClr val="DCEEEE"/>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 name="Rounded Rectangle 4"/>
          <p:cNvSpPr/>
          <p:nvPr/>
        </p:nvSpPr>
        <p:spPr>
          <a:xfrm>
            <a:off x="548640" y="1051560"/>
            <a:ext cx="4983480" cy="4846320"/>
          </a:xfrm>
          <a:prstGeom prst="roundRect">
            <a:avLst/>
          </a:prstGeom>
          <a:solidFill>
            <a:srgbClr val="B9D4E0"/>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310896" rIns="274320"/>
          <a:lstStyle/>
          <a:p>
            <a:pPr algn="l"/>
            <a:r>
              <a:rPr sz="2700" b="1">
                <a:solidFill>
                  <a:srgbClr val="1C4966"/>
                </a:solidFill>
                <a:latin typeface="Segoe UI"/>
              </a:rPr>
              <a:t>WHAT IS ACTMON?</a:t>
            </a:r>
          </a:p>
          <a:p>
            <a:pPr algn="l">
              <a:spcBef>
                <a:spcPts val="1000"/>
              </a:spcBef>
            </a:pPr>
            <a:r>
              <a:rPr sz="1250" b="0">
                <a:solidFill>
                  <a:srgbClr val="1C4966"/>
                </a:solidFill>
                <a:latin typeface="Segoe UI"/>
              </a:rPr>
              <a:t>Actmon is a real-time monitoring dashboard for MongoDB. Instead of logging into the server and running commands, your team sees the database's health, performance and the host machine in one place — in plain language anyone can follow.</a:t>
            </a:r>
          </a:p>
        </p:txBody>
      </p:sp>
      <p:sp>
        <p:nvSpPr>
          <p:cNvPr id="6" name="Rectangle 5"/>
          <p:cNvSpPr/>
          <p:nvPr/>
        </p:nvSpPr>
        <p:spPr>
          <a:xfrm>
            <a:off x="6355080" y="1234440"/>
            <a:ext cx="27432" cy="4663440"/>
          </a:xfrm>
          <a:prstGeom prst="rect">
            <a:avLst/>
          </a:prstGeom>
          <a:solidFill>
            <a:srgbClr val="1C4966"/>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Oval 6"/>
          <p:cNvSpPr/>
          <p:nvPr/>
        </p:nvSpPr>
        <p:spPr>
          <a:xfrm>
            <a:off x="6291072" y="1344168"/>
            <a:ext cx="155448" cy="155448"/>
          </a:xfrm>
          <a:prstGeom prst="ellipse">
            <a:avLst/>
          </a:prstGeom>
          <a:solidFill>
            <a:srgbClr val="1C4966"/>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 name="TextBox 7"/>
          <p:cNvSpPr txBox="1"/>
          <p:nvPr/>
        </p:nvSpPr>
        <p:spPr>
          <a:xfrm>
            <a:off x="6647688" y="1252728"/>
            <a:ext cx="5349240" cy="411480"/>
          </a:xfrm>
          <a:prstGeom prst="rect">
            <a:avLst/>
          </a:prstGeom>
          <a:noFill/>
        </p:spPr>
        <p:txBody>
          <a:bodyPr wrap="square">
            <a:spAutoFit/>
          </a:bodyPr>
          <a:lstStyle/>
          <a:p>
            <a:pPr algn="l"/>
            <a:r>
              <a:rPr sz="1700" b="1">
                <a:solidFill>
                  <a:srgbClr val="1C4966"/>
                </a:solidFill>
                <a:latin typeface="Segoe UI"/>
              </a:rPr>
              <a:t>01  </a:t>
            </a:r>
            <a:r>
              <a:rPr sz="1400" b="1">
                <a:solidFill>
                  <a:srgbClr val="1C4966"/>
                </a:solidFill>
                <a:latin typeface="Segoe UI"/>
              </a:rPr>
              <a:t>One place for everything</a:t>
            </a:r>
          </a:p>
        </p:txBody>
      </p:sp>
      <p:sp>
        <p:nvSpPr>
          <p:cNvPr id="9" name="TextBox 8"/>
          <p:cNvSpPr txBox="1"/>
          <p:nvPr/>
        </p:nvSpPr>
        <p:spPr>
          <a:xfrm>
            <a:off x="6665976" y="1691640"/>
            <a:ext cx="5303520" cy="1097280"/>
          </a:xfrm>
          <a:prstGeom prst="rect">
            <a:avLst/>
          </a:prstGeom>
          <a:noFill/>
        </p:spPr>
        <p:txBody>
          <a:bodyPr wrap="square">
            <a:spAutoFit/>
          </a:bodyPr>
          <a:lstStyle/>
          <a:p>
            <a:pPr algn="l"/>
            <a:r>
              <a:rPr sz="1100" b="0">
                <a:solidFill>
                  <a:srgbClr val="2C3B47"/>
                </a:solidFill>
                <a:latin typeface="Segoe UI"/>
              </a:rPr>
              <a:t>No separate tools for the database, queries, logs and server — Actmon brings them together on one screen, so you switch windows less and understand MongoDB more.</a:t>
            </a:r>
          </a:p>
        </p:txBody>
      </p:sp>
      <p:sp>
        <p:nvSpPr>
          <p:cNvPr id="10" name="Oval 9"/>
          <p:cNvSpPr/>
          <p:nvPr/>
        </p:nvSpPr>
        <p:spPr>
          <a:xfrm>
            <a:off x="6291072" y="2898648"/>
            <a:ext cx="155448" cy="155448"/>
          </a:xfrm>
          <a:prstGeom prst="ellipse">
            <a:avLst/>
          </a:prstGeom>
          <a:solidFill>
            <a:srgbClr val="1C4966"/>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1" name="TextBox 10"/>
          <p:cNvSpPr txBox="1"/>
          <p:nvPr/>
        </p:nvSpPr>
        <p:spPr>
          <a:xfrm>
            <a:off x="6647688" y="2807208"/>
            <a:ext cx="5349240" cy="411480"/>
          </a:xfrm>
          <a:prstGeom prst="rect">
            <a:avLst/>
          </a:prstGeom>
          <a:noFill/>
        </p:spPr>
        <p:txBody>
          <a:bodyPr wrap="square">
            <a:spAutoFit/>
          </a:bodyPr>
          <a:lstStyle/>
          <a:p>
            <a:pPr algn="l"/>
            <a:r>
              <a:rPr sz="1700" b="1">
                <a:solidFill>
                  <a:srgbClr val="1C4966"/>
                </a:solidFill>
                <a:latin typeface="Segoe UI"/>
              </a:rPr>
              <a:t>02  </a:t>
            </a:r>
            <a:r>
              <a:rPr sz="1400" b="1">
                <a:solidFill>
                  <a:srgbClr val="1C4966"/>
                </a:solidFill>
                <a:latin typeface="Segoe UI"/>
              </a:rPr>
              <a:t>Always up to date</a:t>
            </a:r>
          </a:p>
        </p:txBody>
      </p:sp>
      <p:sp>
        <p:nvSpPr>
          <p:cNvPr id="12" name="TextBox 11"/>
          <p:cNvSpPr txBox="1"/>
          <p:nvPr/>
        </p:nvSpPr>
        <p:spPr>
          <a:xfrm>
            <a:off x="6665976" y="3246120"/>
            <a:ext cx="5303520" cy="1097280"/>
          </a:xfrm>
          <a:prstGeom prst="rect">
            <a:avLst/>
          </a:prstGeom>
          <a:noFill/>
        </p:spPr>
        <p:txBody>
          <a:bodyPr wrap="square">
            <a:spAutoFit/>
          </a:bodyPr>
          <a:lstStyle/>
          <a:p>
            <a:pPr algn="l"/>
            <a:r>
              <a:rPr sz="1100" b="0">
                <a:solidFill>
                  <a:srgbClr val="2C3B47"/>
                </a:solidFill>
                <a:latin typeface="Segoe UI"/>
              </a:rPr>
              <a:t>Every number refreshes by itself every few seconds, so you always see the live state of the database, not an old snapshot, and notice changes the moment they happen.</a:t>
            </a:r>
          </a:p>
        </p:txBody>
      </p:sp>
      <p:sp>
        <p:nvSpPr>
          <p:cNvPr id="13" name="Oval 12"/>
          <p:cNvSpPr/>
          <p:nvPr/>
        </p:nvSpPr>
        <p:spPr>
          <a:xfrm>
            <a:off x="6291072" y="4453128"/>
            <a:ext cx="155448" cy="155448"/>
          </a:xfrm>
          <a:prstGeom prst="ellipse">
            <a:avLst/>
          </a:prstGeom>
          <a:solidFill>
            <a:srgbClr val="1C4966"/>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4" name="TextBox 13"/>
          <p:cNvSpPr txBox="1"/>
          <p:nvPr/>
        </p:nvSpPr>
        <p:spPr>
          <a:xfrm>
            <a:off x="6647688" y="4361688"/>
            <a:ext cx="5349240" cy="411480"/>
          </a:xfrm>
          <a:prstGeom prst="rect">
            <a:avLst/>
          </a:prstGeom>
          <a:noFill/>
        </p:spPr>
        <p:txBody>
          <a:bodyPr wrap="square">
            <a:spAutoFit/>
          </a:bodyPr>
          <a:lstStyle/>
          <a:p>
            <a:pPr algn="l"/>
            <a:r>
              <a:rPr sz="1700" b="1">
                <a:solidFill>
                  <a:srgbClr val="1C4966"/>
                </a:solidFill>
                <a:latin typeface="Segoe UI"/>
              </a:rPr>
              <a:t>03  </a:t>
            </a:r>
            <a:r>
              <a:rPr sz="1400" b="1">
                <a:solidFill>
                  <a:srgbClr val="1C4966"/>
                </a:solidFill>
                <a:latin typeface="Segoe UI"/>
              </a:rPr>
              <a:t>From symptom to cause</a:t>
            </a:r>
          </a:p>
        </p:txBody>
      </p:sp>
      <p:sp>
        <p:nvSpPr>
          <p:cNvPr id="15" name="TextBox 14"/>
          <p:cNvSpPr txBox="1"/>
          <p:nvPr/>
        </p:nvSpPr>
        <p:spPr>
          <a:xfrm>
            <a:off x="6665976" y="4800600"/>
            <a:ext cx="5303520" cy="1097280"/>
          </a:xfrm>
          <a:prstGeom prst="rect">
            <a:avLst/>
          </a:prstGeom>
          <a:noFill/>
        </p:spPr>
        <p:txBody>
          <a:bodyPr wrap="square">
            <a:spAutoFit/>
          </a:bodyPr>
          <a:lstStyle/>
          <a:p>
            <a:pPr algn="l"/>
            <a:r>
              <a:rPr sz="1100" b="0">
                <a:solidFill>
                  <a:srgbClr val="2C3B47"/>
                </a:solidFill>
                <a:latin typeface="Segoe UI"/>
              </a:rPr>
              <a:t>When something looks wrong, click from a high-level number straight down to the exact query, session or process behind it, then act on it.</a:t>
            </a:r>
          </a:p>
        </p:txBody>
      </p:sp>
      <p:sp>
        <p:nvSpPr>
          <p:cNvPr id="16" name="TextBox 15"/>
          <p:cNvSpPr txBox="1"/>
          <p:nvPr/>
        </p:nvSpPr>
        <p:spPr>
          <a:xfrm>
            <a:off x="502920" y="6473952"/>
            <a:ext cx="8229600" cy="274320"/>
          </a:xfrm>
          <a:prstGeom prst="rect">
            <a:avLst/>
          </a:prstGeom>
          <a:noFill/>
        </p:spPr>
        <p:txBody>
          <a:bodyPr wrap="square">
            <a:spAutoFit/>
          </a:bodyPr>
          <a:lstStyle/>
          <a:p>
            <a:pPr algn="l"/>
            <a:r>
              <a:rPr sz="900" b="0">
                <a:solidFill>
                  <a:srgbClr val="5E6B76"/>
                </a:solidFill>
                <a:latin typeface="Segoe UI"/>
              </a:rPr>
              <a:t>Actmon  ·  MongoDB Monitoring</a:t>
            </a:r>
          </a:p>
        </p:txBody>
      </p:sp>
      <p:sp>
        <p:nvSpPr>
          <p:cNvPr id="17" name="TextBox 16"/>
          <p:cNvSpPr txBox="1"/>
          <p:nvPr/>
        </p:nvSpPr>
        <p:spPr>
          <a:xfrm>
            <a:off x="11155680" y="6473952"/>
            <a:ext cx="822960" cy="274320"/>
          </a:xfrm>
          <a:prstGeom prst="rect">
            <a:avLst/>
          </a:prstGeom>
          <a:noFill/>
        </p:spPr>
        <p:txBody>
          <a:bodyPr wrap="square">
            <a:spAutoFit/>
          </a:bodyPr>
          <a:lstStyle/>
          <a:p>
            <a:pPr algn="r"/>
            <a:r>
              <a:rPr sz="900" b="0">
                <a:solidFill>
                  <a:srgbClr val="5E6B76"/>
                </a:solidFill>
                <a:latin typeface="Segoe UI"/>
              </a:rPr>
              <a:t>2</a:t>
            </a:r>
          </a:p>
        </p:txBody>
      </p:sp>
    </p:spTree>
  </p:cSld>
  <p:clrMapOvr>
    <a:masterClrMapping/>
  </p:clrMapOvr>
</p:sld>
</file>

<file path=ppt/slides/slide3.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F4F1EA"/>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Oval 2"/>
          <p:cNvSpPr/>
          <p:nvPr/>
        </p:nvSpPr>
        <p:spPr>
          <a:xfrm>
            <a:off x="9448495" y="-1554480"/>
            <a:ext cx="4206240" cy="4206240"/>
          </a:xfrm>
          <a:prstGeom prst="ellipse">
            <a:avLst/>
          </a:prstGeom>
          <a:solidFill>
            <a:srgbClr val="DCEEEE"/>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Oval 3"/>
          <p:cNvSpPr/>
          <p:nvPr/>
        </p:nvSpPr>
        <p:spPr>
          <a:xfrm>
            <a:off x="-1645920" y="4297680"/>
            <a:ext cx="4023360" cy="4023360"/>
          </a:xfrm>
          <a:prstGeom prst="ellipse">
            <a:avLst/>
          </a:prstGeom>
          <a:solidFill>
            <a:srgbClr val="DCEEEE"/>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 name="TextBox 4"/>
          <p:cNvSpPr txBox="1"/>
          <p:nvPr/>
        </p:nvSpPr>
        <p:spPr>
          <a:xfrm>
            <a:off x="548640" y="457200"/>
            <a:ext cx="10972800" cy="640080"/>
          </a:xfrm>
          <a:prstGeom prst="rect">
            <a:avLst/>
          </a:prstGeom>
          <a:noFill/>
        </p:spPr>
        <p:txBody>
          <a:bodyPr wrap="square">
            <a:spAutoFit/>
          </a:bodyPr>
          <a:lstStyle/>
          <a:p>
            <a:pPr algn="l"/>
            <a:r>
              <a:rPr sz="2900" b="1">
                <a:solidFill>
                  <a:srgbClr val="1C4966"/>
                </a:solidFill>
                <a:latin typeface="Segoe UI"/>
              </a:rPr>
              <a:t>BUSINESS BENEFITS</a:t>
            </a:r>
          </a:p>
        </p:txBody>
      </p:sp>
      <p:sp>
        <p:nvSpPr>
          <p:cNvPr id="6" name="Rectangle 5"/>
          <p:cNvSpPr/>
          <p:nvPr/>
        </p:nvSpPr>
        <p:spPr>
          <a:xfrm>
            <a:off x="603504" y="1207008"/>
            <a:ext cx="1463040" cy="54864"/>
          </a:xfrm>
          <a:prstGeom prst="rect">
            <a:avLst/>
          </a:prstGeom>
          <a:solidFill>
            <a:srgbClr val="1C4966"/>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TextBox 6"/>
          <p:cNvSpPr txBox="1"/>
          <p:nvPr/>
        </p:nvSpPr>
        <p:spPr>
          <a:xfrm>
            <a:off x="566928" y="1371600"/>
            <a:ext cx="11064240" cy="457200"/>
          </a:xfrm>
          <a:prstGeom prst="rect">
            <a:avLst/>
          </a:prstGeom>
          <a:noFill/>
        </p:spPr>
        <p:txBody>
          <a:bodyPr wrap="square">
            <a:spAutoFit/>
          </a:bodyPr>
          <a:lstStyle/>
          <a:p>
            <a:pPr algn="l"/>
            <a:r>
              <a:rPr sz="1300" b="0">
                <a:solidFill>
                  <a:srgbClr val="2C3B47"/>
                </a:solidFill>
                <a:latin typeface="Segoe UI"/>
              </a:rPr>
              <a:t>Clear value for managers and engineers alike.</a:t>
            </a:r>
          </a:p>
        </p:txBody>
      </p:sp>
      <p:sp>
        <p:nvSpPr>
          <p:cNvPr id="8" name="Rounded Rectangle 7"/>
          <p:cNvSpPr/>
          <p:nvPr/>
        </p:nvSpPr>
        <p:spPr>
          <a:xfrm>
            <a:off x="548640" y="1965960"/>
            <a:ext cx="5417820" cy="1965960"/>
          </a:xfrm>
          <a:prstGeom prst="roundRect">
            <a:avLst/>
          </a:prstGeom>
          <a:solidFill>
            <a:srgbClr val="6E98AF"/>
          </a:solidFill>
          <a:ln>
            <a:noFill/>
          </a:ln>
          <a:effectLst/>
        </p:spPr>
        <p:style>
          <a:lnRef idx="1">
            <a:schemeClr val="accent1"/>
          </a:lnRef>
          <a:fillRef idx="3">
            <a:schemeClr val="accent1"/>
          </a:fillRef>
          <a:effectRef idx="2">
            <a:schemeClr val="accent1"/>
          </a:effectRef>
          <a:fontRef idx="minor">
            <a:schemeClr val="lt1"/>
          </a:fontRef>
        </p:style>
        <p:txBody>
          <a:bodyPr rtlCol="0" anchor="t" wrap="square" lIns="256032" rIns="237744" tIns="146304"/>
          <a:lstStyle/>
          <a:p>
            <a:pPr algn="l"/>
            <a:r>
              <a:rPr sz="1800" b="1">
                <a:solidFill>
                  <a:srgbClr val="D7E6EF"/>
                </a:solidFill>
                <a:latin typeface="Segoe UI"/>
              </a:rPr>
              <a:t>01   </a:t>
            </a:r>
            <a:r>
              <a:rPr sz="1400" b="1">
                <a:solidFill>
                  <a:srgbClr val="FFFFFF"/>
                </a:solidFill>
                <a:latin typeface="Segoe UI"/>
              </a:rPr>
              <a:t>Less downtime</a:t>
            </a:r>
          </a:p>
          <a:p>
            <a:pPr algn="l">
              <a:spcBef>
                <a:spcPts val="400"/>
              </a:spcBef>
            </a:pPr>
            <a:r>
              <a:rPr sz="1100" b="0">
                <a:solidFill>
                  <a:srgbClr val="FFFFFF"/>
                </a:solidFill>
                <a:latin typeface="Segoe UI"/>
              </a:rPr>
              <a:t>Problems show up early as clear red signals, so the team reacts before users notice a slowdown or outage in MongoDB. Catching issues early is far cheaper and calmer than fixing them during a full outage.</a:t>
            </a:r>
          </a:p>
        </p:txBody>
      </p:sp>
      <p:sp>
        <p:nvSpPr>
          <p:cNvPr id="9" name="Rounded Rectangle 8"/>
          <p:cNvSpPr/>
          <p:nvPr/>
        </p:nvSpPr>
        <p:spPr>
          <a:xfrm>
            <a:off x="6240780" y="1965960"/>
            <a:ext cx="5417820" cy="1965960"/>
          </a:xfrm>
          <a:prstGeom prst="roundRect">
            <a:avLst/>
          </a:prstGeom>
          <a:solidFill>
            <a:srgbClr val="4F809C"/>
          </a:solidFill>
          <a:ln>
            <a:noFill/>
          </a:ln>
          <a:effectLst/>
        </p:spPr>
        <p:style>
          <a:lnRef idx="1">
            <a:schemeClr val="accent1"/>
          </a:lnRef>
          <a:fillRef idx="3">
            <a:schemeClr val="accent1"/>
          </a:fillRef>
          <a:effectRef idx="2">
            <a:schemeClr val="accent1"/>
          </a:effectRef>
          <a:fontRef idx="minor">
            <a:schemeClr val="lt1"/>
          </a:fontRef>
        </p:style>
        <p:txBody>
          <a:bodyPr rtlCol="0" anchor="t" wrap="square" lIns="256032" rIns="237744" tIns="146304"/>
          <a:lstStyle/>
          <a:p>
            <a:pPr algn="l"/>
            <a:r>
              <a:rPr sz="1800" b="1">
                <a:solidFill>
                  <a:srgbClr val="D7E6EF"/>
                </a:solidFill>
                <a:latin typeface="Segoe UI"/>
              </a:rPr>
              <a:t>02   </a:t>
            </a:r>
            <a:r>
              <a:rPr sz="1400" b="1">
                <a:solidFill>
                  <a:srgbClr val="FFFFFF"/>
                </a:solidFill>
                <a:latin typeface="Segoe UI"/>
              </a:rPr>
              <a:t>Faster troubleshooting</a:t>
            </a:r>
          </a:p>
          <a:p>
            <a:pPr algn="l">
              <a:spcBef>
                <a:spcPts val="400"/>
              </a:spcBef>
            </a:pPr>
            <a:r>
              <a:rPr sz="1100" b="0">
                <a:solidFill>
                  <a:srgbClr val="FFFFFF"/>
                </a:solidFill>
                <a:latin typeface="Segoe UI"/>
              </a:rPr>
              <a:t>Actmon points to the slow query or busy process in seconds instead of hours of manual digging, so incidents are resolved quickly and engineers stay focused on building, not firefighting.</a:t>
            </a:r>
          </a:p>
        </p:txBody>
      </p:sp>
      <p:sp>
        <p:nvSpPr>
          <p:cNvPr id="10" name="Rounded Rectangle 9"/>
          <p:cNvSpPr/>
          <p:nvPr/>
        </p:nvSpPr>
        <p:spPr>
          <a:xfrm>
            <a:off x="548640" y="4206240"/>
            <a:ext cx="5417820" cy="1965960"/>
          </a:xfrm>
          <a:prstGeom prst="roundRect">
            <a:avLst/>
          </a:prstGeom>
          <a:solidFill>
            <a:srgbClr val="3A6A88"/>
          </a:solidFill>
          <a:ln>
            <a:noFill/>
          </a:ln>
          <a:effectLst/>
        </p:spPr>
        <p:style>
          <a:lnRef idx="1">
            <a:schemeClr val="accent1"/>
          </a:lnRef>
          <a:fillRef idx="3">
            <a:schemeClr val="accent1"/>
          </a:fillRef>
          <a:effectRef idx="2">
            <a:schemeClr val="accent1"/>
          </a:effectRef>
          <a:fontRef idx="minor">
            <a:schemeClr val="lt1"/>
          </a:fontRef>
        </p:style>
        <p:txBody>
          <a:bodyPr rtlCol="0" anchor="t" wrap="square" lIns="256032" rIns="237744" tIns="146304"/>
          <a:lstStyle/>
          <a:p>
            <a:pPr algn="l"/>
            <a:r>
              <a:rPr sz="1800" b="1">
                <a:solidFill>
                  <a:srgbClr val="D7E6EF"/>
                </a:solidFill>
                <a:latin typeface="Segoe UI"/>
              </a:rPr>
              <a:t>03   </a:t>
            </a:r>
            <a:r>
              <a:rPr sz="1400" b="1">
                <a:solidFill>
                  <a:srgbClr val="FFFFFF"/>
                </a:solidFill>
                <a:latin typeface="Segoe UI"/>
              </a:rPr>
              <a:t>The real root cause</a:t>
            </a:r>
          </a:p>
          <a:p>
            <a:pPr algn="l">
              <a:spcBef>
                <a:spcPts val="400"/>
              </a:spcBef>
            </a:pPr>
            <a:r>
              <a:rPr sz="1100" b="0">
                <a:solidFill>
                  <a:srgbClr val="FFFFFF"/>
                </a:solidFill>
                <a:latin typeface="Segoe UI"/>
              </a:rPr>
              <a:t>A CPU or memory spike is not always the database. Actmon shows whether the database or another program on the server is responsible, so you fix the right thing the first time.</a:t>
            </a:r>
          </a:p>
        </p:txBody>
      </p:sp>
      <p:sp>
        <p:nvSpPr>
          <p:cNvPr id="11" name="Rounded Rectangle 10"/>
          <p:cNvSpPr/>
          <p:nvPr/>
        </p:nvSpPr>
        <p:spPr>
          <a:xfrm>
            <a:off x="6240780" y="4206240"/>
            <a:ext cx="5417820" cy="1965960"/>
          </a:xfrm>
          <a:prstGeom prst="roundRect">
            <a:avLst/>
          </a:prstGeom>
          <a:solidFill>
            <a:srgbClr val="2A5573"/>
          </a:solidFill>
          <a:ln>
            <a:noFill/>
          </a:ln>
          <a:effectLst/>
        </p:spPr>
        <p:style>
          <a:lnRef idx="1">
            <a:schemeClr val="accent1"/>
          </a:lnRef>
          <a:fillRef idx="3">
            <a:schemeClr val="accent1"/>
          </a:fillRef>
          <a:effectRef idx="2">
            <a:schemeClr val="accent1"/>
          </a:effectRef>
          <a:fontRef idx="minor">
            <a:schemeClr val="lt1"/>
          </a:fontRef>
        </p:style>
        <p:txBody>
          <a:bodyPr rtlCol="0" anchor="t" wrap="square" lIns="256032" rIns="237744" tIns="146304"/>
          <a:lstStyle/>
          <a:p>
            <a:pPr algn="l"/>
            <a:r>
              <a:rPr sz="1800" b="1">
                <a:solidFill>
                  <a:srgbClr val="D7E6EF"/>
                </a:solidFill>
                <a:latin typeface="Segoe UI"/>
              </a:rPr>
              <a:t>04   </a:t>
            </a:r>
            <a:r>
              <a:rPr sz="1400" b="1">
                <a:solidFill>
                  <a:srgbClr val="FFFFFF"/>
                </a:solidFill>
                <a:latin typeface="Segoe UI"/>
              </a:rPr>
              <a:t>One affordable tool</a:t>
            </a:r>
          </a:p>
          <a:p>
            <a:pPr algn="l">
              <a:spcBef>
                <a:spcPts val="400"/>
              </a:spcBef>
            </a:pPr>
            <a:r>
              <a:rPr sz="1100" b="0">
                <a:solidFill>
                  <a:srgbClr val="FFFFFF"/>
                </a:solidFill>
                <a:latin typeface="Segoe UI"/>
              </a:rPr>
              <a:t>Health checks, query analysis, error logs and reports are in one platform that replaces several products, lowering cost, simplifying training, and giving everyone a single source of truth.</a:t>
            </a:r>
          </a:p>
        </p:txBody>
      </p:sp>
      <p:sp>
        <p:nvSpPr>
          <p:cNvPr id="12" name="TextBox 11"/>
          <p:cNvSpPr txBox="1"/>
          <p:nvPr/>
        </p:nvSpPr>
        <p:spPr>
          <a:xfrm>
            <a:off x="502920" y="6473952"/>
            <a:ext cx="8229600" cy="274320"/>
          </a:xfrm>
          <a:prstGeom prst="rect">
            <a:avLst/>
          </a:prstGeom>
          <a:noFill/>
        </p:spPr>
        <p:txBody>
          <a:bodyPr wrap="square">
            <a:spAutoFit/>
          </a:bodyPr>
          <a:lstStyle/>
          <a:p>
            <a:pPr algn="l"/>
            <a:r>
              <a:rPr sz="900" b="0">
                <a:solidFill>
                  <a:srgbClr val="5E6B76"/>
                </a:solidFill>
                <a:latin typeface="Segoe UI"/>
              </a:rPr>
              <a:t>Actmon  ·  MongoDB Monitoring</a:t>
            </a:r>
          </a:p>
        </p:txBody>
      </p:sp>
      <p:sp>
        <p:nvSpPr>
          <p:cNvPr id="13" name="TextBox 12"/>
          <p:cNvSpPr txBox="1"/>
          <p:nvPr/>
        </p:nvSpPr>
        <p:spPr>
          <a:xfrm>
            <a:off x="11155680" y="6473952"/>
            <a:ext cx="822960" cy="274320"/>
          </a:xfrm>
          <a:prstGeom prst="rect">
            <a:avLst/>
          </a:prstGeom>
          <a:noFill/>
        </p:spPr>
        <p:txBody>
          <a:bodyPr wrap="square">
            <a:spAutoFit/>
          </a:bodyPr>
          <a:lstStyle/>
          <a:p>
            <a:pPr algn="r"/>
            <a:r>
              <a:rPr sz="900" b="0">
                <a:solidFill>
                  <a:srgbClr val="5E6B76"/>
                </a:solidFill>
                <a:latin typeface="Segoe UI"/>
              </a:rPr>
              <a:t>3</a:t>
            </a:r>
          </a:p>
        </p:txBody>
      </p:sp>
    </p:spTree>
  </p:cSld>
  <p:clrMapOvr>
    <a:masterClrMapping/>
  </p:clrMapOvr>
</p:sld>
</file>

<file path=ppt/slides/slide4.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F4F1EA"/>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Oval 2"/>
          <p:cNvSpPr/>
          <p:nvPr/>
        </p:nvSpPr>
        <p:spPr>
          <a:xfrm>
            <a:off x="9448495" y="-1554480"/>
            <a:ext cx="4206240" cy="4206240"/>
          </a:xfrm>
          <a:prstGeom prst="ellipse">
            <a:avLst/>
          </a:prstGeom>
          <a:solidFill>
            <a:srgbClr val="DCEEEE"/>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Oval 3"/>
          <p:cNvSpPr/>
          <p:nvPr/>
        </p:nvSpPr>
        <p:spPr>
          <a:xfrm>
            <a:off x="-1645920" y="4297680"/>
            <a:ext cx="4023360" cy="4023360"/>
          </a:xfrm>
          <a:prstGeom prst="ellipse">
            <a:avLst/>
          </a:prstGeom>
          <a:solidFill>
            <a:srgbClr val="DCEEEE"/>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 name="Rounded Rectangle 4"/>
          <p:cNvSpPr/>
          <p:nvPr/>
        </p:nvSpPr>
        <p:spPr>
          <a:xfrm>
            <a:off x="548640" y="1051560"/>
            <a:ext cx="4983480" cy="4846320"/>
          </a:xfrm>
          <a:prstGeom prst="roundRect">
            <a:avLst/>
          </a:prstGeom>
          <a:solidFill>
            <a:srgbClr val="B9D4E0"/>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310896" rIns="274320"/>
          <a:lstStyle/>
          <a:p>
            <a:pPr algn="l"/>
            <a:r>
              <a:rPr sz="2700" b="1">
                <a:solidFill>
                  <a:srgbClr val="1C4966"/>
                </a:solidFill>
                <a:latin typeface="Segoe UI"/>
              </a:rPr>
              <a:t>HOW ACTMON CONNECTS</a:t>
            </a:r>
          </a:p>
          <a:p>
            <a:pPr algn="l">
              <a:spcBef>
                <a:spcPts val="1000"/>
              </a:spcBef>
            </a:pPr>
            <a:r>
              <a:rPr sz="1250" b="0">
                <a:solidFill>
                  <a:srgbClr val="1C4966"/>
                </a:solidFill>
                <a:latin typeface="Segoe UI"/>
              </a:rPr>
              <a:t>Actmon connects to MongoDB and reads its server status, profiler and replica and shard information. It only reads — it never changes the data on its own.</a:t>
            </a:r>
          </a:p>
        </p:txBody>
      </p:sp>
      <p:sp>
        <p:nvSpPr>
          <p:cNvPr id="6" name="Rectangle 5"/>
          <p:cNvSpPr/>
          <p:nvPr/>
        </p:nvSpPr>
        <p:spPr>
          <a:xfrm>
            <a:off x="6355080" y="1234440"/>
            <a:ext cx="27432" cy="4663440"/>
          </a:xfrm>
          <a:prstGeom prst="rect">
            <a:avLst/>
          </a:prstGeom>
          <a:solidFill>
            <a:srgbClr val="1C4966"/>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Oval 6"/>
          <p:cNvSpPr/>
          <p:nvPr/>
        </p:nvSpPr>
        <p:spPr>
          <a:xfrm>
            <a:off x="6291072" y="1344168"/>
            <a:ext cx="155448" cy="155448"/>
          </a:xfrm>
          <a:prstGeom prst="ellipse">
            <a:avLst/>
          </a:prstGeom>
          <a:solidFill>
            <a:srgbClr val="1C4966"/>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 name="TextBox 7"/>
          <p:cNvSpPr txBox="1"/>
          <p:nvPr/>
        </p:nvSpPr>
        <p:spPr>
          <a:xfrm>
            <a:off x="6647688" y="1252728"/>
            <a:ext cx="5349240" cy="411480"/>
          </a:xfrm>
          <a:prstGeom prst="rect">
            <a:avLst/>
          </a:prstGeom>
          <a:noFill/>
        </p:spPr>
        <p:txBody>
          <a:bodyPr wrap="square">
            <a:spAutoFit/>
          </a:bodyPr>
          <a:lstStyle/>
          <a:p>
            <a:pPr algn="l"/>
            <a:r>
              <a:rPr sz="1700" b="1">
                <a:solidFill>
                  <a:srgbClr val="1C4966"/>
                </a:solidFill>
                <a:latin typeface="Segoe UI"/>
              </a:rPr>
              <a:t>01  </a:t>
            </a:r>
            <a:r>
              <a:rPr sz="1400" b="1">
                <a:solidFill>
                  <a:srgbClr val="1C4966"/>
                </a:solidFill>
                <a:latin typeface="Segoe UI"/>
              </a:rPr>
              <a:t>Secure connection</a:t>
            </a:r>
          </a:p>
        </p:txBody>
      </p:sp>
      <p:sp>
        <p:nvSpPr>
          <p:cNvPr id="9" name="TextBox 8"/>
          <p:cNvSpPr txBox="1"/>
          <p:nvPr/>
        </p:nvSpPr>
        <p:spPr>
          <a:xfrm>
            <a:off x="6665976" y="1691640"/>
            <a:ext cx="5303520" cy="1097280"/>
          </a:xfrm>
          <a:prstGeom prst="rect">
            <a:avLst/>
          </a:prstGeom>
          <a:noFill/>
        </p:spPr>
        <p:txBody>
          <a:bodyPr wrap="square">
            <a:spAutoFit/>
          </a:bodyPr>
          <a:lstStyle/>
          <a:p>
            <a:pPr algn="l"/>
            <a:r>
              <a:rPr sz="1100" b="0">
                <a:solidFill>
                  <a:srgbClr val="2C3B47"/>
                </a:solidFill>
                <a:latin typeface="Segoe UI"/>
              </a:rPr>
              <a:t>Signs in with your connection details and reads MongoDB's own server status and statistics.</a:t>
            </a:r>
          </a:p>
        </p:txBody>
      </p:sp>
      <p:sp>
        <p:nvSpPr>
          <p:cNvPr id="10" name="Oval 9"/>
          <p:cNvSpPr/>
          <p:nvPr/>
        </p:nvSpPr>
        <p:spPr>
          <a:xfrm>
            <a:off x="6291072" y="2898648"/>
            <a:ext cx="155448" cy="155448"/>
          </a:xfrm>
          <a:prstGeom prst="ellipse">
            <a:avLst/>
          </a:prstGeom>
          <a:solidFill>
            <a:srgbClr val="1C4966"/>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1" name="TextBox 10"/>
          <p:cNvSpPr txBox="1"/>
          <p:nvPr/>
        </p:nvSpPr>
        <p:spPr>
          <a:xfrm>
            <a:off x="6647688" y="2807208"/>
            <a:ext cx="5349240" cy="411480"/>
          </a:xfrm>
          <a:prstGeom prst="rect">
            <a:avLst/>
          </a:prstGeom>
          <a:noFill/>
        </p:spPr>
        <p:txBody>
          <a:bodyPr wrap="square">
            <a:spAutoFit/>
          </a:bodyPr>
          <a:lstStyle/>
          <a:p>
            <a:pPr algn="l"/>
            <a:r>
              <a:rPr sz="1700" b="1">
                <a:solidFill>
                  <a:srgbClr val="1C4966"/>
                </a:solidFill>
                <a:latin typeface="Segoe UI"/>
              </a:rPr>
              <a:t>02  </a:t>
            </a:r>
            <a:r>
              <a:rPr sz="1400" b="1">
                <a:solidFill>
                  <a:srgbClr val="1C4966"/>
                </a:solidFill>
                <a:latin typeface="Segoe UI"/>
              </a:rPr>
              <a:t>Reads server and host</a:t>
            </a:r>
          </a:p>
        </p:txBody>
      </p:sp>
      <p:sp>
        <p:nvSpPr>
          <p:cNvPr id="12" name="TextBox 11"/>
          <p:cNvSpPr txBox="1"/>
          <p:nvPr/>
        </p:nvSpPr>
        <p:spPr>
          <a:xfrm>
            <a:off x="6665976" y="3246120"/>
            <a:ext cx="5303520" cy="1097280"/>
          </a:xfrm>
          <a:prstGeom prst="rect">
            <a:avLst/>
          </a:prstGeom>
          <a:noFill/>
        </p:spPr>
        <p:txBody>
          <a:bodyPr wrap="square">
            <a:spAutoFit/>
          </a:bodyPr>
          <a:lstStyle/>
          <a:p>
            <a:pPr algn="l"/>
            <a:r>
              <a:rPr sz="1100" b="0">
                <a:solidFill>
                  <a:srgbClr val="2C3B47"/>
                </a:solidFill>
                <a:latin typeface="Segoe UI"/>
              </a:rPr>
              <a:t>Reads operation counters, the profiler and replica/shard state; on a Linux host it also reads CPU, memory and disk over SSH.</a:t>
            </a:r>
          </a:p>
        </p:txBody>
      </p:sp>
      <p:sp>
        <p:nvSpPr>
          <p:cNvPr id="13" name="Oval 12"/>
          <p:cNvSpPr/>
          <p:nvPr/>
        </p:nvSpPr>
        <p:spPr>
          <a:xfrm>
            <a:off x="6291072" y="4453128"/>
            <a:ext cx="155448" cy="155448"/>
          </a:xfrm>
          <a:prstGeom prst="ellipse">
            <a:avLst/>
          </a:prstGeom>
          <a:solidFill>
            <a:srgbClr val="1C4966"/>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4" name="TextBox 13"/>
          <p:cNvSpPr txBox="1"/>
          <p:nvPr/>
        </p:nvSpPr>
        <p:spPr>
          <a:xfrm>
            <a:off x="6647688" y="4361688"/>
            <a:ext cx="5349240" cy="411480"/>
          </a:xfrm>
          <a:prstGeom prst="rect">
            <a:avLst/>
          </a:prstGeom>
          <a:noFill/>
        </p:spPr>
        <p:txBody>
          <a:bodyPr wrap="square">
            <a:spAutoFit/>
          </a:bodyPr>
          <a:lstStyle/>
          <a:p>
            <a:pPr algn="l"/>
            <a:r>
              <a:rPr sz="1700" b="1">
                <a:solidFill>
                  <a:srgbClr val="1C4966"/>
                </a:solidFill>
                <a:latin typeface="Segoe UI"/>
              </a:rPr>
              <a:t>03  </a:t>
            </a:r>
            <a:r>
              <a:rPr sz="1400" b="1">
                <a:solidFill>
                  <a:srgbClr val="1C4966"/>
                </a:solidFill>
                <a:latin typeface="Segoe UI"/>
              </a:rPr>
              <a:t>Safe by design</a:t>
            </a:r>
          </a:p>
        </p:txBody>
      </p:sp>
      <p:sp>
        <p:nvSpPr>
          <p:cNvPr id="15" name="TextBox 14"/>
          <p:cNvSpPr txBox="1"/>
          <p:nvPr/>
        </p:nvSpPr>
        <p:spPr>
          <a:xfrm>
            <a:off x="6665976" y="4800600"/>
            <a:ext cx="5303520" cy="1097280"/>
          </a:xfrm>
          <a:prstGeom prst="rect">
            <a:avLst/>
          </a:prstGeom>
          <a:noFill/>
        </p:spPr>
        <p:txBody>
          <a:bodyPr wrap="square">
            <a:spAutoFit/>
          </a:bodyPr>
          <a:lstStyle/>
          <a:p>
            <a:pPr algn="l"/>
            <a:r>
              <a:rPr sz="1100" b="0">
                <a:solidFill>
                  <a:srgbClr val="2C3B47"/>
                </a:solidFill>
                <a:latin typeface="Segoe UI"/>
              </a:rPr>
              <a:t>Monitoring is read-only. Nothing is created, changed or deleted unless you choose to run a guided action.</a:t>
            </a:r>
          </a:p>
        </p:txBody>
      </p:sp>
      <p:sp>
        <p:nvSpPr>
          <p:cNvPr id="16" name="TextBox 15"/>
          <p:cNvSpPr txBox="1"/>
          <p:nvPr/>
        </p:nvSpPr>
        <p:spPr>
          <a:xfrm>
            <a:off x="502920" y="6473952"/>
            <a:ext cx="8229600" cy="274320"/>
          </a:xfrm>
          <a:prstGeom prst="rect">
            <a:avLst/>
          </a:prstGeom>
          <a:noFill/>
        </p:spPr>
        <p:txBody>
          <a:bodyPr wrap="square">
            <a:spAutoFit/>
          </a:bodyPr>
          <a:lstStyle/>
          <a:p>
            <a:pPr algn="l"/>
            <a:r>
              <a:rPr sz="900" b="0">
                <a:solidFill>
                  <a:srgbClr val="5E6B76"/>
                </a:solidFill>
                <a:latin typeface="Segoe UI"/>
              </a:rPr>
              <a:t>Actmon  ·  MongoDB Monitoring</a:t>
            </a:r>
          </a:p>
        </p:txBody>
      </p:sp>
      <p:sp>
        <p:nvSpPr>
          <p:cNvPr id="17" name="TextBox 16"/>
          <p:cNvSpPr txBox="1"/>
          <p:nvPr/>
        </p:nvSpPr>
        <p:spPr>
          <a:xfrm>
            <a:off x="11155680" y="6473952"/>
            <a:ext cx="822960" cy="274320"/>
          </a:xfrm>
          <a:prstGeom prst="rect">
            <a:avLst/>
          </a:prstGeom>
          <a:noFill/>
        </p:spPr>
        <p:txBody>
          <a:bodyPr wrap="square">
            <a:spAutoFit/>
          </a:bodyPr>
          <a:lstStyle/>
          <a:p>
            <a:pPr algn="r"/>
            <a:r>
              <a:rPr sz="900" b="0">
                <a:solidFill>
                  <a:srgbClr val="5E6B76"/>
                </a:solidFill>
                <a:latin typeface="Segoe UI"/>
              </a:rPr>
              <a:t>4</a:t>
            </a:r>
          </a:p>
        </p:txBody>
      </p:sp>
    </p:spTree>
  </p:cSld>
  <p:clrMapOvr>
    <a:masterClrMapping/>
  </p:clrMapOvr>
</p:sld>
</file>

<file path=ppt/slides/slide5.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F4F1EA"/>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Oval 2"/>
          <p:cNvSpPr/>
          <p:nvPr/>
        </p:nvSpPr>
        <p:spPr>
          <a:xfrm>
            <a:off x="9448495" y="-1554480"/>
            <a:ext cx="4206240" cy="4206240"/>
          </a:xfrm>
          <a:prstGeom prst="ellipse">
            <a:avLst/>
          </a:prstGeom>
          <a:solidFill>
            <a:srgbClr val="DCEEEE"/>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Oval 3"/>
          <p:cNvSpPr/>
          <p:nvPr/>
        </p:nvSpPr>
        <p:spPr>
          <a:xfrm>
            <a:off x="-1645920" y="4297680"/>
            <a:ext cx="4023360" cy="4023360"/>
          </a:xfrm>
          <a:prstGeom prst="ellipse">
            <a:avLst/>
          </a:prstGeom>
          <a:solidFill>
            <a:srgbClr val="DCEEEE"/>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 name="TextBox 4"/>
          <p:cNvSpPr txBox="1"/>
          <p:nvPr/>
        </p:nvSpPr>
        <p:spPr>
          <a:xfrm>
            <a:off x="548640" y="457200"/>
            <a:ext cx="10972800" cy="640080"/>
          </a:xfrm>
          <a:prstGeom prst="rect">
            <a:avLst/>
          </a:prstGeom>
          <a:noFill/>
        </p:spPr>
        <p:txBody>
          <a:bodyPr wrap="square">
            <a:spAutoFit/>
          </a:bodyPr>
          <a:lstStyle/>
          <a:p>
            <a:pPr algn="l"/>
            <a:r>
              <a:rPr sz="2900" b="1">
                <a:solidFill>
                  <a:srgbClr val="1C4966"/>
                </a:solidFill>
                <a:latin typeface="Segoe UI"/>
              </a:rPr>
              <a:t>WHAT ACTMON MONITORS</a:t>
            </a:r>
          </a:p>
        </p:txBody>
      </p:sp>
      <p:sp>
        <p:nvSpPr>
          <p:cNvPr id="6" name="Rectangle 5"/>
          <p:cNvSpPr/>
          <p:nvPr/>
        </p:nvSpPr>
        <p:spPr>
          <a:xfrm>
            <a:off x="603504" y="1207008"/>
            <a:ext cx="1463040" cy="54864"/>
          </a:xfrm>
          <a:prstGeom prst="rect">
            <a:avLst/>
          </a:prstGeom>
          <a:solidFill>
            <a:srgbClr val="1C4966"/>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TextBox 6"/>
          <p:cNvSpPr txBox="1"/>
          <p:nvPr/>
        </p:nvSpPr>
        <p:spPr>
          <a:xfrm>
            <a:off x="566928" y="1371600"/>
            <a:ext cx="11064240" cy="457200"/>
          </a:xfrm>
          <a:prstGeom prst="rect">
            <a:avLst/>
          </a:prstGeom>
          <a:noFill/>
        </p:spPr>
        <p:txBody>
          <a:bodyPr wrap="square">
            <a:spAutoFit/>
          </a:bodyPr>
          <a:lstStyle/>
          <a:p>
            <a:pPr algn="l"/>
            <a:r>
              <a:rPr sz="1300" b="0">
                <a:solidFill>
                  <a:srgbClr val="2C3B47"/>
                </a:solidFill>
                <a:latin typeface="Segoe UI"/>
              </a:rPr>
              <a:t>Full coverage of operations, data, and the cluster.</a:t>
            </a:r>
          </a:p>
        </p:txBody>
      </p:sp>
      <p:sp>
        <p:nvSpPr>
          <p:cNvPr id="8" name="Rounded Rectangle 7"/>
          <p:cNvSpPr/>
          <p:nvPr/>
        </p:nvSpPr>
        <p:spPr>
          <a:xfrm>
            <a:off x="548640" y="1965960"/>
            <a:ext cx="5417820" cy="1965960"/>
          </a:xfrm>
          <a:prstGeom prst="roundRect">
            <a:avLst/>
          </a:prstGeom>
          <a:solidFill>
            <a:srgbClr val="6E98AF"/>
          </a:solidFill>
          <a:ln>
            <a:noFill/>
          </a:ln>
          <a:effectLst/>
        </p:spPr>
        <p:style>
          <a:lnRef idx="1">
            <a:schemeClr val="accent1"/>
          </a:lnRef>
          <a:fillRef idx="3">
            <a:schemeClr val="accent1"/>
          </a:fillRef>
          <a:effectRef idx="2">
            <a:schemeClr val="accent1"/>
          </a:effectRef>
          <a:fontRef idx="minor">
            <a:schemeClr val="lt1"/>
          </a:fontRef>
        </p:style>
        <p:txBody>
          <a:bodyPr rtlCol="0" anchor="t" wrap="square" lIns="256032" rIns="237744" tIns="146304"/>
          <a:lstStyle/>
          <a:p>
            <a:pPr algn="l"/>
            <a:r>
              <a:rPr sz="1800" b="1">
                <a:solidFill>
                  <a:srgbClr val="D7E6EF"/>
                </a:solidFill>
                <a:latin typeface="Segoe UI"/>
              </a:rPr>
              <a:t>01   </a:t>
            </a:r>
            <a:r>
              <a:rPr sz="1400" b="1">
                <a:solidFill>
                  <a:srgbClr val="FFFFFF"/>
                </a:solidFill>
                <a:latin typeface="Segoe UI"/>
              </a:rPr>
              <a:t>Health &amp; operations</a:t>
            </a:r>
          </a:p>
          <a:p>
            <a:pPr algn="l">
              <a:spcBef>
                <a:spcPts val="400"/>
              </a:spcBef>
            </a:pPr>
            <a:r>
              <a:rPr sz="1100" b="0">
                <a:solidFill>
                  <a:srgbClr val="FFFFFF"/>
                </a:solidFill>
                <a:latin typeface="Segoe UI"/>
              </a:rPr>
              <a:t>Server health and connections plus operation counters and current operations — a clear view of how busy MongoDB is and whether it is healthy.</a:t>
            </a:r>
          </a:p>
        </p:txBody>
      </p:sp>
      <p:sp>
        <p:nvSpPr>
          <p:cNvPr id="9" name="Rounded Rectangle 8"/>
          <p:cNvSpPr/>
          <p:nvPr/>
        </p:nvSpPr>
        <p:spPr>
          <a:xfrm>
            <a:off x="6240780" y="1965960"/>
            <a:ext cx="5417820" cy="1965960"/>
          </a:xfrm>
          <a:prstGeom prst="roundRect">
            <a:avLst/>
          </a:prstGeom>
          <a:solidFill>
            <a:srgbClr val="4F809C"/>
          </a:solidFill>
          <a:ln>
            <a:noFill/>
          </a:ln>
          <a:effectLst/>
        </p:spPr>
        <p:style>
          <a:lnRef idx="1">
            <a:schemeClr val="accent1"/>
          </a:lnRef>
          <a:fillRef idx="3">
            <a:schemeClr val="accent1"/>
          </a:fillRef>
          <a:effectRef idx="2">
            <a:schemeClr val="accent1"/>
          </a:effectRef>
          <a:fontRef idx="minor">
            <a:schemeClr val="lt1"/>
          </a:fontRef>
        </p:style>
        <p:txBody>
          <a:bodyPr rtlCol="0" anchor="t" wrap="square" lIns="256032" rIns="237744" tIns="146304"/>
          <a:lstStyle/>
          <a:p>
            <a:pPr algn="l"/>
            <a:r>
              <a:rPr sz="1800" b="1">
                <a:solidFill>
                  <a:srgbClr val="D7E6EF"/>
                </a:solidFill>
                <a:latin typeface="Segoe UI"/>
              </a:rPr>
              <a:t>02   </a:t>
            </a:r>
            <a:r>
              <a:rPr sz="1400" b="1">
                <a:solidFill>
                  <a:srgbClr val="FFFFFF"/>
                </a:solidFill>
                <a:latin typeface="Segoe UI"/>
              </a:rPr>
              <a:t>Collections &amp; indexes</a:t>
            </a:r>
          </a:p>
          <a:p>
            <a:pPr algn="l">
              <a:spcBef>
                <a:spcPts val="400"/>
              </a:spcBef>
            </a:pPr>
            <a:r>
              <a:rPr sz="1100" b="0">
                <a:solidFill>
                  <a:srgbClr val="FFFFFF"/>
                </a:solidFill>
                <a:latin typeface="Segoe UI"/>
              </a:rPr>
              <a:t>Every collection with its statistics, and the indexes on each, plus a per-collection deep analysis so you can find large or unindexed collections.</a:t>
            </a:r>
          </a:p>
        </p:txBody>
      </p:sp>
      <p:sp>
        <p:nvSpPr>
          <p:cNvPr id="10" name="Rounded Rectangle 9"/>
          <p:cNvSpPr/>
          <p:nvPr/>
        </p:nvSpPr>
        <p:spPr>
          <a:xfrm>
            <a:off x="548640" y="4206240"/>
            <a:ext cx="5417820" cy="1965960"/>
          </a:xfrm>
          <a:prstGeom prst="roundRect">
            <a:avLst/>
          </a:prstGeom>
          <a:solidFill>
            <a:srgbClr val="3A6A88"/>
          </a:solidFill>
          <a:ln>
            <a:noFill/>
          </a:ln>
          <a:effectLst/>
        </p:spPr>
        <p:style>
          <a:lnRef idx="1">
            <a:schemeClr val="accent1"/>
          </a:lnRef>
          <a:fillRef idx="3">
            <a:schemeClr val="accent1"/>
          </a:fillRef>
          <a:effectRef idx="2">
            <a:schemeClr val="accent1"/>
          </a:effectRef>
          <a:fontRef idx="minor">
            <a:schemeClr val="lt1"/>
          </a:fontRef>
        </p:style>
        <p:txBody>
          <a:bodyPr rtlCol="0" anchor="t" wrap="square" lIns="256032" rIns="237744" tIns="146304"/>
          <a:lstStyle/>
          <a:p>
            <a:pPr algn="l"/>
            <a:r>
              <a:rPr sz="1800" b="1">
                <a:solidFill>
                  <a:srgbClr val="D7E6EF"/>
                </a:solidFill>
                <a:latin typeface="Segoe UI"/>
              </a:rPr>
              <a:t>03   </a:t>
            </a:r>
            <a:r>
              <a:rPr sz="1400" b="1">
                <a:solidFill>
                  <a:srgbClr val="FFFFFF"/>
                </a:solidFill>
                <a:latin typeface="Segoe UI"/>
              </a:rPr>
              <a:t>Replication, oplog &amp; sharding</a:t>
            </a:r>
          </a:p>
          <a:p>
            <a:pPr algn="l">
              <a:spcBef>
                <a:spcPts val="400"/>
              </a:spcBef>
            </a:pPr>
            <a:r>
              <a:rPr sz="1100" b="0">
                <a:solidFill>
                  <a:srgbClr val="FFFFFF"/>
                </a:solidFill>
                <a:latin typeface="Segoe UI"/>
              </a:rPr>
              <a:t>Replica-set status, the oplog window, and shard distribution — the operational picture of a replicated or sharded deployment.</a:t>
            </a:r>
          </a:p>
        </p:txBody>
      </p:sp>
      <p:sp>
        <p:nvSpPr>
          <p:cNvPr id="11" name="Rounded Rectangle 10"/>
          <p:cNvSpPr/>
          <p:nvPr/>
        </p:nvSpPr>
        <p:spPr>
          <a:xfrm>
            <a:off x="6240780" y="4206240"/>
            <a:ext cx="5417820" cy="1965960"/>
          </a:xfrm>
          <a:prstGeom prst="roundRect">
            <a:avLst/>
          </a:prstGeom>
          <a:solidFill>
            <a:srgbClr val="2A5573"/>
          </a:solidFill>
          <a:ln>
            <a:noFill/>
          </a:ln>
          <a:effectLst/>
        </p:spPr>
        <p:style>
          <a:lnRef idx="1">
            <a:schemeClr val="accent1"/>
          </a:lnRef>
          <a:fillRef idx="3">
            <a:schemeClr val="accent1"/>
          </a:fillRef>
          <a:effectRef idx="2">
            <a:schemeClr val="accent1"/>
          </a:effectRef>
          <a:fontRef idx="minor">
            <a:schemeClr val="lt1"/>
          </a:fontRef>
        </p:style>
        <p:txBody>
          <a:bodyPr rtlCol="0" anchor="t" wrap="square" lIns="256032" rIns="237744" tIns="146304"/>
          <a:lstStyle/>
          <a:p>
            <a:pPr algn="l"/>
            <a:r>
              <a:rPr sz="1800" b="1">
                <a:solidFill>
                  <a:srgbClr val="D7E6EF"/>
                </a:solidFill>
                <a:latin typeface="Segoe UI"/>
              </a:rPr>
              <a:t>04   </a:t>
            </a:r>
            <a:r>
              <a:rPr sz="1400" b="1">
                <a:solidFill>
                  <a:srgbClr val="FFFFFF"/>
                </a:solidFill>
                <a:latin typeface="Segoe UI"/>
              </a:rPr>
              <a:t>Transactions &amp; WiredTiger</a:t>
            </a:r>
          </a:p>
          <a:p>
            <a:pPr algn="l">
              <a:spcBef>
                <a:spcPts val="400"/>
              </a:spcBef>
            </a:pPr>
            <a:r>
              <a:rPr sz="1100" b="0">
                <a:solidFill>
                  <a:srgbClr val="FFFFFF"/>
                </a:solidFill>
                <a:latin typeface="Segoe UI"/>
              </a:rPr>
              <a:t>Active transactions and WiredTiger storage-engine metrics such as cache usage, which directly affect read and write performance.</a:t>
            </a:r>
          </a:p>
        </p:txBody>
      </p:sp>
      <p:sp>
        <p:nvSpPr>
          <p:cNvPr id="12" name="TextBox 11"/>
          <p:cNvSpPr txBox="1"/>
          <p:nvPr/>
        </p:nvSpPr>
        <p:spPr>
          <a:xfrm>
            <a:off x="502920" y="6473952"/>
            <a:ext cx="8229600" cy="274320"/>
          </a:xfrm>
          <a:prstGeom prst="rect">
            <a:avLst/>
          </a:prstGeom>
          <a:noFill/>
        </p:spPr>
        <p:txBody>
          <a:bodyPr wrap="square">
            <a:spAutoFit/>
          </a:bodyPr>
          <a:lstStyle/>
          <a:p>
            <a:pPr algn="l"/>
            <a:r>
              <a:rPr sz="900" b="0">
                <a:solidFill>
                  <a:srgbClr val="5E6B76"/>
                </a:solidFill>
                <a:latin typeface="Segoe UI"/>
              </a:rPr>
              <a:t>Actmon  ·  MongoDB Monitoring</a:t>
            </a:r>
          </a:p>
        </p:txBody>
      </p:sp>
      <p:sp>
        <p:nvSpPr>
          <p:cNvPr id="13" name="TextBox 12"/>
          <p:cNvSpPr txBox="1"/>
          <p:nvPr/>
        </p:nvSpPr>
        <p:spPr>
          <a:xfrm>
            <a:off x="11155680" y="6473952"/>
            <a:ext cx="822960" cy="274320"/>
          </a:xfrm>
          <a:prstGeom prst="rect">
            <a:avLst/>
          </a:prstGeom>
          <a:noFill/>
        </p:spPr>
        <p:txBody>
          <a:bodyPr wrap="square">
            <a:spAutoFit/>
          </a:bodyPr>
          <a:lstStyle/>
          <a:p>
            <a:pPr algn="r"/>
            <a:r>
              <a:rPr sz="900" b="0">
                <a:solidFill>
                  <a:srgbClr val="5E6B76"/>
                </a:solidFill>
                <a:latin typeface="Segoe UI"/>
              </a:rPr>
              <a:t>5</a:t>
            </a:r>
          </a:p>
        </p:txBody>
      </p:sp>
    </p:spTree>
  </p:cSld>
  <p:clrMapOvr>
    <a:masterClrMapping/>
  </p:clrMapOvr>
</p:sld>
</file>

<file path=ppt/slides/slide6.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F4F1EA"/>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Oval 2"/>
          <p:cNvSpPr/>
          <p:nvPr/>
        </p:nvSpPr>
        <p:spPr>
          <a:xfrm>
            <a:off x="9448495" y="-1554480"/>
            <a:ext cx="4206240" cy="4206240"/>
          </a:xfrm>
          <a:prstGeom prst="ellipse">
            <a:avLst/>
          </a:prstGeom>
          <a:solidFill>
            <a:srgbClr val="DCEEEE"/>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Oval 3"/>
          <p:cNvSpPr/>
          <p:nvPr/>
        </p:nvSpPr>
        <p:spPr>
          <a:xfrm>
            <a:off x="-1645920" y="4297680"/>
            <a:ext cx="4023360" cy="4023360"/>
          </a:xfrm>
          <a:prstGeom prst="ellipse">
            <a:avLst/>
          </a:prstGeom>
          <a:solidFill>
            <a:srgbClr val="DCEEEE"/>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 name="TextBox 4"/>
          <p:cNvSpPr txBox="1"/>
          <p:nvPr/>
        </p:nvSpPr>
        <p:spPr>
          <a:xfrm>
            <a:off x="548640" y="457200"/>
            <a:ext cx="10972800" cy="640080"/>
          </a:xfrm>
          <a:prstGeom prst="rect">
            <a:avLst/>
          </a:prstGeom>
          <a:noFill/>
        </p:spPr>
        <p:txBody>
          <a:bodyPr wrap="square">
            <a:spAutoFit/>
          </a:bodyPr>
          <a:lstStyle/>
          <a:p>
            <a:pPr algn="l"/>
            <a:r>
              <a:rPr sz="2900" b="1">
                <a:solidFill>
                  <a:srgbClr val="1C4966"/>
                </a:solidFill>
                <a:latin typeface="Segoe UI"/>
              </a:rPr>
              <a:t>OVERVIEW METRICS</a:t>
            </a:r>
          </a:p>
        </p:txBody>
      </p:sp>
      <p:sp>
        <p:nvSpPr>
          <p:cNvPr id="6" name="Rectangle 5"/>
          <p:cNvSpPr/>
          <p:nvPr/>
        </p:nvSpPr>
        <p:spPr>
          <a:xfrm>
            <a:off x="603504" y="1207008"/>
            <a:ext cx="1463040" cy="54864"/>
          </a:xfrm>
          <a:prstGeom prst="rect">
            <a:avLst/>
          </a:prstGeom>
          <a:solidFill>
            <a:srgbClr val="1C4966"/>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TextBox 6"/>
          <p:cNvSpPr txBox="1"/>
          <p:nvPr/>
        </p:nvSpPr>
        <p:spPr>
          <a:xfrm>
            <a:off x="566928" y="1371600"/>
            <a:ext cx="11064240" cy="457200"/>
          </a:xfrm>
          <a:prstGeom prst="rect">
            <a:avLst/>
          </a:prstGeom>
          <a:noFill/>
        </p:spPr>
        <p:txBody>
          <a:bodyPr wrap="square">
            <a:spAutoFit/>
          </a:bodyPr>
          <a:lstStyle/>
          <a:p>
            <a:pPr algn="l"/>
            <a:r>
              <a:rPr sz="1300" b="0">
                <a:solidFill>
                  <a:srgbClr val="2C3B47"/>
                </a:solidFill>
                <a:latin typeface="Segoe UI"/>
              </a:rPr>
              <a:t>The most important numbers, explained in plain language.</a:t>
            </a:r>
          </a:p>
        </p:txBody>
      </p:sp>
      <p:sp>
        <p:nvSpPr>
          <p:cNvPr id="8" name="Rounded Rectangle 7"/>
          <p:cNvSpPr/>
          <p:nvPr/>
        </p:nvSpPr>
        <p:spPr>
          <a:xfrm>
            <a:off x="548640" y="1965960"/>
            <a:ext cx="5417820" cy="1965960"/>
          </a:xfrm>
          <a:prstGeom prst="roundRect">
            <a:avLst/>
          </a:prstGeom>
          <a:solidFill>
            <a:srgbClr val="6E98AF"/>
          </a:solidFill>
          <a:ln>
            <a:noFill/>
          </a:ln>
          <a:effectLst/>
        </p:spPr>
        <p:style>
          <a:lnRef idx="1">
            <a:schemeClr val="accent1"/>
          </a:lnRef>
          <a:fillRef idx="3">
            <a:schemeClr val="accent1"/>
          </a:fillRef>
          <a:effectRef idx="2">
            <a:schemeClr val="accent1"/>
          </a:effectRef>
          <a:fontRef idx="minor">
            <a:schemeClr val="lt1"/>
          </a:fontRef>
        </p:style>
        <p:txBody>
          <a:bodyPr rtlCol="0" anchor="t" wrap="square" lIns="256032" rIns="237744" tIns="146304"/>
          <a:lstStyle/>
          <a:p>
            <a:pPr algn="l"/>
            <a:r>
              <a:rPr sz="1800" b="1">
                <a:solidFill>
                  <a:srgbClr val="D7E6EF"/>
                </a:solidFill>
                <a:latin typeface="Segoe UI"/>
              </a:rPr>
              <a:t>01   </a:t>
            </a:r>
            <a:r>
              <a:rPr sz="1400" b="1">
                <a:solidFill>
                  <a:srgbClr val="FFFFFF"/>
                </a:solidFill>
                <a:latin typeface="Segoe UI"/>
              </a:rPr>
              <a:t>Health &amp; connections</a:t>
            </a:r>
          </a:p>
          <a:p>
            <a:pPr algn="l">
              <a:spcBef>
                <a:spcPts val="400"/>
              </a:spcBef>
            </a:pPr>
            <a:r>
              <a:rPr sz="1100" b="0">
                <a:solidFill>
                  <a:srgbClr val="FFFFFF"/>
                </a:solidFill>
                <a:latin typeface="Segoe UI"/>
              </a:rPr>
              <a:t>Whether the server is healthy and reachable and how many client connections are open — the first things to confirm MongoDB is up and not overloaded.</a:t>
            </a:r>
          </a:p>
        </p:txBody>
      </p:sp>
      <p:sp>
        <p:nvSpPr>
          <p:cNvPr id="9" name="Rounded Rectangle 8"/>
          <p:cNvSpPr/>
          <p:nvPr/>
        </p:nvSpPr>
        <p:spPr>
          <a:xfrm>
            <a:off x="6240780" y="1965960"/>
            <a:ext cx="5417820" cy="1965960"/>
          </a:xfrm>
          <a:prstGeom prst="roundRect">
            <a:avLst/>
          </a:prstGeom>
          <a:solidFill>
            <a:srgbClr val="4F809C"/>
          </a:solidFill>
          <a:ln>
            <a:noFill/>
          </a:ln>
          <a:effectLst/>
        </p:spPr>
        <p:style>
          <a:lnRef idx="1">
            <a:schemeClr val="accent1"/>
          </a:lnRef>
          <a:fillRef idx="3">
            <a:schemeClr val="accent1"/>
          </a:fillRef>
          <a:effectRef idx="2">
            <a:schemeClr val="accent1"/>
          </a:effectRef>
          <a:fontRef idx="minor">
            <a:schemeClr val="lt1"/>
          </a:fontRef>
        </p:style>
        <p:txBody>
          <a:bodyPr rtlCol="0" anchor="t" wrap="square" lIns="256032" rIns="237744" tIns="146304"/>
          <a:lstStyle/>
          <a:p>
            <a:pPr algn="l"/>
            <a:r>
              <a:rPr sz="1800" b="1">
                <a:solidFill>
                  <a:srgbClr val="D7E6EF"/>
                </a:solidFill>
                <a:latin typeface="Segoe UI"/>
              </a:rPr>
              <a:t>02   </a:t>
            </a:r>
            <a:r>
              <a:rPr sz="1400" b="1">
                <a:solidFill>
                  <a:srgbClr val="FFFFFF"/>
                </a:solidFill>
                <a:latin typeface="Segoe UI"/>
              </a:rPr>
              <a:t>Operation counters</a:t>
            </a:r>
          </a:p>
          <a:p>
            <a:pPr algn="l">
              <a:spcBef>
                <a:spcPts val="400"/>
              </a:spcBef>
            </a:pPr>
            <a:r>
              <a:rPr sz="1100" b="0">
                <a:solidFill>
                  <a:srgbClr val="FFFFFF"/>
                </a:solidFill>
                <a:latin typeface="Segoe UI"/>
              </a:rPr>
              <a:t>How many inserts, queries, updates, deletes and commands are happening, which shows the shape and size of the workload at a glance.</a:t>
            </a:r>
          </a:p>
        </p:txBody>
      </p:sp>
      <p:sp>
        <p:nvSpPr>
          <p:cNvPr id="10" name="Rounded Rectangle 9"/>
          <p:cNvSpPr/>
          <p:nvPr/>
        </p:nvSpPr>
        <p:spPr>
          <a:xfrm>
            <a:off x="548640" y="4206240"/>
            <a:ext cx="5417820" cy="1965960"/>
          </a:xfrm>
          <a:prstGeom prst="roundRect">
            <a:avLst/>
          </a:prstGeom>
          <a:solidFill>
            <a:srgbClr val="3A6A88"/>
          </a:solidFill>
          <a:ln>
            <a:noFill/>
          </a:ln>
          <a:effectLst/>
        </p:spPr>
        <p:style>
          <a:lnRef idx="1">
            <a:schemeClr val="accent1"/>
          </a:lnRef>
          <a:fillRef idx="3">
            <a:schemeClr val="accent1"/>
          </a:fillRef>
          <a:effectRef idx="2">
            <a:schemeClr val="accent1"/>
          </a:effectRef>
          <a:fontRef idx="minor">
            <a:schemeClr val="lt1"/>
          </a:fontRef>
        </p:style>
        <p:txBody>
          <a:bodyPr rtlCol="0" anchor="t" wrap="square" lIns="256032" rIns="237744" tIns="146304"/>
          <a:lstStyle/>
          <a:p>
            <a:pPr algn="l"/>
            <a:r>
              <a:rPr sz="1800" b="1">
                <a:solidFill>
                  <a:srgbClr val="D7E6EF"/>
                </a:solidFill>
                <a:latin typeface="Segoe UI"/>
              </a:rPr>
              <a:t>03   </a:t>
            </a:r>
            <a:r>
              <a:rPr sz="1400" b="1">
                <a:solidFill>
                  <a:srgbClr val="FFFFFF"/>
                </a:solidFill>
                <a:latin typeface="Segoe UI"/>
              </a:rPr>
              <a:t>Replica set &amp; oplog</a:t>
            </a:r>
          </a:p>
          <a:p>
            <a:pPr algn="l">
              <a:spcBef>
                <a:spcPts val="400"/>
              </a:spcBef>
            </a:pPr>
            <a:r>
              <a:rPr sz="1100" b="0">
                <a:solidFill>
                  <a:srgbClr val="FFFFFF"/>
                </a:solidFill>
                <a:latin typeface="Segoe UI"/>
              </a:rPr>
              <a:t>The replica-set state and the oplog window, which tells you how far a secondary can fall behind before it can no longer catch up.</a:t>
            </a:r>
          </a:p>
        </p:txBody>
      </p:sp>
      <p:sp>
        <p:nvSpPr>
          <p:cNvPr id="11" name="Rounded Rectangle 10"/>
          <p:cNvSpPr/>
          <p:nvPr/>
        </p:nvSpPr>
        <p:spPr>
          <a:xfrm>
            <a:off x="6240780" y="4206240"/>
            <a:ext cx="5417820" cy="1965960"/>
          </a:xfrm>
          <a:prstGeom prst="roundRect">
            <a:avLst/>
          </a:prstGeom>
          <a:solidFill>
            <a:srgbClr val="2A5573"/>
          </a:solidFill>
          <a:ln>
            <a:noFill/>
          </a:ln>
          <a:effectLst/>
        </p:spPr>
        <p:style>
          <a:lnRef idx="1">
            <a:schemeClr val="accent1"/>
          </a:lnRef>
          <a:fillRef idx="3">
            <a:schemeClr val="accent1"/>
          </a:fillRef>
          <a:effectRef idx="2">
            <a:schemeClr val="accent1"/>
          </a:effectRef>
          <a:fontRef idx="minor">
            <a:schemeClr val="lt1"/>
          </a:fontRef>
        </p:style>
        <p:txBody>
          <a:bodyPr rtlCol="0" anchor="t" wrap="square" lIns="256032" rIns="237744" tIns="146304"/>
          <a:lstStyle/>
          <a:p>
            <a:pPr algn="l"/>
            <a:r>
              <a:rPr sz="1800" b="1">
                <a:solidFill>
                  <a:srgbClr val="D7E6EF"/>
                </a:solidFill>
                <a:latin typeface="Segoe UI"/>
              </a:rPr>
              <a:t>04   </a:t>
            </a:r>
            <a:r>
              <a:rPr sz="1400" b="1">
                <a:solidFill>
                  <a:srgbClr val="FFFFFF"/>
                </a:solidFill>
                <a:latin typeface="Segoe UI"/>
              </a:rPr>
              <a:t>Collection &amp; index stats</a:t>
            </a:r>
          </a:p>
          <a:p>
            <a:pPr algn="l">
              <a:spcBef>
                <a:spcPts val="400"/>
              </a:spcBef>
            </a:pPr>
            <a:r>
              <a:rPr sz="1100" b="0">
                <a:solidFill>
                  <a:srgbClr val="FFFFFF"/>
                </a:solidFill>
                <a:latin typeface="Segoe UI"/>
              </a:rPr>
              <a:t>Sizes and document counts for collections and the indexes on them, so you can spot oversized collections or missing indexes.</a:t>
            </a:r>
          </a:p>
        </p:txBody>
      </p:sp>
      <p:sp>
        <p:nvSpPr>
          <p:cNvPr id="12" name="TextBox 11"/>
          <p:cNvSpPr txBox="1"/>
          <p:nvPr/>
        </p:nvSpPr>
        <p:spPr>
          <a:xfrm>
            <a:off x="502920" y="6473952"/>
            <a:ext cx="8229600" cy="274320"/>
          </a:xfrm>
          <a:prstGeom prst="rect">
            <a:avLst/>
          </a:prstGeom>
          <a:noFill/>
        </p:spPr>
        <p:txBody>
          <a:bodyPr wrap="square">
            <a:spAutoFit/>
          </a:bodyPr>
          <a:lstStyle/>
          <a:p>
            <a:pPr algn="l"/>
            <a:r>
              <a:rPr sz="900" b="0">
                <a:solidFill>
                  <a:srgbClr val="5E6B76"/>
                </a:solidFill>
                <a:latin typeface="Segoe UI"/>
              </a:rPr>
              <a:t>Actmon  ·  MongoDB Monitoring</a:t>
            </a:r>
          </a:p>
        </p:txBody>
      </p:sp>
      <p:sp>
        <p:nvSpPr>
          <p:cNvPr id="13" name="TextBox 12"/>
          <p:cNvSpPr txBox="1"/>
          <p:nvPr/>
        </p:nvSpPr>
        <p:spPr>
          <a:xfrm>
            <a:off x="11155680" y="6473952"/>
            <a:ext cx="822960" cy="274320"/>
          </a:xfrm>
          <a:prstGeom prst="rect">
            <a:avLst/>
          </a:prstGeom>
          <a:noFill/>
        </p:spPr>
        <p:txBody>
          <a:bodyPr wrap="square">
            <a:spAutoFit/>
          </a:bodyPr>
          <a:lstStyle/>
          <a:p>
            <a:pPr algn="r"/>
            <a:r>
              <a:rPr sz="900" b="0">
                <a:solidFill>
                  <a:srgbClr val="5E6B76"/>
                </a:solidFill>
                <a:latin typeface="Segoe UI"/>
              </a:rPr>
              <a:t>6</a:t>
            </a:r>
          </a:p>
        </p:txBody>
      </p:sp>
    </p:spTree>
  </p:cSld>
  <p:clrMapOvr>
    <a:masterClrMapping/>
  </p:clrMapOvr>
</p:sld>
</file>

<file path=ppt/slides/slide7.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F4F1EA"/>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Oval 2"/>
          <p:cNvSpPr/>
          <p:nvPr/>
        </p:nvSpPr>
        <p:spPr>
          <a:xfrm>
            <a:off x="9448495" y="-1554480"/>
            <a:ext cx="4206240" cy="4206240"/>
          </a:xfrm>
          <a:prstGeom prst="ellipse">
            <a:avLst/>
          </a:prstGeom>
          <a:solidFill>
            <a:srgbClr val="DCEEEE"/>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Oval 3"/>
          <p:cNvSpPr/>
          <p:nvPr/>
        </p:nvSpPr>
        <p:spPr>
          <a:xfrm>
            <a:off x="-1645920" y="4297680"/>
            <a:ext cx="4023360" cy="4023360"/>
          </a:xfrm>
          <a:prstGeom prst="ellipse">
            <a:avLst/>
          </a:prstGeom>
          <a:solidFill>
            <a:srgbClr val="DCEEEE"/>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 name="Rectangle 4"/>
          <p:cNvSpPr/>
          <p:nvPr/>
        </p:nvSpPr>
        <p:spPr>
          <a:xfrm>
            <a:off x="960120" y="5059680"/>
            <a:ext cx="749808" cy="426719"/>
          </a:xfrm>
          <a:prstGeom prst="rect">
            <a:avLst/>
          </a:prstGeom>
          <a:solidFill>
            <a:srgbClr val="A9C7D6"/>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 name="Rectangle 5"/>
          <p:cNvSpPr/>
          <p:nvPr/>
        </p:nvSpPr>
        <p:spPr>
          <a:xfrm>
            <a:off x="960120" y="4632960"/>
            <a:ext cx="749808" cy="426719"/>
          </a:xfrm>
          <a:prstGeom prst="rect">
            <a:avLst/>
          </a:prstGeom>
          <a:solidFill>
            <a:srgbClr val="6E98A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Rectangle 6"/>
          <p:cNvSpPr/>
          <p:nvPr/>
        </p:nvSpPr>
        <p:spPr>
          <a:xfrm>
            <a:off x="960120" y="4206240"/>
            <a:ext cx="749808" cy="426719"/>
          </a:xfrm>
          <a:prstGeom prst="rect">
            <a:avLst/>
          </a:prstGeom>
          <a:solidFill>
            <a:srgbClr val="3A6A88"/>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 name="Rectangle 7"/>
          <p:cNvSpPr/>
          <p:nvPr/>
        </p:nvSpPr>
        <p:spPr>
          <a:xfrm>
            <a:off x="2093976" y="4846320"/>
            <a:ext cx="749808" cy="640080"/>
          </a:xfrm>
          <a:prstGeom prst="rect">
            <a:avLst/>
          </a:prstGeom>
          <a:solidFill>
            <a:srgbClr val="A9C7D6"/>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9" name="Rectangle 8"/>
          <p:cNvSpPr/>
          <p:nvPr/>
        </p:nvSpPr>
        <p:spPr>
          <a:xfrm>
            <a:off x="2093976" y="4206240"/>
            <a:ext cx="749808" cy="640080"/>
          </a:xfrm>
          <a:prstGeom prst="rect">
            <a:avLst/>
          </a:prstGeom>
          <a:solidFill>
            <a:srgbClr val="6E98A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0" name="Rectangle 9"/>
          <p:cNvSpPr/>
          <p:nvPr/>
        </p:nvSpPr>
        <p:spPr>
          <a:xfrm>
            <a:off x="2093976" y="3566160"/>
            <a:ext cx="749808" cy="640080"/>
          </a:xfrm>
          <a:prstGeom prst="rect">
            <a:avLst/>
          </a:prstGeom>
          <a:solidFill>
            <a:srgbClr val="3A6A88"/>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1" name="Rectangle 10"/>
          <p:cNvSpPr/>
          <p:nvPr/>
        </p:nvSpPr>
        <p:spPr>
          <a:xfrm>
            <a:off x="3227832" y="4602480"/>
            <a:ext cx="749808" cy="883920"/>
          </a:xfrm>
          <a:prstGeom prst="rect">
            <a:avLst/>
          </a:prstGeom>
          <a:solidFill>
            <a:srgbClr val="A9C7D6"/>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2" name="Rectangle 11"/>
          <p:cNvSpPr/>
          <p:nvPr/>
        </p:nvSpPr>
        <p:spPr>
          <a:xfrm>
            <a:off x="3227832" y="3718560"/>
            <a:ext cx="749808" cy="883920"/>
          </a:xfrm>
          <a:prstGeom prst="rect">
            <a:avLst/>
          </a:prstGeom>
          <a:solidFill>
            <a:srgbClr val="6E98A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3" name="Rectangle 12"/>
          <p:cNvSpPr/>
          <p:nvPr/>
        </p:nvSpPr>
        <p:spPr>
          <a:xfrm>
            <a:off x="3227832" y="2834640"/>
            <a:ext cx="749808" cy="883920"/>
          </a:xfrm>
          <a:prstGeom prst="rect">
            <a:avLst/>
          </a:prstGeom>
          <a:solidFill>
            <a:srgbClr val="3A6A88"/>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4" name="Rectangle 13"/>
          <p:cNvSpPr/>
          <p:nvPr/>
        </p:nvSpPr>
        <p:spPr>
          <a:xfrm>
            <a:off x="4361688" y="4358640"/>
            <a:ext cx="749808" cy="1127760"/>
          </a:xfrm>
          <a:prstGeom prst="rect">
            <a:avLst/>
          </a:prstGeom>
          <a:solidFill>
            <a:srgbClr val="A9C7D6"/>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5" name="Rectangle 14"/>
          <p:cNvSpPr/>
          <p:nvPr/>
        </p:nvSpPr>
        <p:spPr>
          <a:xfrm>
            <a:off x="4361688" y="3230880"/>
            <a:ext cx="749808" cy="1127760"/>
          </a:xfrm>
          <a:prstGeom prst="rect">
            <a:avLst/>
          </a:prstGeom>
          <a:solidFill>
            <a:srgbClr val="6E98A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6" name="Rectangle 15"/>
          <p:cNvSpPr/>
          <p:nvPr/>
        </p:nvSpPr>
        <p:spPr>
          <a:xfrm>
            <a:off x="4361688" y="2103120"/>
            <a:ext cx="749808" cy="1127760"/>
          </a:xfrm>
          <a:prstGeom prst="rect">
            <a:avLst/>
          </a:prstGeom>
          <a:solidFill>
            <a:srgbClr val="3A6A88"/>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7" name="TextBox 16"/>
          <p:cNvSpPr txBox="1"/>
          <p:nvPr/>
        </p:nvSpPr>
        <p:spPr>
          <a:xfrm>
            <a:off x="6126480" y="1371600"/>
            <a:ext cx="5577840" cy="1371600"/>
          </a:xfrm>
          <a:prstGeom prst="rect">
            <a:avLst/>
          </a:prstGeom>
          <a:noFill/>
        </p:spPr>
        <p:txBody>
          <a:bodyPr wrap="square">
            <a:spAutoFit/>
          </a:bodyPr>
          <a:lstStyle/>
          <a:p>
            <a:pPr algn="l"/>
            <a:r>
              <a:rPr sz="3000" b="1">
                <a:solidFill>
                  <a:srgbClr val="1C4966"/>
                </a:solidFill>
                <a:latin typeface="Segoe UI"/>
              </a:rPr>
              <a:t>OPERATIONS &amp; PROFILER</a:t>
            </a:r>
          </a:p>
        </p:txBody>
      </p:sp>
      <p:sp>
        <p:nvSpPr>
          <p:cNvPr id="18" name="Rectangle 17"/>
          <p:cNvSpPr/>
          <p:nvPr/>
        </p:nvSpPr>
        <p:spPr>
          <a:xfrm>
            <a:off x="6181344" y="2606040"/>
            <a:ext cx="1463040" cy="54864"/>
          </a:xfrm>
          <a:prstGeom prst="rect">
            <a:avLst/>
          </a:prstGeom>
          <a:solidFill>
            <a:srgbClr val="1C4966"/>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9" name="TextBox 18"/>
          <p:cNvSpPr txBox="1"/>
          <p:nvPr/>
        </p:nvSpPr>
        <p:spPr>
          <a:xfrm>
            <a:off x="6144768" y="2834640"/>
            <a:ext cx="5623560" cy="3108960"/>
          </a:xfrm>
          <a:prstGeom prst="rect">
            <a:avLst/>
          </a:prstGeom>
          <a:noFill/>
        </p:spPr>
        <p:txBody>
          <a:bodyPr wrap="square">
            <a:spAutoFit/>
          </a:bodyPr>
          <a:lstStyle/>
          <a:p>
            <a:pPr algn="l"/>
            <a:r>
              <a:rPr sz="1300" b="0">
                <a:solidFill>
                  <a:srgbClr val="2C3B47"/>
                </a:solidFill>
                <a:latin typeface="Segoe UI"/>
              </a:rPr>
              <a:t>This view shows how busy MongoDB is and where time goes. Operation counters track inserts, queries, updates, deletes and commands so you can see the workload's shape, while the list of current operations shows exactly what is running right now. The database profiler records slow operations with their details, so you can find the specific commands that are taking too long. Together they make it easy to tell whether the server is comfortable or under strain.</a:t>
            </a:r>
          </a:p>
        </p:txBody>
      </p:sp>
      <p:sp>
        <p:nvSpPr>
          <p:cNvPr id="20" name="TextBox 19"/>
          <p:cNvSpPr txBox="1"/>
          <p:nvPr/>
        </p:nvSpPr>
        <p:spPr>
          <a:xfrm>
            <a:off x="502920" y="6473952"/>
            <a:ext cx="8229600" cy="274320"/>
          </a:xfrm>
          <a:prstGeom prst="rect">
            <a:avLst/>
          </a:prstGeom>
          <a:noFill/>
        </p:spPr>
        <p:txBody>
          <a:bodyPr wrap="square">
            <a:spAutoFit/>
          </a:bodyPr>
          <a:lstStyle/>
          <a:p>
            <a:pPr algn="l"/>
            <a:r>
              <a:rPr sz="900" b="0">
                <a:solidFill>
                  <a:srgbClr val="5E6B76"/>
                </a:solidFill>
                <a:latin typeface="Segoe UI"/>
              </a:rPr>
              <a:t>Actmon  ·  MongoDB Monitoring</a:t>
            </a:r>
          </a:p>
        </p:txBody>
      </p:sp>
      <p:sp>
        <p:nvSpPr>
          <p:cNvPr id="21" name="TextBox 20"/>
          <p:cNvSpPr txBox="1"/>
          <p:nvPr/>
        </p:nvSpPr>
        <p:spPr>
          <a:xfrm>
            <a:off x="11155680" y="6473952"/>
            <a:ext cx="822960" cy="274320"/>
          </a:xfrm>
          <a:prstGeom prst="rect">
            <a:avLst/>
          </a:prstGeom>
          <a:noFill/>
        </p:spPr>
        <p:txBody>
          <a:bodyPr wrap="square">
            <a:spAutoFit/>
          </a:bodyPr>
          <a:lstStyle/>
          <a:p>
            <a:pPr algn="r"/>
            <a:r>
              <a:rPr sz="900" b="0">
                <a:solidFill>
                  <a:srgbClr val="5E6B76"/>
                </a:solidFill>
                <a:latin typeface="Segoe UI"/>
              </a:rPr>
              <a:t>7</a:t>
            </a:r>
          </a:p>
        </p:txBody>
      </p:sp>
    </p:spTree>
  </p:cSld>
  <p:clrMapOvr>
    <a:masterClrMapping/>
  </p:clrMapOvr>
</p:sld>
</file>

<file path=ppt/slides/slide8.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F4F1EA"/>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Oval 2"/>
          <p:cNvSpPr/>
          <p:nvPr/>
        </p:nvSpPr>
        <p:spPr>
          <a:xfrm>
            <a:off x="9448495" y="-1554480"/>
            <a:ext cx="4206240" cy="4206240"/>
          </a:xfrm>
          <a:prstGeom prst="ellipse">
            <a:avLst/>
          </a:prstGeom>
          <a:solidFill>
            <a:srgbClr val="DCEEEE"/>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Oval 3"/>
          <p:cNvSpPr/>
          <p:nvPr/>
        </p:nvSpPr>
        <p:spPr>
          <a:xfrm>
            <a:off x="-1645920" y="4297680"/>
            <a:ext cx="4023360" cy="4023360"/>
          </a:xfrm>
          <a:prstGeom prst="ellipse">
            <a:avLst/>
          </a:prstGeom>
          <a:solidFill>
            <a:srgbClr val="DCEEEE"/>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 name="Rounded Rectangle 4"/>
          <p:cNvSpPr/>
          <p:nvPr/>
        </p:nvSpPr>
        <p:spPr>
          <a:xfrm>
            <a:off x="548640" y="1051560"/>
            <a:ext cx="4983480" cy="4846320"/>
          </a:xfrm>
          <a:prstGeom prst="roundRect">
            <a:avLst/>
          </a:prstGeom>
          <a:solidFill>
            <a:srgbClr val="B9D4E0"/>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310896" rIns="274320"/>
          <a:lstStyle/>
          <a:p>
            <a:pPr algn="l"/>
            <a:r>
              <a:rPr sz="2700" b="1">
                <a:solidFill>
                  <a:srgbClr val="1C4966"/>
                </a:solidFill>
                <a:latin typeface="Segoe UI"/>
              </a:rPr>
              <a:t>HOST RESOURCES</a:t>
            </a:r>
          </a:p>
          <a:p>
            <a:pPr algn="l">
              <a:spcBef>
                <a:spcPts val="1000"/>
              </a:spcBef>
            </a:pPr>
            <a:r>
              <a:rPr sz="1250" b="0">
                <a:solidFill>
                  <a:srgbClr val="1C4966"/>
                </a:solidFill>
                <a:latin typeface="Segoe UI"/>
              </a:rPr>
              <a:t>Actmon watches the machine MongoDB runs on, not just the database — so you can tell a real database problem apart from an overloaded server.</a:t>
            </a:r>
          </a:p>
        </p:txBody>
      </p:sp>
      <p:sp>
        <p:nvSpPr>
          <p:cNvPr id="6" name="Rectangle 5"/>
          <p:cNvSpPr/>
          <p:nvPr/>
        </p:nvSpPr>
        <p:spPr>
          <a:xfrm>
            <a:off x="6355080" y="1234440"/>
            <a:ext cx="27432" cy="4663440"/>
          </a:xfrm>
          <a:prstGeom prst="rect">
            <a:avLst/>
          </a:prstGeom>
          <a:solidFill>
            <a:srgbClr val="1C4966"/>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Oval 6"/>
          <p:cNvSpPr/>
          <p:nvPr/>
        </p:nvSpPr>
        <p:spPr>
          <a:xfrm>
            <a:off x="6291072" y="1344168"/>
            <a:ext cx="155448" cy="155448"/>
          </a:xfrm>
          <a:prstGeom prst="ellipse">
            <a:avLst/>
          </a:prstGeom>
          <a:solidFill>
            <a:srgbClr val="1C4966"/>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 name="TextBox 7"/>
          <p:cNvSpPr txBox="1"/>
          <p:nvPr/>
        </p:nvSpPr>
        <p:spPr>
          <a:xfrm>
            <a:off x="6647688" y="1252728"/>
            <a:ext cx="5349240" cy="411480"/>
          </a:xfrm>
          <a:prstGeom prst="rect">
            <a:avLst/>
          </a:prstGeom>
          <a:noFill/>
        </p:spPr>
        <p:txBody>
          <a:bodyPr wrap="square">
            <a:spAutoFit/>
          </a:bodyPr>
          <a:lstStyle/>
          <a:p>
            <a:pPr algn="l"/>
            <a:r>
              <a:rPr sz="1700" b="1">
                <a:solidFill>
                  <a:srgbClr val="1C4966"/>
                </a:solidFill>
                <a:latin typeface="Segoe UI"/>
              </a:rPr>
              <a:t>01  </a:t>
            </a:r>
            <a:r>
              <a:rPr sz="1400" b="1">
                <a:solidFill>
                  <a:srgbClr val="1C4966"/>
                </a:solidFill>
                <a:latin typeface="Segoe UI"/>
              </a:rPr>
              <a:t>CPU, memory and disk</a:t>
            </a:r>
          </a:p>
        </p:txBody>
      </p:sp>
      <p:sp>
        <p:nvSpPr>
          <p:cNvPr id="9" name="TextBox 8"/>
          <p:cNvSpPr txBox="1"/>
          <p:nvPr/>
        </p:nvSpPr>
        <p:spPr>
          <a:xfrm>
            <a:off x="6665976" y="1691640"/>
            <a:ext cx="5303520" cy="1097280"/>
          </a:xfrm>
          <a:prstGeom prst="rect">
            <a:avLst/>
          </a:prstGeom>
          <a:noFill/>
        </p:spPr>
        <p:txBody>
          <a:bodyPr wrap="square">
            <a:spAutoFit/>
          </a:bodyPr>
          <a:lstStyle/>
          <a:p>
            <a:pPr algn="l"/>
            <a:r>
              <a:rPr sz="1100" b="0">
                <a:solidFill>
                  <a:srgbClr val="2C3B47"/>
                </a:solidFill>
                <a:latin typeface="Segoe UI"/>
              </a:rPr>
              <a:t>On a Linux host this is read over SSH; a local server is read directly. You see CPU usage out of 100 with the core count, RAM used versus total, and how full the disk is.</a:t>
            </a:r>
          </a:p>
        </p:txBody>
      </p:sp>
      <p:sp>
        <p:nvSpPr>
          <p:cNvPr id="10" name="Oval 9"/>
          <p:cNvSpPr/>
          <p:nvPr/>
        </p:nvSpPr>
        <p:spPr>
          <a:xfrm>
            <a:off x="6291072" y="2898648"/>
            <a:ext cx="155448" cy="155448"/>
          </a:xfrm>
          <a:prstGeom prst="ellipse">
            <a:avLst/>
          </a:prstGeom>
          <a:solidFill>
            <a:srgbClr val="1C4966"/>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1" name="TextBox 10"/>
          <p:cNvSpPr txBox="1"/>
          <p:nvPr/>
        </p:nvSpPr>
        <p:spPr>
          <a:xfrm>
            <a:off x="6647688" y="2807208"/>
            <a:ext cx="5349240" cy="411480"/>
          </a:xfrm>
          <a:prstGeom prst="rect">
            <a:avLst/>
          </a:prstGeom>
          <a:noFill/>
        </p:spPr>
        <p:txBody>
          <a:bodyPr wrap="square">
            <a:spAutoFit/>
          </a:bodyPr>
          <a:lstStyle/>
          <a:p>
            <a:pPr algn="l"/>
            <a:r>
              <a:rPr sz="1700" b="1">
                <a:solidFill>
                  <a:srgbClr val="1C4966"/>
                </a:solidFill>
                <a:latin typeface="Segoe UI"/>
              </a:rPr>
              <a:t>02  </a:t>
            </a:r>
            <a:r>
              <a:rPr sz="1400" b="1">
                <a:solidFill>
                  <a:srgbClr val="1C4966"/>
                </a:solidFill>
                <a:latin typeface="Segoe UI"/>
              </a:rPr>
              <a:t>Top processes on demand</a:t>
            </a:r>
          </a:p>
        </p:txBody>
      </p:sp>
      <p:sp>
        <p:nvSpPr>
          <p:cNvPr id="12" name="TextBox 11"/>
          <p:cNvSpPr txBox="1"/>
          <p:nvPr/>
        </p:nvSpPr>
        <p:spPr>
          <a:xfrm>
            <a:off x="6665976" y="3246120"/>
            <a:ext cx="5303520" cy="1097280"/>
          </a:xfrm>
          <a:prstGeom prst="rect">
            <a:avLst/>
          </a:prstGeom>
          <a:noFill/>
        </p:spPr>
        <p:txBody>
          <a:bodyPr wrap="square">
            <a:spAutoFit/>
          </a:bodyPr>
          <a:lstStyle/>
          <a:p>
            <a:pPr algn="l"/>
            <a:r>
              <a:rPr sz="1100" b="0">
                <a:solidFill>
                  <a:srgbClr val="2C3B47"/>
                </a:solidFill>
                <a:latin typeface="Segoe UI"/>
              </a:rPr>
              <a:t>Click a CPU or memory gauge to list the processes using the most resources, with the database clearly marked, answering 'is it the database or something else?' instantly.</a:t>
            </a:r>
          </a:p>
        </p:txBody>
      </p:sp>
      <p:sp>
        <p:nvSpPr>
          <p:cNvPr id="13" name="Oval 12"/>
          <p:cNvSpPr/>
          <p:nvPr/>
        </p:nvSpPr>
        <p:spPr>
          <a:xfrm>
            <a:off x="6291072" y="4453128"/>
            <a:ext cx="155448" cy="155448"/>
          </a:xfrm>
          <a:prstGeom prst="ellipse">
            <a:avLst/>
          </a:prstGeom>
          <a:solidFill>
            <a:srgbClr val="1C4966"/>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4" name="TextBox 13"/>
          <p:cNvSpPr txBox="1"/>
          <p:nvPr/>
        </p:nvSpPr>
        <p:spPr>
          <a:xfrm>
            <a:off x="6647688" y="4361688"/>
            <a:ext cx="5349240" cy="411480"/>
          </a:xfrm>
          <a:prstGeom prst="rect">
            <a:avLst/>
          </a:prstGeom>
          <a:noFill/>
        </p:spPr>
        <p:txBody>
          <a:bodyPr wrap="square">
            <a:spAutoFit/>
          </a:bodyPr>
          <a:lstStyle/>
          <a:p>
            <a:pPr algn="l"/>
            <a:r>
              <a:rPr sz="1700" b="1">
                <a:solidFill>
                  <a:srgbClr val="1C4966"/>
                </a:solidFill>
                <a:latin typeface="Segoe UI"/>
              </a:rPr>
              <a:t>03  </a:t>
            </a:r>
            <a:r>
              <a:rPr sz="1400" b="1">
                <a:solidFill>
                  <a:srgbClr val="1C4966"/>
                </a:solidFill>
                <a:latin typeface="Segoe UI"/>
              </a:rPr>
              <a:t>History for spikes</a:t>
            </a:r>
          </a:p>
        </p:txBody>
      </p:sp>
      <p:sp>
        <p:nvSpPr>
          <p:cNvPr id="15" name="TextBox 14"/>
          <p:cNvSpPr txBox="1"/>
          <p:nvPr/>
        </p:nvSpPr>
        <p:spPr>
          <a:xfrm>
            <a:off x="6665976" y="4800600"/>
            <a:ext cx="5303520" cy="1097280"/>
          </a:xfrm>
          <a:prstGeom prst="rect">
            <a:avLst/>
          </a:prstGeom>
          <a:noFill/>
        </p:spPr>
        <p:txBody>
          <a:bodyPr wrap="square">
            <a:spAutoFit/>
          </a:bodyPr>
          <a:lstStyle/>
          <a:p>
            <a:pPr algn="l"/>
            <a:r>
              <a:rPr sz="1100" b="0">
                <a:solidFill>
                  <a:srgbClr val="2C3B47"/>
                </a:solidFill>
                <a:latin typeface="Segoe UI"/>
              </a:rPr>
              <a:t>Past resource samples are kept, so when CPU or memory spikes you can look back at what was happening at that moment instead of relying on guesswork.</a:t>
            </a:r>
          </a:p>
        </p:txBody>
      </p:sp>
      <p:sp>
        <p:nvSpPr>
          <p:cNvPr id="16" name="TextBox 15"/>
          <p:cNvSpPr txBox="1"/>
          <p:nvPr/>
        </p:nvSpPr>
        <p:spPr>
          <a:xfrm>
            <a:off x="502920" y="6473952"/>
            <a:ext cx="8229600" cy="274320"/>
          </a:xfrm>
          <a:prstGeom prst="rect">
            <a:avLst/>
          </a:prstGeom>
          <a:noFill/>
        </p:spPr>
        <p:txBody>
          <a:bodyPr wrap="square">
            <a:spAutoFit/>
          </a:bodyPr>
          <a:lstStyle/>
          <a:p>
            <a:pPr algn="l"/>
            <a:r>
              <a:rPr sz="900" b="0">
                <a:solidFill>
                  <a:srgbClr val="5E6B76"/>
                </a:solidFill>
                <a:latin typeface="Segoe UI"/>
              </a:rPr>
              <a:t>Actmon  ·  MongoDB Monitoring</a:t>
            </a:r>
          </a:p>
        </p:txBody>
      </p:sp>
      <p:sp>
        <p:nvSpPr>
          <p:cNvPr id="17" name="TextBox 16"/>
          <p:cNvSpPr txBox="1"/>
          <p:nvPr/>
        </p:nvSpPr>
        <p:spPr>
          <a:xfrm>
            <a:off x="11155680" y="6473952"/>
            <a:ext cx="822960" cy="274320"/>
          </a:xfrm>
          <a:prstGeom prst="rect">
            <a:avLst/>
          </a:prstGeom>
          <a:noFill/>
        </p:spPr>
        <p:txBody>
          <a:bodyPr wrap="square">
            <a:spAutoFit/>
          </a:bodyPr>
          <a:lstStyle/>
          <a:p>
            <a:pPr algn="r"/>
            <a:r>
              <a:rPr sz="900" b="0">
                <a:solidFill>
                  <a:srgbClr val="5E6B76"/>
                </a:solidFill>
                <a:latin typeface="Segoe UI"/>
              </a:rPr>
              <a:t>8</a:t>
            </a:r>
          </a:p>
        </p:txBody>
      </p:sp>
    </p:spTree>
  </p:cSld>
  <p:clrMapOvr>
    <a:masterClrMapping/>
  </p:clrMapOvr>
</p:sld>
</file>

<file path=ppt/slides/slide9.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F4F1EA"/>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Oval 2"/>
          <p:cNvSpPr/>
          <p:nvPr/>
        </p:nvSpPr>
        <p:spPr>
          <a:xfrm>
            <a:off x="9448495" y="-1554480"/>
            <a:ext cx="4206240" cy="4206240"/>
          </a:xfrm>
          <a:prstGeom prst="ellipse">
            <a:avLst/>
          </a:prstGeom>
          <a:solidFill>
            <a:srgbClr val="DCEEEE"/>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Oval 3"/>
          <p:cNvSpPr/>
          <p:nvPr/>
        </p:nvSpPr>
        <p:spPr>
          <a:xfrm>
            <a:off x="-1645920" y="4297680"/>
            <a:ext cx="4023360" cy="4023360"/>
          </a:xfrm>
          <a:prstGeom prst="ellipse">
            <a:avLst/>
          </a:prstGeom>
          <a:solidFill>
            <a:srgbClr val="DCEEEE"/>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 name="TextBox 4"/>
          <p:cNvSpPr txBox="1"/>
          <p:nvPr/>
        </p:nvSpPr>
        <p:spPr>
          <a:xfrm>
            <a:off x="548640" y="457200"/>
            <a:ext cx="10972800" cy="640080"/>
          </a:xfrm>
          <a:prstGeom prst="rect">
            <a:avLst/>
          </a:prstGeom>
          <a:noFill/>
        </p:spPr>
        <p:txBody>
          <a:bodyPr wrap="square">
            <a:spAutoFit/>
          </a:bodyPr>
          <a:lstStyle/>
          <a:p>
            <a:pPr algn="l"/>
            <a:r>
              <a:rPr sz="2900" b="1">
                <a:solidFill>
                  <a:srgbClr val="1C4966"/>
                </a:solidFill>
                <a:latin typeface="Segoe UI"/>
              </a:rPr>
              <a:t>COLLECTIONS &amp; INDEXES</a:t>
            </a:r>
          </a:p>
        </p:txBody>
      </p:sp>
      <p:sp>
        <p:nvSpPr>
          <p:cNvPr id="6" name="Rectangle 5"/>
          <p:cNvSpPr/>
          <p:nvPr/>
        </p:nvSpPr>
        <p:spPr>
          <a:xfrm>
            <a:off x="603504" y="1207008"/>
            <a:ext cx="1463040" cy="54864"/>
          </a:xfrm>
          <a:prstGeom prst="rect">
            <a:avLst/>
          </a:prstGeom>
          <a:solidFill>
            <a:srgbClr val="1C4966"/>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TextBox 6"/>
          <p:cNvSpPr txBox="1"/>
          <p:nvPr/>
        </p:nvSpPr>
        <p:spPr>
          <a:xfrm>
            <a:off x="566928" y="1371600"/>
            <a:ext cx="11064240" cy="457200"/>
          </a:xfrm>
          <a:prstGeom prst="rect">
            <a:avLst/>
          </a:prstGeom>
          <a:noFill/>
        </p:spPr>
        <p:txBody>
          <a:bodyPr wrap="square">
            <a:spAutoFit/>
          </a:bodyPr>
          <a:lstStyle/>
          <a:p>
            <a:pPr algn="l"/>
            <a:r>
              <a:rPr sz="1300" b="0">
                <a:solidFill>
                  <a:srgbClr val="2C3B47"/>
                </a:solidFill>
                <a:latin typeface="Segoe UI"/>
              </a:rPr>
              <a:t>Understand your data and keep it fast.</a:t>
            </a:r>
          </a:p>
        </p:txBody>
      </p:sp>
      <p:sp>
        <p:nvSpPr>
          <p:cNvPr id="8" name="Rounded Rectangle 7"/>
          <p:cNvSpPr/>
          <p:nvPr/>
        </p:nvSpPr>
        <p:spPr>
          <a:xfrm>
            <a:off x="548640" y="1965960"/>
            <a:ext cx="5417820" cy="1965960"/>
          </a:xfrm>
          <a:prstGeom prst="roundRect">
            <a:avLst/>
          </a:prstGeom>
          <a:solidFill>
            <a:srgbClr val="6E98AF"/>
          </a:solidFill>
          <a:ln>
            <a:noFill/>
          </a:ln>
          <a:effectLst/>
        </p:spPr>
        <p:style>
          <a:lnRef idx="1">
            <a:schemeClr val="accent1"/>
          </a:lnRef>
          <a:fillRef idx="3">
            <a:schemeClr val="accent1"/>
          </a:fillRef>
          <a:effectRef idx="2">
            <a:schemeClr val="accent1"/>
          </a:effectRef>
          <a:fontRef idx="minor">
            <a:schemeClr val="lt1"/>
          </a:fontRef>
        </p:style>
        <p:txBody>
          <a:bodyPr rtlCol="0" anchor="t" wrap="square" lIns="256032" rIns="237744" tIns="146304"/>
          <a:lstStyle/>
          <a:p>
            <a:pPr algn="l"/>
            <a:r>
              <a:rPr sz="1800" b="1">
                <a:solidFill>
                  <a:srgbClr val="D7E6EF"/>
                </a:solidFill>
                <a:latin typeface="Segoe UI"/>
              </a:rPr>
              <a:t>01   </a:t>
            </a:r>
            <a:r>
              <a:rPr sz="1400" b="1">
                <a:solidFill>
                  <a:srgbClr val="FFFFFF"/>
                </a:solidFill>
                <a:latin typeface="Segoe UI"/>
              </a:rPr>
              <a:t>Collections</a:t>
            </a:r>
          </a:p>
          <a:p>
            <a:pPr algn="l">
              <a:spcBef>
                <a:spcPts val="400"/>
              </a:spcBef>
            </a:pPr>
            <a:r>
              <a:rPr sz="1100" b="0">
                <a:solidFill>
                  <a:srgbClr val="FFFFFF"/>
                </a:solidFill>
                <a:latin typeface="Segoe UI"/>
              </a:rPr>
              <a:t>Every collection is listed with its size, document count and storage stats, so the biggest and busiest collections are easy to find.</a:t>
            </a:r>
          </a:p>
        </p:txBody>
      </p:sp>
      <p:sp>
        <p:nvSpPr>
          <p:cNvPr id="9" name="Rounded Rectangle 8"/>
          <p:cNvSpPr/>
          <p:nvPr/>
        </p:nvSpPr>
        <p:spPr>
          <a:xfrm>
            <a:off x="6240780" y="1965960"/>
            <a:ext cx="5417820" cy="1965960"/>
          </a:xfrm>
          <a:prstGeom prst="roundRect">
            <a:avLst/>
          </a:prstGeom>
          <a:solidFill>
            <a:srgbClr val="4F809C"/>
          </a:solidFill>
          <a:ln>
            <a:noFill/>
          </a:ln>
          <a:effectLst/>
        </p:spPr>
        <p:style>
          <a:lnRef idx="1">
            <a:schemeClr val="accent1"/>
          </a:lnRef>
          <a:fillRef idx="3">
            <a:schemeClr val="accent1"/>
          </a:fillRef>
          <a:effectRef idx="2">
            <a:schemeClr val="accent1"/>
          </a:effectRef>
          <a:fontRef idx="minor">
            <a:schemeClr val="lt1"/>
          </a:fontRef>
        </p:style>
        <p:txBody>
          <a:bodyPr rtlCol="0" anchor="t" wrap="square" lIns="256032" rIns="237744" tIns="146304"/>
          <a:lstStyle/>
          <a:p>
            <a:pPr algn="l"/>
            <a:r>
              <a:rPr sz="1800" b="1">
                <a:solidFill>
                  <a:srgbClr val="D7E6EF"/>
                </a:solidFill>
                <a:latin typeface="Segoe UI"/>
              </a:rPr>
              <a:t>02   </a:t>
            </a:r>
            <a:r>
              <a:rPr sz="1400" b="1">
                <a:solidFill>
                  <a:srgbClr val="FFFFFF"/>
                </a:solidFill>
                <a:latin typeface="Segoe UI"/>
              </a:rPr>
              <a:t>Indexes</a:t>
            </a:r>
          </a:p>
          <a:p>
            <a:pPr algn="l">
              <a:spcBef>
                <a:spcPts val="400"/>
              </a:spcBef>
            </a:pPr>
            <a:r>
              <a:rPr sz="1100" b="0">
                <a:solidFill>
                  <a:srgbClr val="FFFFFF"/>
                </a:solidFill>
                <a:latin typeface="Segoe UI"/>
              </a:rPr>
              <a:t>The indexes on each collection are shown with usage information, so unused or missing indexes can be spotted.</a:t>
            </a:r>
          </a:p>
        </p:txBody>
      </p:sp>
      <p:sp>
        <p:nvSpPr>
          <p:cNvPr id="10" name="Rounded Rectangle 9"/>
          <p:cNvSpPr/>
          <p:nvPr/>
        </p:nvSpPr>
        <p:spPr>
          <a:xfrm>
            <a:off x="548640" y="4206240"/>
            <a:ext cx="5417820" cy="1965960"/>
          </a:xfrm>
          <a:prstGeom prst="roundRect">
            <a:avLst/>
          </a:prstGeom>
          <a:solidFill>
            <a:srgbClr val="3A6A88"/>
          </a:solidFill>
          <a:ln>
            <a:noFill/>
          </a:ln>
          <a:effectLst/>
        </p:spPr>
        <p:style>
          <a:lnRef idx="1">
            <a:schemeClr val="accent1"/>
          </a:lnRef>
          <a:fillRef idx="3">
            <a:schemeClr val="accent1"/>
          </a:fillRef>
          <a:effectRef idx="2">
            <a:schemeClr val="accent1"/>
          </a:effectRef>
          <a:fontRef idx="minor">
            <a:schemeClr val="lt1"/>
          </a:fontRef>
        </p:style>
        <p:txBody>
          <a:bodyPr rtlCol="0" anchor="t" wrap="square" lIns="256032" rIns="237744" tIns="146304"/>
          <a:lstStyle/>
          <a:p>
            <a:pPr algn="l"/>
            <a:r>
              <a:rPr sz="1800" b="1">
                <a:solidFill>
                  <a:srgbClr val="D7E6EF"/>
                </a:solidFill>
                <a:latin typeface="Segoe UI"/>
              </a:rPr>
              <a:t>03   </a:t>
            </a:r>
            <a:r>
              <a:rPr sz="1400" b="1">
                <a:solidFill>
                  <a:srgbClr val="FFFFFF"/>
                </a:solidFill>
                <a:latin typeface="Segoe UI"/>
              </a:rPr>
              <a:t>Collection analysis</a:t>
            </a:r>
          </a:p>
          <a:p>
            <a:pPr algn="l">
              <a:spcBef>
                <a:spcPts val="400"/>
              </a:spcBef>
            </a:pPr>
            <a:r>
              <a:rPr sz="1100" b="0">
                <a:solidFill>
                  <a:srgbClr val="FFFFFF"/>
                </a:solidFill>
                <a:latin typeface="Segoe UI"/>
              </a:rPr>
              <a:t>A per-collection deep analysis gives a closer look at a single collection's structure and usage when you need to investigate.</a:t>
            </a:r>
          </a:p>
        </p:txBody>
      </p:sp>
      <p:sp>
        <p:nvSpPr>
          <p:cNvPr id="11" name="Rounded Rectangle 10"/>
          <p:cNvSpPr/>
          <p:nvPr/>
        </p:nvSpPr>
        <p:spPr>
          <a:xfrm>
            <a:off x="6240780" y="4206240"/>
            <a:ext cx="5417820" cy="1965960"/>
          </a:xfrm>
          <a:prstGeom prst="roundRect">
            <a:avLst/>
          </a:prstGeom>
          <a:solidFill>
            <a:srgbClr val="2A5573"/>
          </a:solidFill>
          <a:ln>
            <a:noFill/>
          </a:ln>
          <a:effectLst/>
        </p:spPr>
        <p:style>
          <a:lnRef idx="1">
            <a:schemeClr val="accent1"/>
          </a:lnRef>
          <a:fillRef idx="3">
            <a:schemeClr val="accent1"/>
          </a:fillRef>
          <a:effectRef idx="2">
            <a:schemeClr val="accent1"/>
          </a:effectRef>
          <a:fontRef idx="minor">
            <a:schemeClr val="lt1"/>
          </a:fontRef>
        </p:style>
        <p:txBody>
          <a:bodyPr rtlCol="0" anchor="t" wrap="square" lIns="256032" rIns="237744" tIns="146304"/>
          <a:lstStyle/>
          <a:p>
            <a:pPr algn="l"/>
            <a:r>
              <a:rPr sz="1800" b="1">
                <a:solidFill>
                  <a:srgbClr val="D7E6EF"/>
                </a:solidFill>
                <a:latin typeface="Segoe UI"/>
              </a:rPr>
              <a:t>04   </a:t>
            </a:r>
            <a:r>
              <a:rPr sz="1400" b="1">
                <a:solidFill>
                  <a:srgbClr val="FFFFFF"/>
                </a:solidFill>
                <a:latin typeface="Segoe UI"/>
              </a:rPr>
              <a:t>Slow operations</a:t>
            </a:r>
          </a:p>
          <a:p>
            <a:pPr algn="l">
              <a:spcBef>
                <a:spcPts val="400"/>
              </a:spcBef>
            </a:pPr>
            <a:r>
              <a:rPr sz="1100" b="0">
                <a:solidFill>
                  <a:srgbClr val="FFFFFF"/>
                </a:solidFill>
                <a:latin typeface="Segoe UI"/>
              </a:rPr>
              <a:t>The slowest operations are listed so you can see which commands are dragging down performance and need attention.</a:t>
            </a:r>
          </a:p>
        </p:txBody>
      </p:sp>
      <p:sp>
        <p:nvSpPr>
          <p:cNvPr id="12" name="TextBox 11"/>
          <p:cNvSpPr txBox="1"/>
          <p:nvPr/>
        </p:nvSpPr>
        <p:spPr>
          <a:xfrm>
            <a:off x="502920" y="6473952"/>
            <a:ext cx="8229600" cy="274320"/>
          </a:xfrm>
          <a:prstGeom prst="rect">
            <a:avLst/>
          </a:prstGeom>
          <a:noFill/>
        </p:spPr>
        <p:txBody>
          <a:bodyPr wrap="square">
            <a:spAutoFit/>
          </a:bodyPr>
          <a:lstStyle/>
          <a:p>
            <a:pPr algn="l"/>
            <a:r>
              <a:rPr sz="900" b="0">
                <a:solidFill>
                  <a:srgbClr val="5E6B76"/>
                </a:solidFill>
                <a:latin typeface="Segoe UI"/>
              </a:rPr>
              <a:t>Actmon  ·  MongoDB Monitoring</a:t>
            </a:r>
          </a:p>
        </p:txBody>
      </p:sp>
      <p:sp>
        <p:nvSpPr>
          <p:cNvPr id="13" name="TextBox 12"/>
          <p:cNvSpPr txBox="1"/>
          <p:nvPr/>
        </p:nvSpPr>
        <p:spPr>
          <a:xfrm>
            <a:off x="11155680" y="6473952"/>
            <a:ext cx="822960" cy="274320"/>
          </a:xfrm>
          <a:prstGeom prst="rect">
            <a:avLst/>
          </a:prstGeom>
          <a:noFill/>
        </p:spPr>
        <p:txBody>
          <a:bodyPr wrap="square">
            <a:spAutoFit/>
          </a:bodyPr>
          <a:lstStyle/>
          <a:p>
            <a:pPr algn="r"/>
            <a:r>
              <a:rPr sz="900" b="0">
                <a:solidFill>
                  <a:srgbClr val="5E6B76"/>
                </a:solidFill>
                <a:latin typeface="Segoe UI"/>
              </a:rPr>
              <a:t>9</a:t>
            </a:r>
          </a:p>
        </p:txBody>
      </p:sp>
    </p:spTree>
  </p:cSld>
  <p:clrMapOvr>
    <a:masterClrMapping/>
  </p:clrMapOvr>
</p:sld>
</file>

<file path=ppt/slides/slide10.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F4F1EA"/>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Oval 2"/>
          <p:cNvSpPr/>
          <p:nvPr/>
        </p:nvSpPr>
        <p:spPr>
          <a:xfrm>
            <a:off x="9448495" y="-1554480"/>
            <a:ext cx="4206240" cy="4206240"/>
          </a:xfrm>
          <a:prstGeom prst="ellipse">
            <a:avLst/>
          </a:prstGeom>
          <a:solidFill>
            <a:srgbClr val="DCEEEE"/>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Oval 3"/>
          <p:cNvSpPr/>
          <p:nvPr/>
        </p:nvSpPr>
        <p:spPr>
          <a:xfrm>
            <a:off x="-1645920" y="4297680"/>
            <a:ext cx="4023360" cy="4023360"/>
          </a:xfrm>
          <a:prstGeom prst="ellipse">
            <a:avLst/>
          </a:prstGeom>
          <a:solidFill>
            <a:srgbClr val="DCEEEE"/>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 name="Rounded Rectangle 4"/>
          <p:cNvSpPr/>
          <p:nvPr/>
        </p:nvSpPr>
        <p:spPr>
          <a:xfrm>
            <a:off x="548640" y="1051560"/>
            <a:ext cx="4983480" cy="4846320"/>
          </a:xfrm>
          <a:prstGeom prst="roundRect">
            <a:avLst/>
          </a:prstGeom>
          <a:solidFill>
            <a:srgbClr val="B9D4E0"/>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310896" rIns="274320"/>
          <a:lstStyle/>
          <a:p>
            <a:pPr algn="l"/>
            <a:r>
              <a:rPr sz="2700" b="1">
                <a:solidFill>
                  <a:srgbClr val="1C4966"/>
                </a:solidFill>
                <a:latin typeface="Segoe UI"/>
              </a:rPr>
              <a:t>REPLICATION, OPLOG &amp; SHARDING</a:t>
            </a:r>
          </a:p>
          <a:p>
            <a:pPr algn="l">
              <a:spcBef>
                <a:spcPts val="1000"/>
              </a:spcBef>
            </a:pPr>
            <a:r>
              <a:rPr sz="1250" b="0">
                <a:solidFill>
                  <a:srgbClr val="1C4966"/>
                </a:solidFill>
                <a:latin typeface="Segoe UI"/>
              </a:rPr>
              <a:t>For replicated or sharded deployments, Actmon shows the operational picture so you know the cluster is healthy.</a:t>
            </a:r>
          </a:p>
        </p:txBody>
      </p:sp>
      <p:sp>
        <p:nvSpPr>
          <p:cNvPr id="6" name="Rectangle 5"/>
          <p:cNvSpPr/>
          <p:nvPr/>
        </p:nvSpPr>
        <p:spPr>
          <a:xfrm>
            <a:off x="6355080" y="1234440"/>
            <a:ext cx="27432" cy="4663440"/>
          </a:xfrm>
          <a:prstGeom prst="rect">
            <a:avLst/>
          </a:prstGeom>
          <a:solidFill>
            <a:srgbClr val="1C4966"/>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Oval 6"/>
          <p:cNvSpPr/>
          <p:nvPr/>
        </p:nvSpPr>
        <p:spPr>
          <a:xfrm>
            <a:off x="6291072" y="1344168"/>
            <a:ext cx="155448" cy="155448"/>
          </a:xfrm>
          <a:prstGeom prst="ellipse">
            <a:avLst/>
          </a:prstGeom>
          <a:solidFill>
            <a:srgbClr val="1C4966"/>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 name="TextBox 7"/>
          <p:cNvSpPr txBox="1"/>
          <p:nvPr/>
        </p:nvSpPr>
        <p:spPr>
          <a:xfrm>
            <a:off x="6647688" y="1252728"/>
            <a:ext cx="5349240" cy="411480"/>
          </a:xfrm>
          <a:prstGeom prst="rect">
            <a:avLst/>
          </a:prstGeom>
          <a:noFill/>
        </p:spPr>
        <p:txBody>
          <a:bodyPr wrap="square">
            <a:spAutoFit/>
          </a:bodyPr>
          <a:lstStyle/>
          <a:p>
            <a:pPr algn="l"/>
            <a:r>
              <a:rPr sz="1700" b="1">
                <a:solidFill>
                  <a:srgbClr val="1C4966"/>
                </a:solidFill>
                <a:latin typeface="Segoe UI"/>
              </a:rPr>
              <a:t>01  </a:t>
            </a:r>
            <a:r>
              <a:rPr sz="1400" b="1">
                <a:solidFill>
                  <a:srgbClr val="1C4966"/>
                </a:solidFill>
                <a:latin typeface="Segoe UI"/>
              </a:rPr>
              <a:t>Replica set</a:t>
            </a:r>
          </a:p>
        </p:txBody>
      </p:sp>
      <p:sp>
        <p:nvSpPr>
          <p:cNvPr id="9" name="TextBox 8"/>
          <p:cNvSpPr txBox="1"/>
          <p:nvPr/>
        </p:nvSpPr>
        <p:spPr>
          <a:xfrm>
            <a:off x="6665976" y="1691640"/>
            <a:ext cx="5303520" cy="1097280"/>
          </a:xfrm>
          <a:prstGeom prst="rect">
            <a:avLst/>
          </a:prstGeom>
          <a:noFill/>
        </p:spPr>
        <p:txBody>
          <a:bodyPr wrap="square">
            <a:spAutoFit/>
          </a:bodyPr>
          <a:lstStyle/>
          <a:p>
            <a:pPr algn="l"/>
            <a:r>
              <a:rPr sz="1100" b="0">
                <a:solidFill>
                  <a:srgbClr val="2C3B47"/>
                </a:solidFill>
                <a:latin typeface="Segoe UI"/>
              </a:rPr>
              <a:t>Shows the replica-set members and their roles and state, so you can confirm a healthy primary and secondaries.</a:t>
            </a:r>
          </a:p>
        </p:txBody>
      </p:sp>
      <p:sp>
        <p:nvSpPr>
          <p:cNvPr id="10" name="Oval 9"/>
          <p:cNvSpPr/>
          <p:nvPr/>
        </p:nvSpPr>
        <p:spPr>
          <a:xfrm>
            <a:off x="6291072" y="2898648"/>
            <a:ext cx="155448" cy="155448"/>
          </a:xfrm>
          <a:prstGeom prst="ellipse">
            <a:avLst/>
          </a:prstGeom>
          <a:solidFill>
            <a:srgbClr val="1C4966"/>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1" name="TextBox 10"/>
          <p:cNvSpPr txBox="1"/>
          <p:nvPr/>
        </p:nvSpPr>
        <p:spPr>
          <a:xfrm>
            <a:off x="6647688" y="2807208"/>
            <a:ext cx="5349240" cy="411480"/>
          </a:xfrm>
          <a:prstGeom prst="rect">
            <a:avLst/>
          </a:prstGeom>
          <a:noFill/>
        </p:spPr>
        <p:txBody>
          <a:bodyPr wrap="square">
            <a:spAutoFit/>
          </a:bodyPr>
          <a:lstStyle/>
          <a:p>
            <a:pPr algn="l"/>
            <a:r>
              <a:rPr sz="1700" b="1">
                <a:solidFill>
                  <a:srgbClr val="1C4966"/>
                </a:solidFill>
                <a:latin typeface="Segoe UI"/>
              </a:rPr>
              <a:t>02  </a:t>
            </a:r>
            <a:r>
              <a:rPr sz="1400" b="1">
                <a:solidFill>
                  <a:srgbClr val="1C4966"/>
                </a:solidFill>
                <a:latin typeface="Segoe UI"/>
              </a:rPr>
              <a:t>Oplog window</a:t>
            </a:r>
          </a:p>
        </p:txBody>
      </p:sp>
      <p:sp>
        <p:nvSpPr>
          <p:cNvPr id="12" name="TextBox 11"/>
          <p:cNvSpPr txBox="1"/>
          <p:nvPr/>
        </p:nvSpPr>
        <p:spPr>
          <a:xfrm>
            <a:off x="6665976" y="3246120"/>
            <a:ext cx="5303520" cy="1097280"/>
          </a:xfrm>
          <a:prstGeom prst="rect">
            <a:avLst/>
          </a:prstGeom>
          <a:noFill/>
        </p:spPr>
        <p:txBody>
          <a:bodyPr wrap="square">
            <a:spAutoFit/>
          </a:bodyPr>
          <a:lstStyle/>
          <a:p>
            <a:pPr algn="l"/>
            <a:r>
              <a:rPr sz="1100" b="0">
                <a:solidFill>
                  <a:srgbClr val="2C3B47"/>
                </a:solidFill>
                <a:latin typeface="Segoe UI"/>
              </a:rPr>
              <a:t>The oplog window tells you how much operation history is retained — a short window risks a secondary falling too far behind to recover.</a:t>
            </a:r>
          </a:p>
        </p:txBody>
      </p:sp>
      <p:sp>
        <p:nvSpPr>
          <p:cNvPr id="13" name="Oval 12"/>
          <p:cNvSpPr/>
          <p:nvPr/>
        </p:nvSpPr>
        <p:spPr>
          <a:xfrm>
            <a:off x="6291072" y="4453128"/>
            <a:ext cx="155448" cy="155448"/>
          </a:xfrm>
          <a:prstGeom prst="ellipse">
            <a:avLst/>
          </a:prstGeom>
          <a:solidFill>
            <a:srgbClr val="1C4966"/>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4" name="TextBox 13"/>
          <p:cNvSpPr txBox="1"/>
          <p:nvPr/>
        </p:nvSpPr>
        <p:spPr>
          <a:xfrm>
            <a:off x="6647688" y="4361688"/>
            <a:ext cx="5349240" cy="411480"/>
          </a:xfrm>
          <a:prstGeom prst="rect">
            <a:avLst/>
          </a:prstGeom>
          <a:noFill/>
        </p:spPr>
        <p:txBody>
          <a:bodyPr wrap="square">
            <a:spAutoFit/>
          </a:bodyPr>
          <a:lstStyle/>
          <a:p>
            <a:pPr algn="l"/>
            <a:r>
              <a:rPr sz="1700" b="1">
                <a:solidFill>
                  <a:srgbClr val="1C4966"/>
                </a:solidFill>
                <a:latin typeface="Segoe UI"/>
              </a:rPr>
              <a:t>03  </a:t>
            </a:r>
            <a:r>
              <a:rPr sz="1400" b="1">
                <a:solidFill>
                  <a:srgbClr val="1C4966"/>
                </a:solidFill>
                <a:latin typeface="Segoe UI"/>
              </a:rPr>
              <a:t>Sharding</a:t>
            </a:r>
          </a:p>
        </p:txBody>
      </p:sp>
      <p:sp>
        <p:nvSpPr>
          <p:cNvPr id="15" name="TextBox 14"/>
          <p:cNvSpPr txBox="1"/>
          <p:nvPr/>
        </p:nvSpPr>
        <p:spPr>
          <a:xfrm>
            <a:off x="6665976" y="4800600"/>
            <a:ext cx="5303520" cy="1097280"/>
          </a:xfrm>
          <a:prstGeom prst="rect">
            <a:avLst/>
          </a:prstGeom>
          <a:noFill/>
        </p:spPr>
        <p:txBody>
          <a:bodyPr wrap="square">
            <a:spAutoFit/>
          </a:bodyPr>
          <a:lstStyle/>
          <a:p>
            <a:pPr algn="l"/>
            <a:r>
              <a:rPr sz="1100" b="0">
                <a:solidFill>
                  <a:srgbClr val="2C3B47"/>
                </a:solidFill>
                <a:latin typeface="Segoe UI"/>
              </a:rPr>
              <a:t>For sharded clusters, shard distribution shows how data is spread, helping you spot an unbalanced cluster.</a:t>
            </a:r>
          </a:p>
        </p:txBody>
      </p:sp>
      <p:sp>
        <p:nvSpPr>
          <p:cNvPr id="16" name="TextBox 15"/>
          <p:cNvSpPr txBox="1"/>
          <p:nvPr/>
        </p:nvSpPr>
        <p:spPr>
          <a:xfrm>
            <a:off x="502920" y="6473952"/>
            <a:ext cx="8229600" cy="274320"/>
          </a:xfrm>
          <a:prstGeom prst="rect">
            <a:avLst/>
          </a:prstGeom>
          <a:noFill/>
        </p:spPr>
        <p:txBody>
          <a:bodyPr wrap="square">
            <a:spAutoFit/>
          </a:bodyPr>
          <a:lstStyle/>
          <a:p>
            <a:pPr algn="l"/>
            <a:r>
              <a:rPr sz="900" b="0">
                <a:solidFill>
                  <a:srgbClr val="5E6B76"/>
                </a:solidFill>
                <a:latin typeface="Segoe UI"/>
              </a:rPr>
              <a:t>Actmon  ·  MongoDB Monitoring</a:t>
            </a:r>
          </a:p>
        </p:txBody>
      </p:sp>
      <p:sp>
        <p:nvSpPr>
          <p:cNvPr id="17" name="TextBox 16"/>
          <p:cNvSpPr txBox="1"/>
          <p:nvPr/>
        </p:nvSpPr>
        <p:spPr>
          <a:xfrm>
            <a:off x="11155680" y="6473952"/>
            <a:ext cx="822960" cy="274320"/>
          </a:xfrm>
          <a:prstGeom prst="rect">
            <a:avLst/>
          </a:prstGeom>
          <a:noFill/>
        </p:spPr>
        <p:txBody>
          <a:bodyPr wrap="square">
            <a:spAutoFit/>
          </a:bodyPr>
          <a:lstStyle/>
          <a:p>
            <a:pPr algn="r"/>
            <a:r>
              <a:rPr sz="900" b="0">
                <a:solidFill>
                  <a:srgbClr val="5E6B76"/>
                </a:solidFill>
                <a:latin typeface="Segoe UI"/>
              </a:rPr>
              <a:t>10</a:t>
            </a:r>
          </a:p>
        </p:txBody>
      </p:sp>
    </p:spTree>
  </p:cSld>
  <p:clrMapOvr>
    <a:masterClrMapping/>
  </p:clrMapOvr>
</p:sld>
</file>

<file path=ppt/slides/slide11.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F4F1EA"/>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Oval 2"/>
          <p:cNvSpPr/>
          <p:nvPr/>
        </p:nvSpPr>
        <p:spPr>
          <a:xfrm>
            <a:off x="9448495" y="-1554480"/>
            <a:ext cx="4206240" cy="4206240"/>
          </a:xfrm>
          <a:prstGeom prst="ellipse">
            <a:avLst/>
          </a:prstGeom>
          <a:solidFill>
            <a:srgbClr val="DCEEEE"/>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Oval 3"/>
          <p:cNvSpPr/>
          <p:nvPr/>
        </p:nvSpPr>
        <p:spPr>
          <a:xfrm>
            <a:off x="-1645920" y="4297680"/>
            <a:ext cx="4023360" cy="4023360"/>
          </a:xfrm>
          <a:prstGeom prst="ellipse">
            <a:avLst/>
          </a:prstGeom>
          <a:solidFill>
            <a:srgbClr val="DCEEEE"/>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 name="TextBox 4"/>
          <p:cNvSpPr txBox="1"/>
          <p:nvPr/>
        </p:nvSpPr>
        <p:spPr>
          <a:xfrm>
            <a:off x="548640" y="457200"/>
            <a:ext cx="10972800" cy="640080"/>
          </a:xfrm>
          <a:prstGeom prst="rect">
            <a:avLst/>
          </a:prstGeom>
          <a:noFill/>
        </p:spPr>
        <p:txBody>
          <a:bodyPr wrap="square">
            <a:spAutoFit/>
          </a:bodyPr>
          <a:lstStyle/>
          <a:p>
            <a:pPr algn="l"/>
            <a:r>
              <a:rPr sz="2900" b="1">
                <a:solidFill>
                  <a:srgbClr val="1C4966"/>
                </a:solidFill>
                <a:latin typeface="Segoe UI"/>
              </a:rPr>
              <a:t>ENGINE &amp; TRANSACTIONS</a:t>
            </a:r>
          </a:p>
        </p:txBody>
      </p:sp>
      <p:sp>
        <p:nvSpPr>
          <p:cNvPr id="6" name="Rectangle 5"/>
          <p:cNvSpPr/>
          <p:nvPr/>
        </p:nvSpPr>
        <p:spPr>
          <a:xfrm>
            <a:off x="603504" y="1207008"/>
            <a:ext cx="1463040" cy="54864"/>
          </a:xfrm>
          <a:prstGeom prst="rect">
            <a:avLst/>
          </a:prstGeom>
          <a:solidFill>
            <a:srgbClr val="1C4966"/>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TextBox 6"/>
          <p:cNvSpPr txBox="1"/>
          <p:nvPr/>
        </p:nvSpPr>
        <p:spPr>
          <a:xfrm>
            <a:off x="566928" y="1371600"/>
            <a:ext cx="11064240" cy="457200"/>
          </a:xfrm>
          <a:prstGeom prst="rect">
            <a:avLst/>
          </a:prstGeom>
          <a:noFill/>
        </p:spPr>
        <p:txBody>
          <a:bodyPr wrap="square">
            <a:spAutoFit/>
          </a:bodyPr>
          <a:lstStyle/>
          <a:p>
            <a:pPr algn="l"/>
            <a:r>
              <a:rPr sz="1300" b="0">
                <a:solidFill>
                  <a:srgbClr val="2C3B47"/>
                </a:solidFill>
                <a:latin typeface="Segoe UI"/>
              </a:rPr>
              <a:t>Storage engine and multi-document work.</a:t>
            </a:r>
          </a:p>
        </p:txBody>
      </p:sp>
      <p:sp>
        <p:nvSpPr>
          <p:cNvPr id="8" name="Rounded Rectangle 7"/>
          <p:cNvSpPr/>
          <p:nvPr/>
        </p:nvSpPr>
        <p:spPr>
          <a:xfrm>
            <a:off x="548640" y="1965960"/>
            <a:ext cx="5417820" cy="1965960"/>
          </a:xfrm>
          <a:prstGeom prst="roundRect">
            <a:avLst/>
          </a:prstGeom>
          <a:solidFill>
            <a:srgbClr val="6E98AF"/>
          </a:solidFill>
          <a:ln>
            <a:noFill/>
          </a:ln>
          <a:effectLst/>
        </p:spPr>
        <p:style>
          <a:lnRef idx="1">
            <a:schemeClr val="accent1"/>
          </a:lnRef>
          <a:fillRef idx="3">
            <a:schemeClr val="accent1"/>
          </a:fillRef>
          <a:effectRef idx="2">
            <a:schemeClr val="accent1"/>
          </a:effectRef>
          <a:fontRef idx="minor">
            <a:schemeClr val="lt1"/>
          </a:fontRef>
        </p:style>
        <p:txBody>
          <a:bodyPr rtlCol="0" anchor="t" wrap="square" lIns="256032" rIns="237744" tIns="146304"/>
          <a:lstStyle/>
          <a:p>
            <a:pPr algn="l"/>
            <a:r>
              <a:rPr sz="1800" b="1">
                <a:solidFill>
                  <a:srgbClr val="D7E6EF"/>
                </a:solidFill>
                <a:latin typeface="Segoe UI"/>
              </a:rPr>
              <a:t>01   </a:t>
            </a:r>
            <a:r>
              <a:rPr sz="1400" b="1">
                <a:solidFill>
                  <a:srgbClr val="FFFFFF"/>
                </a:solidFill>
                <a:latin typeface="Segoe UI"/>
              </a:rPr>
              <a:t>WiredTiger cache</a:t>
            </a:r>
          </a:p>
          <a:p>
            <a:pPr algn="l">
              <a:spcBef>
                <a:spcPts val="400"/>
              </a:spcBef>
            </a:pPr>
            <a:r>
              <a:rPr sz="1100" b="0">
                <a:solidFill>
                  <a:srgbClr val="FFFFFF"/>
                </a:solidFill>
                <a:latin typeface="Segoe UI"/>
              </a:rPr>
              <a:t>WiredTiger is MongoDB's storage engine. Its cache usage and metrics directly affect how fast reads and writes are served from memory.</a:t>
            </a:r>
          </a:p>
        </p:txBody>
      </p:sp>
      <p:sp>
        <p:nvSpPr>
          <p:cNvPr id="9" name="Rounded Rectangle 8"/>
          <p:cNvSpPr/>
          <p:nvPr/>
        </p:nvSpPr>
        <p:spPr>
          <a:xfrm>
            <a:off x="6240780" y="1965960"/>
            <a:ext cx="5417820" cy="1965960"/>
          </a:xfrm>
          <a:prstGeom prst="roundRect">
            <a:avLst/>
          </a:prstGeom>
          <a:solidFill>
            <a:srgbClr val="4F809C"/>
          </a:solidFill>
          <a:ln>
            <a:noFill/>
          </a:ln>
          <a:effectLst/>
        </p:spPr>
        <p:style>
          <a:lnRef idx="1">
            <a:schemeClr val="accent1"/>
          </a:lnRef>
          <a:fillRef idx="3">
            <a:schemeClr val="accent1"/>
          </a:fillRef>
          <a:effectRef idx="2">
            <a:schemeClr val="accent1"/>
          </a:effectRef>
          <a:fontRef idx="minor">
            <a:schemeClr val="lt1"/>
          </a:fontRef>
        </p:style>
        <p:txBody>
          <a:bodyPr rtlCol="0" anchor="t" wrap="square" lIns="256032" rIns="237744" tIns="146304"/>
          <a:lstStyle/>
          <a:p>
            <a:pPr algn="l"/>
            <a:r>
              <a:rPr sz="1800" b="1">
                <a:solidFill>
                  <a:srgbClr val="D7E6EF"/>
                </a:solidFill>
                <a:latin typeface="Segoe UI"/>
              </a:rPr>
              <a:t>02   </a:t>
            </a:r>
            <a:r>
              <a:rPr sz="1400" b="1">
                <a:solidFill>
                  <a:srgbClr val="FFFFFF"/>
                </a:solidFill>
                <a:latin typeface="Segoe UI"/>
              </a:rPr>
              <a:t>Checkpoints &amp; I/O</a:t>
            </a:r>
          </a:p>
          <a:p>
            <a:pPr algn="l">
              <a:spcBef>
                <a:spcPts val="400"/>
              </a:spcBef>
            </a:pPr>
            <a:r>
              <a:rPr sz="1100" b="0">
                <a:solidFill>
                  <a:srgbClr val="FFFFFF"/>
                </a:solidFill>
                <a:latin typeface="Segoe UI"/>
              </a:rPr>
              <a:t>WiredTiger metrics also reveal how often data is written to disk, which helps explain periodic latency.</a:t>
            </a:r>
          </a:p>
        </p:txBody>
      </p:sp>
      <p:sp>
        <p:nvSpPr>
          <p:cNvPr id="10" name="Rounded Rectangle 9"/>
          <p:cNvSpPr/>
          <p:nvPr/>
        </p:nvSpPr>
        <p:spPr>
          <a:xfrm>
            <a:off x="548640" y="4206240"/>
            <a:ext cx="5417820" cy="1965960"/>
          </a:xfrm>
          <a:prstGeom prst="roundRect">
            <a:avLst/>
          </a:prstGeom>
          <a:solidFill>
            <a:srgbClr val="3A6A88"/>
          </a:solidFill>
          <a:ln>
            <a:noFill/>
          </a:ln>
          <a:effectLst/>
        </p:spPr>
        <p:style>
          <a:lnRef idx="1">
            <a:schemeClr val="accent1"/>
          </a:lnRef>
          <a:fillRef idx="3">
            <a:schemeClr val="accent1"/>
          </a:fillRef>
          <a:effectRef idx="2">
            <a:schemeClr val="accent1"/>
          </a:effectRef>
          <a:fontRef idx="minor">
            <a:schemeClr val="lt1"/>
          </a:fontRef>
        </p:style>
        <p:txBody>
          <a:bodyPr rtlCol="0" anchor="t" wrap="square" lIns="256032" rIns="237744" tIns="146304"/>
          <a:lstStyle/>
          <a:p>
            <a:pPr algn="l"/>
            <a:r>
              <a:rPr sz="1800" b="1">
                <a:solidFill>
                  <a:srgbClr val="D7E6EF"/>
                </a:solidFill>
                <a:latin typeface="Segoe UI"/>
              </a:rPr>
              <a:t>03   </a:t>
            </a:r>
            <a:r>
              <a:rPr sz="1400" b="1">
                <a:solidFill>
                  <a:srgbClr val="FFFFFF"/>
                </a:solidFill>
                <a:latin typeface="Segoe UI"/>
              </a:rPr>
              <a:t>Active transactions</a:t>
            </a:r>
          </a:p>
          <a:p>
            <a:pPr algn="l">
              <a:spcBef>
                <a:spcPts val="400"/>
              </a:spcBef>
            </a:pPr>
            <a:r>
              <a:rPr sz="1100" b="0">
                <a:solidFill>
                  <a:srgbClr val="FFFFFF"/>
                </a:solidFill>
                <a:latin typeface="Segoe UI"/>
              </a:rPr>
              <a:t>Multi-document transactions in progress are shown, so long-running or stuck transactions can be identified.</a:t>
            </a:r>
          </a:p>
        </p:txBody>
      </p:sp>
      <p:sp>
        <p:nvSpPr>
          <p:cNvPr id="11" name="Rounded Rectangle 10"/>
          <p:cNvSpPr/>
          <p:nvPr/>
        </p:nvSpPr>
        <p:spPr>
          <a:xfrm>
            <a:off x="6240780" y="4206240"/>
            <a:ext cx="5417820" cy="1965960"/>
          </a:xfrm>
          <a:prstGeom prst="roundRect">
            <a:avLst/>
          </a:prstGeom>
          <a:solidFill>
            <a:srgbClr val="2A5573"/>
          </a:solidFill>
          <a:ln>
            <a:noFill/>
          </a:ln>
          <a:effectLst/>
        </p:spPr>
        <p:style>
          <a:lnRef idx="1">
            <a:schemeClr val="accent1"/>
          </a:lnRef>
          <a:fillRef idx="3">
            <a:schemeClr val="accent1"/>
          </a:fillRef>
          <a:effectRef idx="2">
            <a:schemeClr val="accent1"/>
          </a:effectRef>
          <a:fontRef idx="minor">
            <a:schemeClr val="lt1"/>
          </a:fontRef>
        </p:style>
        <p:txBody>
          <a:bodyPr rtlCol="0" anchor="t" wrap="square" lIns="256032" rIns="237744" tIns="146304"/>
          <a:lstStyle/>
          <a:p>
            <a:pPr algn="l"/>
            <a:r>
              <a:rPr sz="1800" b="1">
                <a:solidFill>
                  <a:srgbClr val="D7E6EF"/>
                </a:solidFill>
                <a:latin typeface="Segoe UI"/>
              </a:rPr>
              <a:t>04   </a:t>
            </a:r>
            <a:r>
              <a:rPr sz="1400" b="1">
                <a:solidFill>
                  <a:srgbClr val="FFFFFF"/>
                </a:solidFill>
                <a:latin typeface="Segoe UI"/>
              </a:rPr>
              <a:t>Users</a:t>
            </a:r>
          </a:p>
          <a:p>
            <a:pPr algn="l">
              <a:spcBef>
                <a:spcPts val="400"/>
              </a:spcBef>
            </a:pPr>
            <a:r>
              <a:rPr sz="1100" b="0">
                <a:solidFill>
                  <a:srgbClr val="FFFFFF"/>
                </a:solidFill>
                <a:latin typeface="Segoe UI"/>
              </a:rPr>
              <a:t>Database users are listed so you can review who has access to the deployment.</a:t>
            </a:r>
          </a:p>
        </p:txBody>
      </p:sp>
      <p:sp>
        <p:nvSpPr>
          <p:cNvPr id="12" name="TextBox 11"/>
          <p:cNvSpPr txBox="1"/>
          <p:nvPr/>
        </p:nvSpPr>
        <p:spPr>
          <a:xfrm>
            <a:off x="502920" y="6473952"/>
            <a:ext cx="8229600" cy="274320"/>
          </a:xfrm>
          <a:prstGeom prst="rect">
            <a:avLst/>
          </a:prstGeom>
          <a:noFill/>
        </p:spPr>
        <p:txBody>
          <a:bodyPr wrap="square">
            <a:spAutoFit/>
          </a:bodyPr>
          <a:lstStyle/>
          <a:p>
            <a:pPr algn="l"/>
            <a:r>
              <a:rPr sz="900" b="0">
                <a:solidFill>
                  <a:srgbClr val="5E6B76"/>
                </a:solidFill>
                <a:latin typeface="Segoe UI"/>
              </a:rPr>
              <a:t>Actmon  ·  MongoDB Monitoring</a:t>
            </a:r>
          </a:p>
        </p:txBody>
      </p:sp>
      <p:sp>
        <p:nvSpPr>
          <p:cNvPr id="13" name="TextBox 12"/>
          <p:cNvSpPr txBox="1"/>
          <p:nvPr/>
        </p:nvSpPr>
        <p:spPr>
          <a:xfrm>
            <a:off x="11155680" y="6473952"/>
            <a:ext cx="822960" cy="274320"/>
          </a:xfrm>
          <a:prstGeom prst="rect">
            <a:avLst/>
          </a:prstGeom>
          <a:noFill/>
        </p:spPr>
        <p:txBody>
          <a:bodyPr wrap="square">
            <a:spAutoFit/>
          </a:bodyPr>
          <a:lstStyle/>
          <a:p>
            <a:pPr algn="r"/>
            <a:r>
              <a:rPr sz="900" b="0">
                <a:solidFill>
                  <a:srgbClr val="5E6B76"/>
                </a:solidFill>
                <a:latin typeface="Segoe UI"/>
              </a:rPr>
              <a:t>11</a:t>
            </a:r>
          </a:p>
        </p:txBody>
      </p:sp>
    </p:spTree>
  </p:cSld>
  <p:clrMapOvr>
    <a:masterClrMapping/>
  </p:clrMapOvr>
</p:sld>
</file>

<file path=ppt/slides/slide12.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F4F1EA"/>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Oval 2"/>
          <p:cNvSpPr/>
          <p:nvPr/>
        </p:nvSpPr>
        <p:spPr>
          <a:xfrm>
            <a:off x="9448495" y="-1554480"/>
            <a:ext cx="4206240" cy="4206240"/>
          </a:xfrm>
          <a:prstGeom prst="ellipse">
            <a:avLst/>
          </a:prstGeom>
          <a:solidFill>
            <a:srgbClr val="DCEEEE"/>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Oval 3"/>
          <p:cNvSpPr/>
          <p:nvPr/>
        </p:nvSpPr>
        <p:spPr>
          <a:xfrm>
            <a:off x="-1645920" y="4297680"/>
            <a:ext cx="4023360" cy="4023360"/>
          </a:xfrm>
          <a:prstGeom prst="ellipse">
            <a:avLst/>
          </a:prstGeom>
          <a:solidFill>
            <a:srgbClr val="DCEEEE"/>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 name="TextBox 4"/>
          <p:cNvSpPr txBox="1"/>
          <p:nvPr/>
        </p:nvSpPr>
        <p:spPr>
          <a:xfrm>
            <a:off x="548640" y="457200"/>
            <a:ext cx="10972800" cy="640080"/>
          </a:xfrm>
          <a:prstGeom prst="rect">
            <a:avLst/>
          </a:prstGeom>
          <a:noFill/>
        </p:spPr>
        <p:txBody>
          <a:bodyPr wrap="square">
            <a:spAutoFit/>
          </a:bodyPr>
          <a:lstStyle/>
          <a:p>
            <a:pPr algn="l"/>
            <a:r>
              <a:rPr sz="2900" b="1">
                <a:solidFill>
                  <a:srgbClr val="1C4966"/>
                </a:solidFill>
                <a:latin typeface="Segoe UI"/>
              </a:rPr>
              <a:t>HOW ISSUES ARE DETECTED</a:t>
            </a:r>
          </a:p>
        </p:txBody>
      </p:sp>
      <p:sp>
        <p:nvSpPr>
          <p:cNvPr id="6" name="Rectangle 5"/>
          <p:cNvSpPr/>
          <p:nvPr/>
        </p:nvSpPr>
        <p:spPr>
          <a:xfrm>
            <a:off x="603504" y="1207008"/>
            <a:ext cx="1463040" cy="54864"/>
          </a:xfrm>
          <a:prstGeom prst="rect">
            <a:avLst/>
          </a:prstGeom>
          <a:solidFill>
            <a:srgbClr val="1C4966"/>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TextBox 6"/>
          <p:cNvSpPr txBox="1"/>
          <p:nvPr/>
        </p:nvSpPr>
        <p:spPr>
          <a:xfrm>
            <a:off x="566928" y="1371600"/>
            <a:ext cx="11064240" cy="457200"/>
          </a:xfrm>
          <a:prstGeom prst="rect">
            <a:avLst/>
          </a:prstGeom>
          <a:noFill/>
        </p:spPr>
        <p:txBody>
          <a:bodyPr wrap="square">
            <a:spAutoFit/>
          </a:bodyPr>
          <a:lstStyle/>
          <a:p>
            <a:pPr algn="l"/>
            <a:r>
              <a:rPr sz="1300" b="0">
                <a:solidFill>
                  <a:srgbClr val="2C3B47"/>
                </a:solidFill>
                <a:latin typeface="Segoe UI"/>
              </a:rPr>
              <a:t>Actmon catches trouble with live signals and checks.</a:t>
            </a:r>
          </a:p>
        </p:txBody>
      </p:sp>
      <p:sp>
        <p:nvSpPr>
          <p:cNvPr id="8" name="Rounded Rectangle 7"/>
          <p:cNvSpPr/>
          <p:nvPr/>
        </p:nvSpPr>
        <p:spPr>
          <a:xfrm>
            <a:off x="548640" y="1965960"/>
            <a:ext cx="5417820" cy="1965960"/>
          </a:xfrm>
          <a:prstGeom prst="roundRect">
            <a:avLst/>
          </a:prstGeom>
          <a:solidFill>
            <a:srgbClr val="6E98AF"/>
          </a:solidFill>
          <a:ln>
            <a:noFill/>
          </a:ln>
          <a:effectLst/>
        </p:spPr>
        <p:style>
          <a:lnRef idx="1">
            <a:schemeClr val="accent1"/>
          </a:lnRef>
          <a:fillRef idx="3">
            <a:schemeClr val="accent1"/>
          </a:fillRef>
          <a:effectRef idx="2">
            <a:schemeClr val="accent1"/>
          </a:effectRef>
          <a:fontRef idx="minor">
            <a:schemeClr val="lt1"/>
          </a:fontRef>
        </p:style>
        <p:txBody>
          <a:bodyPr rtlCol="0" anchor="t" wrap="square" lIns="256032" rIns="237744" tIns="146304"/>
          <a:lstStyle/>
          <a:p>
            <a:pPr algn="l"/>
            <a:r>
              <a:rPr sz="1800" b="1">
                <a:solidFill>
                  <a:srgbClr val="D7E6EF"/>
                </a:solidFill>
                <a:latin typeface="Segoe UI"/>
              </a:rPr>
              <a:t>01   </a:t>
            </a:r>
            <a:r>
              <a:rPr sz="1400" b="1">
                <a:solidFill>
                  <a:srgbClr val="FFFFFF"/>
                </a:solidFill>
                <a:latin typeface="Segoe UI"/>
              </a:rPr>
              <a:t>Slow operations</a:t>
            </a:r>
          </a:p>
          <a:p>
            <a:pPr algn="l">
              <a:spcBef>
                <a:spcPts val="400"/>
              </a:spcBef>
            </a:pPr>
            <a:r>
              <a:rPr sz="1100" b="0">
                <a:solidFill>
                  <a:srgbClr val="FFFFFF"/>
                </a:solidFill>
                <a:latin typeface="Segoe UI"/>
              </a:rPr>
              <a:t>The profiler and slow-operation list surface commands that run too long, the most common cause of a slow application.</a:t>
            </a:r>
          </a:p>
        </p:txBody>
      </p:sp>
      <p:sp>
        <p:nvSpPr>
          <p:cNvPr id="9" name="Rounded Rectangle 8"/>
          <p:cNvSpPr/>
          <p:nvPr/>
        </p:nvSpPr>
        <p:spPr>
          <a:xfrm>
            <a:off x="6240780" y="1965960"/>
            <a:ext cx="5417820" cy="1965960"/>
          </a:xfrm>
          <a:prstGeom prst="roundRect">
            <a:avLst/>
          </a:prstGeom>
          <a:solidFill>
            <a:srgbClr val="4F809C"/>
          </a:solidFill>
          <a:ln>
            <a:noFill/>
          </a:ln>
          <a:effectLst/>
        </p:spPr>
        <p:style>
          <a:lnRef idx="1">
            <a:schemeClr val="accent1"/>
          </a:lnRef>
          <a:fillRef idx="3">
            <a:schemeClr val="accent1"/>
          </a:fillRef>
          <a:effectRef idx="2">
            <a:schemeClr val="accent1"/>
          </a:effectRef>
          <a:fontRef idx="minor">
            <a:schemeClr val="lt1"/>
          </a:fontRef>
        </p:style>
        <p:txBody>
          <a:bodyPr rtlCol="0" anchor="t" wrap="square" lIns="256032" rIns="237744" tIns="146304"/>
          <a:lstStyle/>
          <a:p>
            <a:pPr algn="l"/>
            <a:r>
              <a:rPr sz="1800" b="1">
                <a:solidFill>
                  <a:srgbClr val="D7E6EF"/>
                </a:solidFill>
                <a:latin typeface="Segoe UI"/>
              </a:rPr>
              <a:t>02   </a:t>
            </a:r>
            <a:r>
              <a:rPr sz="1400" b="1">
                <a:solidFill>
                  <a:srgbClr val="FFFFFF"/>
                </a:solidFill>
                <a:latin typeface="Segoe UI"/>
              </a:rPr>
              <a:t>Replication lag</a:t>
            </a:r>
          </a:p>
          <a:p>
            <a:pPr algn="l">
              <a:spcBef>
                <a:spcPts val="400"/>
              </a:spcBef>
            </a:pPr>
            <a:r>
              <a:rPr sz="1100" b="0">
                <a:solidFill>
                  <a:srgbClr val="FFFFFF"/>
                </a:solidFill>
                <a:latin typeface="Segoe UI"/>
              </a:rPr>
              <a:t>Replica-set state and the oplog window make it clear when a secondary is falling behind and may need attention.</a:t>
            </a:r>
          </a:p>
        </p:txBody>
      </p:sp>
      <p:sp>
        <p:nvSpPr>
          <p:cNvPr id="10" name="Rounded Rectangle 9"/>
          <p:cNvSpPr/>
          <p:nvPr/>
        </p:nvSpPr>
        <p:spPr>
          <a:xfrm>
            <a:off x="548640" y="4206240"/>
            <a:ext cx="5417820" cy="1965960"/>
          </a:xfrm>
          <a:prstGeom prst="roundRect">
            <a:avLst/>
          </a:prstGeom>
          <a:solidFill>
            <a:srgbClr val="3A6A88"/>
          </a:solidFill>
          <a:ln>
            <a:noFill/>
          </a:ln>
          <a:effectLst/>
        </p:spPr>
        <p:style>
          <a:lnRef idx="1">
            <a:schemeClr val="accent1"/>
          </a:lnRef>
          <a:fillRef idx="3">
            <a:schemeClr val="accent1"/>
          </a:fillRef>
          <a:effectRef idx="2">
            <a:schemeClr val="accent1"/>
          </a:effectRef>
          <a:fontRef idx="minor">
            <a:schemeClr val="lt1"/>
          </a:fontRef>
        </p:style>
        <p:txBody>
          <a:bodyPr rtlCol="0" anchor="t" wrap="square" lIns="256032" rIns="237744" tIns="146304"/>
          <a:lstStyle/>
          <a:p>
            <a:pPr algn="l"/>
            <a:r>
              <a:rPr sz="1800" b="1">
                <a:solidFill>
                  <a:srgbClr val="D7E6EF"/>
                </a:solidFill>
                <a:latin typeface="Segoe UI"/>
              </a:rPr>
              <a:t>03   </a:t>
            </a:r>
            <a:r>
              <a:rPr sz="1400" b="1">
                <a:solidFill>
                  <a:srgbClr val="FFFFFF"/>
                </a:solidFill>
                <a:latin typeface="Segoe UI"/>
              </a:rPr>
              <a:t>Connections &amp; health</a:t>
            </a:r>
          </a:p>
          <a:p>
            <a:pPr algn="l">
              <a:spcBef>
                <a:spcPts val="400"/>
              </a:spcBef>
            </a:pPr>
            <a:r>
              <a:rPr sz="1100" b="0">
                <a:solidFill>
                  <a:srgbClr val="FFFFFF"/>
                </a:solidFill>
                <a:latin typeface="Segoe UI"/>
              </a:rPr>
              <a:t>Connection counts and server health show when MongoDB is overloaded or not responding normally.</a:t>
            </a:r>
          </a:p>
        </p:txBody>
      </p:sp>
      <p:sp>
        <p:nvSpPr>
          <p:cNvPr id="11" name="Rounded Rectangle 10"/>
          <p:cNvSpPr/>
          <p:nvPr/>
        </p:nvSpPr>
        <p:spPr>
          <a:xfrm>
            <a:off x="6240780" y="4206240"/>
            <a:ext cx="5417820" cy="1965960"/>
          </a:xfrm>
          <a:prstGeom prst="roundRect">
            <a:avLst/>
          </a:prstGeom>
          <a:solidFill>
            <a:srgbClr val="2A5573"/>
          </a:solidFill>
          <a:ln>
            <a:noFill/>
          </a:ln>
          <a:effectLst/>
        </p:spPr>
        <p:style>
          <a:lnRef idx="1">
            <a:schemeClr val="accent1"/>
          </a:lnRef>
          <a:fillRef idx="3">
            <a:schemeClr val="accent1"/>
          </a:fillRef>
          <a:effectRef idx="2">
            <a:schemeClr val="accent1"/>
          </a:effectRef>
          <a:fontRef idx="minor">
            <a:schemeClr val="lt1"/>
          </a:fontRef>
        </p:style>
        <p:txBody>
          <a:bodyPr rtlCol="0" anchor="t" wrap="square" lIns="256032" rIns="237744" tIns="146304"/>
          <a:lstStyle/>
          <a:p>
            <a:pPr algn="l"/>
            <a:r>
              <a:rPr sz="1800" b="1">
                <a:solidFill>
                  <a:srgbClr val="D7E6EF"/>
                </a:solidFill>
                <a:latin typeface="Segoe UI"/>
              </a:rPr>
              <a:t>04   </a:t>
            </a:r>
            <a:r>
              <a:rPr sz="1400" b="1">
                <a:solidFill>
                  <a:srgbClr val="FFFFFF"/>
                </a:solidFill>
                <a:latin typeface="Segoe UI"/>
              </a:rPr>
              <a:t>Error logs</a:t>
            </a:r>
          </a:p>
          <a:p>
            <a:pPr algn="l">
              <a:spcBef>
                <a:spcPts val="400"/>
              </a:spcBef>
            </a:pPr>
            <a:r>
              <a:rPr sz="1100" b="0">
                <a:solidFill>
                  <a:srgbClr val="FFFFFF"/>
                </a:solidFill>
                <a:latin typeface="Segoe UI"/>
              </a:rPr>
              <a:t>Actmon reads MongoDB's error logs so problems recorded by the server itself are not missed.</a:t>
            </a:r>
          </a:p>
        </p:txBody>
      </p:sp>
      <p:sp>
        <p:nvSpPr>
          <p:cNvPr id="12" name="TextBox 11"/>
          <p:cNvSpPr txBox="1"/>
          <p:nvPr/>
        </p:nvSpPr>
        <p:spPr>
          <a:xfrm>
            <a:off x="502920" y="6473952"/>
            <a:ext cx="8229600" cy="274320"/>
          </a:xfrm>
          <a:prstGeom prst="rect">
            <a:avLst/>
          </a:prstGeom>
          <a:noFill/>
        </p:spPr>
        <p:txBody>
          <a:bodyPr wrap="square">
            <a:spAutoFit/>
          </a:bodyPr>
          <a:lstStyle/>
          <a:p>
            <a:pPr algn="l"/>
            <a:r>
              <a:rPr sz="900" b="0">
                <a:solidFill>
                  <a:srgbClr val="5E6B76"/>
                </a:solidFill>
                <a:latin typeface="Segoe UI"/>
              </a:rPr>
              <a:t>Actmon  ·  MongoDB Monitoring</a:t>
            </a:r>
          </a:p>
        </p:txBody>
      </p:sp>
      <p:sp>
        <p:nvSpPr>
          <p:cNvPr id="13" name="TextBox 12"/>
          <p:cNvSpPr txBox="1"/>
          <p:nvPr/>
        </p:nvSpPr>
        <p:spPr>
          <a:xfrm>
            <a:off x="11155680" y="6473952"/>
            <a:ext cx="822960" cy="274320"/>
          </a:xfrm>
          <a:prstGeom prst="rect">
            <a:avLst/>
          </a:prstGeom>
          <a:noFill/>
        </p:spPr>
        <p:txBody>
          <a:bodyPr wrap="square">
            <a:spAutoFit/>
          </a:bodyPr>
          <a:lstStyle/>
          <a:p>
            <a:pPr algn="r"/>
            <a:r>
              <a:rPr sz="900" b="0">
                <a:solidFill>
                  <a:srgbClr val="5E6B76"/>
                </a:solidFill>
                <a:latin typeface="Segoe UI"/>
              </a:rPr>
              <a:t>12</a:t>
            </a:r>
          </a:p>
        </p:txBody>
      </p:sp>
    </p:spTree>
  </p:cSld>
  <p:clrMapOvr>
    <a:masterClrMapping/>
  </p:clrMapOvr>
</p:sld>
</file>

<file path=ppt/slides/slide13.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F4F1EA"/>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Oval 2"/>
          <p:cNvSpPr/>
          <p:nvPr/>
        </p:nvSpPr>
        <p:spPr>
          <a:xfrm>
            <a:off x="9448495" y="-1554480"/>
            <a:ext cx="4206240" cy="4206240"/>
          </a:xfrm>
          <a:prstGeom prst="ellipse">
            <a:avLst/>
          </a:prstGeom>
          <a:solidFill>
            <a:srgbClr val="DCEEEE"/>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Oval 3"/>
          <p:cNvSpPr/>
          <p:nvPr/>
        </p:nvSpPr>
        <p:spPr>
          <a:xfrm>
            <a:off x="-1645920" y="4297680"/>
            <a:ext cx="4023360" cy="4023360"/>
          </a:xfrm>
          <a:prstGeom prst="ellipse">
            <a:avLst/>
          </a:prstGeom>
          <a:solidFill>
            <a:srgbClr val="DCEEEE"/>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 name="Rounded Rectangle 4"/>
          <p:cNvSpPr/>
          <p:nvPr/>
        </p:nvSpPr>
        <p:spPr>
          <a:xfrm>
            <a:off x="548640" y="1051560"/>
            <a:ext cx="4983480" cy="4846320"/>
          </a:xfrm>
          <a:prstGeom prst="roundRect">
            <a:avLst/>
          </a:prstGeom>
          <a:solidFill>
            <a:srgbClr val="B9D4E0"/>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310896" rIns="274320"/>
          <a:lstStyle/>
          <a:p>
            <a:pPr algn="l"/>
            <a:r>
              <a:rPr sz="2700" b="1">
                <a:solidFill>
                  <a:srgbClr val="1C4966"/>
                </a:solidFill>
                <a:latin typeface="Segoe UI"/>
              </a:rPr>
              <a:t>ERROR HANDLING &amp; AI</a:t>
            </a:r>
          </a:p>
          <a:p>
            <a:pPr algn="l">
              <a:spcBef>
                <a:spcPts val="1000"/>
              </a:spcBef>
            </a:pPr>
            <a:r>
              <a:rPr sz="1250" b="0">
                <a:solidFill>
                  <a:srgbClr val="1C4966"/>
                </a:solidFill>
                <a:latin typeface="Segoe UI"/>
              </a:rPr>
              <a:t>Actmon shows MongoDB error logs clearly and uses AI to explain entries and operations in plain language.</a:t>
            </a:r>
          </a:p>
        </p:txBody>
      </p:sp>
      <p:sp>
        <p:nvSpPr>
          <p:cNvPr id="6" name="Rectangle 5"/>
          <p:cNvSpPr/>
          <p:nvPr/>
        </p:nvSpPr>
        <p:spPr>
          <a:xfrm>
            <a:off x="6355080" y="1234440"/>
            <a:ext cx="27432" cy="4663440"/>
          </a:xfrm>
          <a:prstGeom prst="rect">
            <a:avLst/>
          </a:prstGeom>
          <a:solidFill>
            <a:srgbClr val="1C4966"/>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Oval 6"/>
          <p:cNvSpPr/>
          <p:nvPr/>
        </p:nvSpPr>
        <p:spPr>
          <a:xfrm>
            <a:off x="6291072" y="1344168"/>
            <a:ext cx="155448" cy="155448"/>
          </a:xfrm>
          <a:prstGeom prst="ellipse">
            <a:avLst/>
          </a:prstGeom>
          <a:solidFill>
            <a:srgbClr val="1C4966"/>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 name="TextBox 7"/>
          <p:cNvSpPr txBox="1"/>
          <p:nvPr/>
        </p:nvSpPr>
        <p:spPr>
          <a:xfrm>
            <a:off x="6647688" y="1252728"/>
            <a:ext cx="5349240" cy="411480"/>
          </a:xfrm>
          <a:prstGeom prst="rect">
            <a:avLst/>
          </a:prstGeom>
          <a:noFill/>
        </p:spPr>
        <p:txBody>
          <a:bodyPr wrap="square">
            <a:spAutoFit/>
          </a:bodyPr>
          <a:lstStyle/>
          <a:p>
            <a:pPr algn="l"/>
            <a:r>
              <a:rPr sz="1700" b="1">
                <a:solidFill>
                  <a:srgbClr val="1C4966"/>
                </a:solidFill>
                <a:latin typeface="Segoe UI"/>
              </a:rPr>
              <a:t>01  </a:t>
            </a:r>
            <a:r>
              <a:rPr sz="1400" b="1">
                <a:solidFill>
                  <a:srgbClr val="1C4966"/>
                </a:solidFill>
                <a:latin typeface="Segoe UI"/>
              </a:rPr>
              <a:t>Error logs</a:t>
            </a:r>
          </a:p>
        </p:txBody>
      </p:sp>
      <p:sp>
        <p:nvSpPr>
          <p:cNvPr id="9" name="TextBox 8"/>
          <p:cNvSpPr txBox="1"/>
          <p:nvPr/>
        </p:nvSpPr>
        <p:spPr>
          <a:xfrm>
            <a:off x="6665976" y="1691640"/>
            <a:ext cx="5303520" cy="1097280"/>
          </a:xfrm>
          <a:prstGeom prst="rect">
            <a:avLst/>
          </a:prstGeom>
          <a:noFill/>
        </p:spPr>
        <p:txBody>
          <a:bodyPr wrap="square">
            <a:spAutoFit/>
          </a:bodyPr>
          <a:lstStyle/>
          <a:p>
            <a:pPr algn="l"/>
            <a:r>
              <a:rPr sz="1100" b="0">
                <a:solidFill>
                  <a:srgbClr val="2C3B47"/>
                </a:solidFill>
                <a:latin typeface="Segoe UI"/>
              </a:rPr>
              <a:t>View MongoDB error-log entries in the dashboard, so problems recorded by the server are easy to review.</a:t>
            </a:r>
          </a:p>
        </p:txBody>
      </p:sp>
      <p:sp>
        <p:nvSpPr>
          <p:cNvPr id="10" name="Oval 9"/>
          <p:cNvSpPr/>
          <p:nvPr/>
        </p:nvSpPr>
        <p:spPr>
          <a:xfrm>
            <a:off x="6291072" y="2898648"/>
            <a:ext cx="155448" cy="155448"/>
          </a:xfrm>
          <a:prstGeom prst="ellipse">
            <a:avLst/>
          </a:prstGeom>
          <a:solidFill>
            <a:srgbClr val="1C4966"/>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1" name="TextBox 10"/>
          <p:cNvSpPr txBox="1"/>
          <p:nvPr/>
        </p:nvSpPr>
        <p:spPr>
          <a:xfrm>
            <a:off x="6647688" y="2807208"/>
            <a:ext cx="5349240" cy="411480"/>
          </a:xfrm>
          <a:prstGeom prst="rect">
            <a:avLst/>
          </a:prstGeom>
          <a:noFill/>
        </p:spPr>
        <p:txBody>
          <a:bodyPr wrap="square">
            <a:spAutoFit/>
          </a:bodyPr>
          <a:lstStyle/>
          <a:p>
            <a:pPr algn="l"/>
            <a:r>
              <a:rPr sz="1700" b="1">
                <a:solidFill>
                  <a:srgbClr val="1C4966"/>
                </a:solidFill>
                <a:latin typeface="Segoe UI"/>
              </a:rPr>
              <a:t>02  </a:t>
            </a:r>
            <a:r>
              <a:rPr sz="1400" b="1">
                <a:solidFill>
                  <a:srgbClr val="1C4966"/>
                </a:solidFill>
                <a:latin typeface="Segoe UI"/>
              </a:rPr>
              <a:t>AI explanation</a:t>
            </a:r>
          </a:p>
        </p:txBody>
      </p:sp>
      <p:sp>
        <p:nvSpPr>
          <p:cNvPr id="12" name="TextBox 11"/>
          <p:cNvSpPr txBox="1"/>
          <p:nvPr/>
        </p:nvSpPr>
        <p:spPr>
          <a:xfrm>
            <a:off x="6665976" y="3246120"/>
            <a:ext cx="5303520" cy="1097280"/>
          </a:xfrm>
          <a:prstGeom prst="rect">
            <a:avLst/>
          </a:prstGeom>
          <a:noFill/>
        </p:spPr>
        <p:txBody>
          <a:bodyPr wrap="square">
            <a:spAutoFit/>
          </a:bodyPr>
          <a:lstStyle/>
          <a:p>
            <a:pPr algn="l"/>
            <a:r>
              <a:rPr sz="1100" b="0">
                <a:solidFill>
                  <a:srgbClr val="2C3B47"/>
                </a:solidFill>
                <a:latin typeface="Segoe UI"/>
              </a:rPr>
              <a:t>AI can explain an error or operation in simple words, making it easier for the whole team to understand what is happening.</a:t>
            </a:r>
          </a:p>
        </p:txBody>
      </p:sp>
      <p:sp>
        <p:nvSpPr>
          <p:cNvPr id="13" name="Oval 12"/>
          <p:cNvSpPr/>
          <p:nvPr/>
        </p:nvSpPr>
        <p:spPr>
          <a:xfrm>
            <a:off x="6291072" y="4453128"/>
            <a:ext cx="155448" cy="155448"/>
          </a:xfrm>
          <a:prstGeom prst="ellipse">
            <a:avLst/>
          </a:prstGeom>
          <a:solidFill>
            <a:srgbClr val="1C4966"/>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4" name="TextBox 13"/>
          <p:cNvSpPr txBox="1"/>
          <p:nvPr/>
        </p:nvSpPr>
        <p:spPr>
          <a:xfrm>
            <a:off x="6647688" y="4361688"/>
            <a:ext cx="5349240" cy="411480"/>
          </a:xfrm>
          <a:prstGeom prst="rect">
            <a:avLst/>
          </a:prstGeom>
          <a:noFill/>
        </p:spPr>
        <p:txBody>
          <a:bodyPr wrap="square">
            <a:spAutoFit/>
          </a:bodyPr>
          <a:lstStyle/>
          <a:p>
            <a:pPr algn="l"/>
            <a:r>
              <a:rPr sz="1700" b="1">
                <a:solidFill>
                  <a:srgbClr val="1C4966"/>
                </a:solidFill>
                <a:latin typeface="Segoe UI"/>
              </a:rPr>
              <a:t>03  </a:t>
            </a:r>
            <a:r>
              <a:rPr sz="1400" b="1">
                <a:solidFill>
                  <a:srgbClr val="1C4966"/>
                </a:solidFill>
                <a:latin typeface="Segoe UI"/>
              </a:rPr>
              <a:t>Clear next steps</a:t>
            </a:r>
          </a:p>
        </p:txBody>
      </p:sp>
      <p:sp>
        <p:nvSpPr>
          <p:cNvPr id="15" name="TextBox 14"/>
          <p:cNvSpPr txBox="1"/>
          <p:nvPr/>
        </p:nvSpPr>
        <p:spPr>
          <a:xfrm>
            <a:off x="6665976" y="4800600"/>
            <a:ext cx="5303520" cy="1097280"/>
          </a:xfrm>
          <a:prstGeom prst="rect">
            <a:avLst/>
          </a:prstGeom>
          <a:noFill/>
        </p:spPr>
        <p:txBody>
          <a:bodyPr wrap="square">
            <a:spAutoFit/>
          </a:bodyPr>
          <a:lstStyle/>
          <a:p>
            <a:pPr algn="l"/>
            <a:r>
              <a:rPr sz="1100" b="0">
                <a:solidFill>
                  <a:srgbClr val="2C3B47"/>
                </a:solidFill>
                <a:latin typeface="Segoe UI"/>
              </a:rPr>
              <a:t>Explanations come with practical guidance, so issues can be acted on quickly and correctly.</a:t>
            </a:r>
          </a:p>
        </p:txBody>
      </p:sp>
      <p:sp>
        <p:nvSpPr>
          <p:cNvPr id="16" name="TextBox 15"/>
          <p:cNvSpPr txBox="1"/>
          <p:nvPr/>
        </p:nvSpPr>
        <p:spPr>
          <a:xfrm>
            <a:off x="502920" y="6473952"/>
            <a:ext cx="8229600" cy="274320"/>
          </a:xfrm>
          <a:prstGeom prst="rect">
            <a:avLst/>
          </a:prstGeom>
          <a:noFill/>
        </p:spPr>
        <p:txBody>
          <a:bodyPr wrap="square">
            <a:spAutoFit/>
          </a:bodyPr>
          <a:lstStyle/>
          <a:p>
            <a:pPr algn="l"/>
            <a:r>
              <a:rPr sz="900" b="0">
                <a:solidFill>
                  <a:srgbClr val="5E6B76"/>
                </a:solidFill>
                <a:latin typeface="Segoe UI"/>
              </a:rPr>
              <a:t>Actmon  ·  MongoDB Monitoring</a:t>
            </a:r>
          </a:p>
        </p:txBody>
      </p:sp>
      <p:sp>
        <p:nvSpPr>
          <p:cNvPr id="17" name="TextBox 16"/>
          <p:cNvSpPr txBox="1"/>
          <p:nvPr/>
        </p:nvSpPr>
        <p:spPr>
          <a:xfrm>
            <a:off x="11155680" y="6473952"/>
            <a:ext cx="822960" cy="274320"/>
          </a:xfrm>
          <a:prstGeom prst="rect">
            <a:avLst/>
          </a:prstGeom>
          <a:noFill/>
        </p:spPr>
        <p:txBody>
          <a:bodyPr wrap="square">
            <a:spAutoFit/>
          </a:bodyPr>
          <a:lstStyle/>
          <a:p>
            <a:pPr algn="r"/>
            <a:r>
              <a:rPr sz="900" b="0">
                <a:solidFill>
                  <a:srgbClr val="5E6B76"/>
                </a:solidFill>
                <a:latin typeface="Segoe UI"/>
              </a:rPr>
              <a:t>13</a:t>
            </a:r>
          </a:p>
        </p:txBody>
      </p:sp>
    </p:spTree>
  </p:cSld>
  <p:clrMapOvr>
    <a:masterClrMapping/>
  </p:clrMapOvr>
</p:sld>
</file>

<file path=ppt/slides/slide14.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F4F1EA"/>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Oval 2"/>
          <p:cNvSpPr/>
          <p:nvPr/>
        </p:nvSpPr>
        <p:spPr>
          <a:xfrm>
            <a:off x="9448495" y="-1554480"/>
            <a:ext cx="4206240" cy="4206240"/>
          </a:xfrm>
          <a:prstGeom prst="ellipse">
            <a:avLst/>
          </a:prstGeom>
          <a:solidFill>
            <a:srgbClr val="DCEEEE"/>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Oval 3"/>
          <p:cNvSpPr/>
          <p:nvPr/>
        </p:nvSpPr>
        <p:spPr>
          <a:xfrm>
            <a:off x="-1645920" y="4297680"/>
            <a:ext cx="4023360" cy="4023360"/>
          </a:xfrm>
          <a:prstGeom prst="ellipse">
            <a:avLst/>
          </a:prstGeom>
          <a:solidFill>
            <a:srgbClr val="DCEEEE"/>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 name="TextBox 4"/>
          <p:cNvSpPr txBox="1"/>
          <p:nvPr/>
        </p:nvSpPr>
        <p:spPr>
          <a:xfrm>
            <a:off x="548640" y="457200"/>
            <a:ext cx="10972800" cy="640080"/>
          </a:xfrm>
          <a:prstGeom prst="rect">
            <a:avLst/>
          </a:prstGeom>
          <a:noFill/>
        </p:spPr>
        <p:txBody>
          <a:bodyPr wrap="square">
            <a:spAutoFit/>
          </a:bodyPr>
          <a:lstStyle/>
          <a:p>
            <a:pPr algn="l"/>
            <a:r>
              <a:rPr sz="2900" b="1">
                <a:solidFill>
                  <a:srgbClr val="1C4966"/>
                </a:solidFill>
                <a:latin typeface="Segoe UI"/>
              </a:rPr>
              <a:t>ROOT-CAUSE DRILL-DOWN</a:t>
            </a:r>
          </a:p>
        </p:txBody>
      </p:sp>
      <p:sp>
        <p:nvSpPr>
          <p:cNvPr id="6" name="Rectangle 5"/>
          <p:cNvSpPr/>
          <p:nvPr/>
        </p:nvSpPr>
        <p:spPr>
          <a:xfrm>
            <a:off x="603504" y="1207008"/>
            <a:ext cx="1463040" cy="54864"/>
          </a:xfrm>
          <a:prstGeom prst="rect">
            <a:avLst/>
          </a:prstGeom>
          <a:solidFill>
            <a:srgbClr val="1C4966"/>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TextBox 6"/>
          <p:cNvSpPr txBox="1"/>
          <p:nvPr/>
        </p:nvSpPr>
        <p:spPr>
          <a:xfrm>
            <a:off x="566928" y="1371600"/>
            <a:ext cx="11064240" cy="457200"/>
          </a:xfrm>
          <a:prstGeom prst="rect">
            <a:avLst/>
          </a:prstGeom>
          <a:noFill/>
        </p:spPr>
        <p:txBody>
          <a:bodyPr wrap="square">
            <a:spAutoFit/>
          </a:bodyPr>
          <a:lstStyle/>
          <a:p>
            <a:pPr algn="l"/>
            <a:r>
              <a:rPr sz="1300" b="0">
                <a:solidFill>
                  <a:srgbClr val="2C3B47"/>
                </a:solidFill>
                <a:latin typeface="Segoe UI"/>
              </a:rPr>
              <a:t>Go from a high-level metric to the real reason behind it.</a:t>
            </a:r>
          </a:p>
        </p:txBody>
      </p:sp>
      <p:sp>
        <p:nvSpPr>
          <p:cNvPr id="8" name="Rounded Rectangle 7"/>
          <p:cNvSpPr/>
          <p:nvPr/>
        </p:nvSpPr>
        <p:spPr>
          <a:xfrm>
            <a:off x="548640" y="1965960"/>
            <a:ext cx="5417820" cy="1965960"/>
          </a:xfrm>
          <a:prstGeom prst="roundRect">
            <a:avLst/>
          </a:prstGeom>
          <a:solidFill>
            <a:srgbClr val="6E98AF"/>
          </a:solidFill>
          <a:ln>
            <a:noFill/>
          </a:ln>
          <a:effectLst/>
        </p:spPr>
        <p:style>
          <a:lnRef idx="1">
            <a:schemeClr val="accent1"/>
          </a:lnRef>
          <a:fillRef idx="3">
            <a:schemeClr val="accent1"/>
          </a:fillRef>
          <a:effectRef idx="2">
            <a:schemeClr val="accent1"/>
          </a:effectRef>
          <a:fontRef idx="minor">
            <a:schemeClr val="lt1"/>
          </a:fontRef>
        </p:style>
        <p:txBody>
          <a:bodyPr rtlCol="0" anchor="t" wrap="square" lIns="256032" rIns="237744" tIns="146304"/>
          <a:lstStyle/>
          <a:p>
            <a:pPr algn="l"/>
            <a:r>
              <a:rPr sz="1800" b="1">
                <a:solidFill>
                  <a:srgbClr val="D7E6EF"/>
                </a:solidFill>
                <a:latin typeface="Segoe UI"/>
              </a:rPr>
              <a:t>01   </a:t>
            </a:r>
            <a:r>
              <a:rPr sz="1400" b="1">
                <a:solidFill>
                  <a:srgbClr val="FFFFFF"/>
                </a:solidFill>
                <a:latin typeface="Segoe UI"/>
              </a:rPr>
              <a:t>Start at the metric</a:t>
            </a:r>
          </a:p>
          <a:p>
            <a:pPr algn="l">
              <a:spcBef>
                <a:spcPts val="400"/>
              </a:spcBef>
            </a:pPr>
            <a:r>
              <a:rPr sz="1100" b="0">
                <a:solidFill>
                  <a:srgbClr val="FFFFFF"/>
                </a:solidFill>
                <a:latin typeface="Segoe UI"/>
              </a:rPr>
              <a:t>When CPU or memory looks high, click that gauge to begin. No commands are needed — the drill-down guides you from the symptom toward the cause step by step.</a:t>
            </a:r>
          </a:p>
        </p:txBody>
      </p:sp>
      <p:sp>
        <p:nvSpPr>
          <p:cNvPr id="9" name="Rounded Rectangle 8"/>
          <p:cNvSpPr/>
          <p:nvPr/>
        </p:nvSpPr>
        <p:spPr>
          <a:xfrm>
            <a:off x="6240780" y="1965960"/>
            <a:ext cx="5417820" cy="1965960"/>
          </a:xfrm>
          <a:prstGeom prst="roundRect">
            <a:avLst/>
          </a:prstGeom>
          <a:solidFill>
            <a:srgbClr val="4F809C"/>
          </a:solidFill>
          <a:ln>
            <a:noFill/>
          </a:ln>
          <a:effectLst/>
        </p:spPr>
        <p:style>
          <a:lnRef idx="1">
            <a:schemeClr val="accent1"/>
          </a:lnRef>
          <a:fillRef idx="3">
            <a:schemeClr val="accent1"/>
          </a:fillRef>
          <a:effectRef idx="2">
            <a:schemeClr val="accent1"/>
          </a:effectRef>
          <a:fontRef idx="minor">
            <a:schemeClr val="lt1"/>
          </a:fontRef>
        </p:style>
        <p:txBody>
          <a:bodyPr rtlCol="0" anchor="t" wrap="square" lIns="256032" rIns="237744" tIns="146304"/>
          <a:lstStyle/>
          <a:p>
            <a:pPr algn="l"/>
            <a:r>
              <a:rPr sz="1800" b="1">
                <a:solidFill>
                  <a:srgbClr val="D7E6EF"/>
                </a:solidFill>
                <a:latin typeface="Segoe UI"/>
              </a:rPr>
              <a:t>02   </a:t>
            </a:r>
            <a:r>
              <a:rPr sz="1400" b="1">
                <a:solidFill>
                  <a:srgbClr val="FFFFFF"/>
                </a:solidFill>
                <a:latin typeface="Segoe UI"/>
              </a:rPr>
              <a:t>See the top processes</a:t>
            </a:r>
          </a:p>
          <a:p>
            <a:pPr algn="l">
              <a:spcBef>
                <a:spcPts val="400"/>
              </a:spcBef>
            </a:pPr>
            <a:r>
              <a:rPr sz="1100" b="0">
                <a:solidFill>
                  <a:srgbClr val="FFFFFF"/>
                </a:solidFill>
                <a:latin typeface="Segoe UI"/>
              </a:rPr>
              <a:t>Actmon shows the processes using the most CPU or memory on the server, with the database clearly identified, so you immediately see whether it is the heavy one or not.</a:t>
            </a:r>
          </a:p>
        </p:txBody>
      </p:sp>
      <p:sp>
        <p:nvSpPr>
          <p:cNvPr id="10" name="Rounded Rectangle 9"/>
          <p:cNvSpPr/>
          <p:nvPr/>
        </p:nvSpPr>
        <p:spPr>
          <a:xfrm>
            <a:off x="548640" y="4206240"/>
            <a:ext cx="5417820" cy="1965960"/>
          </a:xfrm>
          <a:prstGeom prst="roundRect">
            <a:avLst/>
          </a:prstGeom>
          <a:solidFill>
            <a:srgbClr val="3A6A88"/>
          </a:solidFill>
          <a:ln>
            <a:noFill/>
          </a:ln>
          <a:effectLst/>
        </p:spPr>
        <p:style>
          <a:lnRef idx="1">
            <a:schemeClr val="accent1"/>
          </a:lnRef>
          <a:fillRef idx="3">
            <a:schemeClr val="accent1"/>
          </a:fillRef>
          <a:effectRef idx="2">
            <a:schemeClr val="accent1"/>
          </a:effectRef>
          <a:fontRef idx="minor">
            <a:schemeClr val="lt1"/>
          </a:fontRef>
        </p:style>
        <p:txBody>
          <a:bodyPr rtlCol="0" anchor="t" wrap="square" lIns="256032" rIns="237744" tIns="146304"/>
          <a:lstStyle/>
          <a:p>
            <a:pPr algn="l"/>
            <a:r>
              <a:rPr sz="1800" b="1">
                <a:solidFill>
                  <a:srgbClr val="D7E6EF"/>
                </a:solidFill>
                <a:latin typeface="Segoe UI"/>
              </a:rPr>
              <a:t>03   </a:t>
            </a:r>
            <a:r>
              <a:rPr sz="1400" b="1">
                <a:solidFill>
                  <a:srgbClr val="FFFFFF"/>
                </a:solidFill>
                <a:latin typeface="Segoe UI"/>
              </a:rPr>
              <a:t>Drill into the database</a:t>
            </a:r>
          </a:p>
          <a:p>
            <a:pPr algn="l">
              <a:spcBef>
                <a:spcPts val="400"/>
              </a:spcBef>
            </a:pPr>
            <a:r>
              <a:rPr sz="1100" b="0">
                <a:solidFill>
                  <a:srgbClr val="FFFFFF"/>
                </a:solidFill>
                <a:latin typeface="Segoe UI"/>
              </a:rPr>
              <a:t>Go deeper into the database's own sessions and queries to find the specific statement responsible, connecting the high-level metric to a real, fixable cause.</a:t>
            </a:r>
          </a:p>
        </p:txBody>
      </p:sp>
      <p:sp>
        <p:nvSpPr>
          <p:cNvPr id="11" name="Rounded Rectangle 10"/>
          <p:cNvSpPr/>
          <p:nvPr/>
        </p:nvSpPr>
        <p:spPr>
          <a:xfrm>
            <a:off x="6240780" y="4206240"/>
            <a:ext cx="5417820" cy="1965960"/>
          </a:xfrm>
          <a:prstGeom prst="roundRect">
            <a:avLst/>
          </a:prstGeom>
          <a:solidFill>
            <a:srgbClr val="2A5573"/>
          </a:solidFill>
          <a:ln>
            <a:noFill/>
          </a:ln>
          <a:effectLst/>
        </p:spPr>
        <p:style>
          <a:lnRef idx="1">
            <a:schemeClr val="accent1"/>
          </a:lnRef>
          <a:fillRef idx="3">
            <a:schemeClr val="accent1"/>
          </a:fillRef>
          <a:effectRef idx="2">
            <a:schemeClr val="accent1"/>
          </a:effectRef>
          <a:fontRef idx="minor">
            <a:schemeClr val="lt1"/>
          </a:fontRef>
        </p:style>
        <p:txBody>
          <a:bodyPr rtlCol="0" anchor="t" wrap="square" lIns="256032" rIns="237744" tIns="146304"/>
          <a:lstStyle/>
          <a:p>
            <a:pPr algn="l"/>
            <a:r>
              <a:rPr sz="1800" b="1">
                <a:solidFill>
                  <a:srgbClr val="D7E6EF"/>
                </a:solidFill>
                <a:latin typeface="Segoe UI"/>
              </a:rPr>
              <a:t>04   </a:t>
            </a:r>
            <a:r>
              <a:rPr sz="1400" b="1">
                <a:solidFill>
                  <a:srgbClr val="FFFFFF"/>
                </a:solidFill>
                <a:latin typeface="Segoe UI"/>
              </a:rPr>
              <a:t>Root-cause report</a:t>
            </a:r>
          </a:p>
          <a:p>
            <a:pPr algn="l">
              <a:spcBef>
                <a:spcPts val="400"/>
              </a:spcBef>
            </a:pPr>
            <a:r>
              <a:rPr sz="1100" b="0">
                <a:solidFill>
                  <a:srgbClr val="FFFFFF"/>
                </a:solidFill>
                <a:latin typeface="Segoe UI"/>
              </a:rPr>
              <a:t>Actmon produces a report stating whether the database or an external process caused the spike, with a simple breakdown that always adds up to 100% (database + other processes + idle).</a:t>
            </a:r>
          </a:p>
        </p:txBody>
      </p:sp>
      <p:sp>
        <p:nvSpPr>
          <p:cNvPr id="12" name="TextBox 11"/>
          <p:cNvSpPr txBox="1"/>
          <p:nvPr/>
        </p:nvSpPr>
        <p:spPr>
          <a:xfrm>
            <a:off x="502920" y="6473952"/>
            <a:ext cx="8229600" cy="274320"/>
          </a:xfrm>
          <a:prstGeom prst="rect">
            <a:avLst/>
          </a:prstGeom>
          <a:noFill/>
        </p:spPr>
        <p:txBody>
          <a:bodyPr wrap="square">
            <a:spAutoFit/>
          </a:bodyPr>
          <a:lstStyle/>
          <a:p>
            <a:pPr algn="l"/>
            <a:r>
              <a:rPr sz="900" b="0">
                <a:solidFill>
                  <a:srgbClr val="5E6B76"/>
                </a:solidFill>
                <a:latin typeface="Segoe UI"/>
              </a:rPr>
              <a:t>Actmon  ·  MongoDB Monitoring</a:t>
            </a:r>
          </a:p>
        </p:txBody>
      </p:sp>
      <p:sp>
        <p:nvSpPr>
          <p:cNvPr id="13" name="TextBox 12"/>
          <p:cNvSpPr txBox="1"/>
          <p:nvPr/>
        </p:nvSpPr>
        <p:spPr>
          <a:xfrm>
            <a:off x="11155680" y="6473952"/>
            <a:ext cx="822960" cy="274320"/>
          </a:xfrm>
          <a:prstGeom prst="rect">
            <a:avLst/>
          </a:prstGeom>
          <a:noFill/>
        </p:spPr>
        <p:txBody>
          <a:bodyPr wrap="square">
            <a:spAutoFit/>
          </a:bodyPr>
          <a:lstStyle/>
          <a:p>
            <a:pPr algn="r"/>
            <a:r>
              <a:rPr sz="900" b="0">
                <a:solidFill>
                  <a:srgbClr val="5E6B76"/>
                </a:solidFill>
                <a:latin typeface="Segoe UI"/>
              </a:rPr>
              <a:t>14</a:t>
            </a:r>
          </a:p>
        </p:txBody>
      </p:sp>
    </p:spTree>
  </p:cSld>
  <p:clrMapOvr>
    <a:masterClrMapping/>
  </p:clrMapOvr>
</p:sld>
</file>

<file path=ppt/slides/slide15.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F4F1EA"/>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Oval 2"/>
          <p:cNvSpPr/>
          <p:nvPr/>
        </p:nvSpPr>
        <p:spPr>
          <a:xfrm>
            <a:off x="9448495" y="-1554480"/>
            <a:ext cx="4206240" cy="4206240"/>
          </a:xfrm>
          <a:prstGeom prst="ellipse">
            <a:avLst/>
          </a:prstGeom>
          <a:solidFill>
            <a:srgbClr val="DCEEEE"/>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Oval 3"/>
          <p:cNvSpPr/>
          <p:nvPr/>
        </p:nvSpPr>
        <p:spPr>
          <a:xfrm>
            <a:off x="-1645920" y="4297680"/>
            <a:ext cx="4023360" cy="4023360"/>
          </a:xfrm>
          <a:prstGeom prst="ellipse">
            <a:avLst/>
          </a:prstGeom>
          <a:solidFill>
            <a:srgbClr val="DCEEEE"/>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 name="Rounded Rectangle 4"/>
          <p:cNvSpPr/>
          <p:nvPr/>
        </p:nvSpPr>
        <p:spPr>
          <a:xfrm>
            <a:off x="548640" y="1051560"/>
            <a:ext cx="4983480" cy="4846320"/>
          </a:xfrm>
          <a:prstGeom prst="roundRect">
            <a:avLst/>
          </a:prstGeom>
          <a:solidFill>
            <a:srgbClr val="B9D4E0"/>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310896" rIns="274320"/>
          <a:lstStyle/>
          <a:p>
            <a:pPr algn="l"/>
            <a:r>
              <a:rPr sz="2700" b="1">
                <a:solidFill>
                  <a:srgbClr val="1C4966"/>
                </a:solidFill>
                <a:latin typeface="Segoe UI"/>
              </a:rPr>
              <a:t>BACKUP</a:t>
            </a:r>
          </a:p>
          <a:p>
            <a:pPr algn="l">
              <a:spcBef>
                <a:spcPts val="1000"/>
              </a:spcBef>
            </a:pPr>
            <a:r>
              <a:rPr sz="1250" b="0">
                <a:solidFill>
                  <a:srgbClr val="1C4966"/>
                </a:solidFill>
                <a:latin typeface="Segoe UI"/>
              </a:rPr>
              <a:t>Keep your data protected and confirm recovery is possible, from the same dashboard.</a:t>
            </a:r>
          </a:p>
        </p:txBody>
      </p:sp>
      <p:sp>
        <p:nvSpPr>
          <p:cNvPr id="6" name="Rectangle 5"/>
          <p:cNvSpPr/>
          <p:nvPr/>
        </p:nvSpPr>
        <p:spPr>
          <a:xfrm>
            <a:off x="6355080" y="1234440"/>
            <a:ext cx="27432" cy="4663440"/>
          </a:xfrm>
          <a:prstGeom prst="rect">
            <a:avLst/>
          </a:prstGeom>
          <a:solidFill>
            <a:srgbClr val="1C4966"/>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Oval 6"/>
          <p:cNvSpPr/>
          <p:nvPr/>
        </p:nvSpPr>
        <p:spPr>
          <a:xfrm>
            <a:off x="6291072" y="1344168"/>
            <a:ext cx="155448" cy="155448"/>
          </a:xfrm>
          <a:prstGeom prst="ellipse">
            <a:avLst/>
          </a:prstGeom>
          <a:solidFill>
            <a:srgbClr val="1C4966"/>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 name="TextBox 7"/>
          <p:cNvSpPr txBox="1"/>
          <p:nvPr/>
        </p:nvSpPr>
        <p:spPr>
          <a:xfrm>
            <a:off x="6647688" y="1252728"/>
            <a:ext cx="5349240" cy="411480"/>
          </a:xfrm>
          <a:prstGeom prst="rect">
            <a:avLst/>
          </a:prstGeom>
          <a:noFill/>
        </p:spPr>
        <p:txBody>
          <a:bodyPr wrap="square">
            <a:spAutoFit/>
          </a:bodyPr>
          <a:lstStyle/>
          <a:p>
            <a:pPr algn="l"/>
            <a:r>
              <a:rPr sz="1700" b="1">
                <a:solidFill>
                  <a:srgbClr val="1C4966"/>
                </a:solidFill>
                <a:latin typeface="Segoe UI"/>
              </a:rPr>
              <a:t>01  </a:t>
            </a:r>
            <a:r>
              <a:rPr sz="1400" b="1">
                <a:solidFill>
                  <a:srgbClr val="1C4966"/>
                </a:solidFill>
                <a:latin typeface="Segoe UI"/>
              </a:rPr>
              <a:t>Backups</a:t>
            </a:r>
          </a:p>
        </p:txBody>
      </p:sp>
      <p:sp>
        <p:nvSpPr>
          <p:cNvPr id="9" name="TextBox 8"/>
          <p:cNvSpPr txBox="1"/>
          <p:nvPr/>
        </p:nvSpPr>
        <p:spPr>
          <a:xfrm>
            <a:off x="6665976" y="1691640"/>
            <a:ext cx="5303520" cy="1097280"/>
          </a:xfrm>
          <a:prstGeom prst="rect">
            <a:avLst/>
          </a:prstGeom>
          <a:noFill/>
        </p:spPr>
        <p:txBody>
          <a:bodyPr wrap="square">
            <a:spAutoFit/>
          </a:bodyPr>
          <a:lstStyle/>
          <a:p>
            <a:pPr algn="l"/>
            <a:r>
              <a:rPr sz="1100" b="0">
                <a:solidFill>
                  <a:srgbClr val="2C3B47"/>
                </a:solidFill>
                <a:latin typeface="Segoe UI"/>
              </a:rPr>
              <a:t>Take MongoDB backups and track their status, so a recent, usable copy of your data always exists.</a:t>
            </a:r>
          </a:p>
        </p:txBody>
      </p:sp>
      <p:sp>
        <p:nvSpPr>
          <p:cNvPr id="10" name="Oval 9"/>
          <p:cNvSpPr/>
          <p:nvPr/>
        </p:nvSpPr>
        <p:spPr>
          <a:xfrm>
            <a:off x="6291072" y="2898648"/>
            <a:ext cx="155448" cy="155448"/>
          </a:xfrm>
          <a:prstGeom prst="ellipse">
            <a:avLst/>
          </a:prstGeom>
          <a:solidFill>
            <a:srgbClr val="1C4966"/>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1" name="TextBox 10"/>
          <p:cNvSpPr txBox="1"/>
          <p:nvPr/>
        </p:nvSpPr>
        <p:spPr>
          <a:xfrm>
            <a:off x="6647688" y="2807208"/>
            <a:ext cx="5349240" cy="411480"/>
          </a:xfrm>
          <a:prstGeom prst="rect">
            <a:avLst/>
          </a:prstGeom>
          <a:noFill/>
        </p:spPr>
        <p:txBody>
          <a:bodyPr wrap="square">
            <a:spAutoFit/>
          </a:bodyPr>
          <a:lstStyle/>
          <a:p>
            <a:pPr algn="l"/>
            <a:r>
              <a:rPr sz="1700" b="1">
                <a:solidFill>
                  <a:srgbClr val="1C4966"/>
                </a:solidFill>
                <a:latin typeface="Segoe UI"/>
              </a:rPr>
              <a:t>02  </a:t>
            </a:r>
            <a:r>
              <a:rPr sz="1400" b="1">
                <a:solidFill>
                  <a:srgbClr val="1C4966"/>
                </a:solidFill>
                <a:latin typeface="Segoe UI"/>
              </a:rPr>
              <a:t>Peace of mind</a:t>
            </a:r>
          </a:p>
        </p:txBody>
      </p:sp>
      <p:sp>
        <p:nvSpPr>
          <p:cNvPr id="12" name="TextBox 11"/>
          <p:cNvSpPr txBox="1"/>
          <p:nvPr/>
        </p:nvSpPr>
        <p:spPr>
          <a:xfrm>
            <a:off x="6665976" y="3246120"/>
            <a:ext cx="5303520" cy="1097280"/>
          </a:xfrm>
          <a:prstGeom prst="rect">
            <a:avLst/>
          </a:prstGeom>
          <a:noFill/>
        </p:spPr>
        <p:txBody>
          <a:bodyPr wrap="square">
            <a:spAutoFit/>
          </a:bodyPr>
          <a:lstStyle/>
          <a:p>
            <a:pPr algn="l"/>
            <a:r>
              <a:rPr sz="1100" b="0">
                <a:solidFill>
                  <a:srgbClr val="2C3B47"/>
                </a:solidFill>
                <a:latin typeface="Segoe UI"/>
              </a:rPr>
              <a:t>Knowing backups are running and current means a failure or mistake does not become a disaster.</a:t>
            </a:r>
          </a:p>
        </p:txBody>
      </p:sp>
      <p:sp>
        <p:nvSpPr>
          <p:cNvPr id="13" name="Oval 12"/>
          <p:cNvSpPr/>
          <p:nvPr/>
        </p:nvSpPr>
        <p:spPr>
          <a:xfrm>
            <a:off x="6291072" y="4453128"/>
            <a:ext cx="155448" cy="155448"/>
          </a:xfrm>
          <a:prstGeom prst="ellipse">
            <a:avLst/>
          </a:prstGeom>
          <a:solidFill>
            <a:srgbClr val="1C4966"/>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4" name="TextBox 13"/>
          <p:cNvSpPr txBox="1"/>
          <p:nvPr/>
        </p:nvSpPr>
        <p:spPr>
          <a:xfrm>
            <a:off x="6647688" y="4361688"/>
            <a:ext cx="5349240" cy="411480"/>
          </a:xfrm>
          <a:prstGeom prst="rect">
            <a:avLst/>
          </a:prstGeom>
          <a:noFill/>
        </p:spPr>
        <p:txBody>
          <a:bodyPr wrap="square">
            <a:spAutoFit/>
          </a:bodyPr>
          <a:lstStyle/>
          <a:p>
            <a:pPr algn="l"/>
            <a:r>
              <a:rPr sz="1700" b="1">
                <a:solidFill>
                  <a:srgbClr val="1C4966"/>
                </a:solidFill>
                <a:latin typeface="Segoe UI"/>
              </a:rPr>
              <a:t>03  </a:t>
            </a:r>
            <a:r>
              <a:rPr sz="1400" b="1">
                <a:solidFill>
                  <a:srgbClr val="1C4966"/>
                </a:solidFill>
                <a:latin typeface="Segoe UI"/>
              </a:rPr>
              <a:t>One place</a:t>
            </a:r>
          </a:p>
        </p:txBody>
      </p:sp>
      <p:sp>
        <p:nvSpPr>
          <p:cNvPr id="15" name="TextBox 14"/>
          <p:cNvSpPr txBox="1"/>
          <p:nvPr/>
        </p:nvSpPr>
        <p:spPr>
          <a:xfrm>
            <a:off x="6665976" y="4800600"/>
            <a:ext cx="5303520" cy="1097280"/>
          </a:xfrm>
          <a:prstGeom prst="rect">
            <a:avLst/>
          </a:prstGeom>
          <a:noFill/>
        </p:spPr>
        <p:txBody>
          <a:bodyPr wrap="square">
            <a:spAutoFit/>
          </a:bodyPr>
          <a:lstStyle/>
          <a:p>
            <a:pPr algn="l"/>
            <a:r>
              <a:rPr sz="1100" b="0">
                <a:solidFill>
                  <a:srgbClr val="2C3B47"/>
                </a:solidFill>
                <a:latin typeface="Segoe UI"/>
              </a:rPr>
              <a:t>Backups sit alongside monitoring, so protection and health are managed together.</a:t>
            </a:r>
          </a:p>
        </p:txBody>
      </p:sp>
      <p:sp>
        <p:nvSpPr>
          <p:cNvPr id="16" name="TextBox 15"/>
          <p:cNvSpPr txBox="1"/>
          <p:nvPr/>
        </p:nvSpPr>
        <p:spPr>
          <a:xfrm>
            <a:off x="502920" y="6473952"/>
            <a:ext cx="8229600" cy="274320"/>
          </a:xfrm>
          <a:prstGeom prst="rect">
            <a:avLst/>
          </a:prstGeom>
          <a:noFill/>
        </p:spPr>
        <p:txBody>
          <a:bodyPr wrap="square">
            <a:spAutoFit/>
          </a:bodyPr>
          <a:lstStyle/>
          <a:p>
            <a:pPr algn="l"/>
            <a:r>
              <a:rPr sz="900" b="0">
                <a:solidFill>
                  <a:srgbClr val="5E6B76"/>
                </a:solidFill>
                <a:latin typeface="Segoe UI"/>
              </a:rPr>
              <a:t>Actmon  ·  MongoDB Monitoring</a:t>
            </a:r>
          </a:p>
        </p:txBody>
      </p:sp>
      <p:sp>
        <p:nvSpPr>
          <p:cNvPr id="17" name="TextBox 16"/>
          <p:cNvSpPr txBox="1"/>
          <p:nvPr/>
        </p:nvSpPr>
        <p:spPr>
          <a:xfrm>
            <a:off x="11155680" y="6473952"/>
            <a:ext cx="822960" cy="274320"/>
          </a:xfrm>
          <a:prstGeom prst="rect">
            <a:avLst/>
          </a:prstGeom>
          <a:noFill/>
        </p:spPr>
        <p:txBody>
          <a:bodyPr wrap="square">
            <a:spAutoFit/>
          </a:bodyPr>
          <a:lstStyle/>
          <a:p>
            <a:pPr algn="r"/>
            <a:r>
              <a:rPr sz="900" b="0">
                <a:solidFill>
                  <a:srgbClr val="5E6B76"/>
                </a:solidFill>
                <a:latin typeface="Segoe UI"/>
              </a:rPr>
              <a:t>15</a:t>
            </a:r>
          </a:p>
        </p:txBody>
      </p:sp>
    </p:spTree>
  </p:cSld>
  <p:clrMapOvr>
    <a:masterClrMapping/>
  </p:clrMapOvr>
</p:sld>
</file>

<file path=ppt/slides/slide16.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F4F1EA"/>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Oval 2"/>
          <p:cNvSpPr/>
          <p:nvPr/>
        </p:nvSpPr>
        <p:spPr>
          <a:xfrm>
            <a:off x="9448495" y="-1554480"/>
            <a:ext cx="4206240" cy="4206240"/>
          </a:xfrm>
          <a:prstGeom prst="ellipse">
            <a:avLst/>
          </a:prstGeom>
          <a:solidFill>
            <a:srgbClr val="DCEEEE"/>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Oval 3"/>
          <p:cNvSpPr/>
          <p:nvPr/>
        </p:nvSpPr>
        <p:spPr>
          <a:xfrm>
            <a:off x="-1645920" y="4297680"/>
            <a:ext cx="4023360" cy="4023360"/>
          </a:xfrm>
          <a:prstGeom prst="ellipse">
            <a:avLst/>
          </a:prstGeom>
          <a:solidFill>
            <a:srgbClr val="DCEEEE"/>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 name="TextBox 4"/>
          <p:cNvSpPr txBox="1"/>
          <p:nvPr/>
        </p:nvSpPr>
        <p:spPr>
          <a:xfrm>
            <a:off x="548640" y="457200"/>
            <a:ext cx="10972800" cy="640080"/>
          </a:xfrm>
          <a:prstGeom prst="rect">
            <a:avLst/>
          </a:prstGeom>
          <a:noFill/>
        </p:spPr>
        <p:txBody>
          <a:bodyPr wrap="square">
            <a:spAutoFit/>
          </a:bodyPr>
          <a:lstStyle/>
          <a:p>
            <a:pPr algn="l"/>
            <a:r>
              <a:rPr sz="2800" b="1">
                <a:solidFill>
                  <a:srgbClr val="1C4966"/>
                </a:solidFill>
                <a:latin typeface="Segoe UI"/>
              </a:rPr>
              <a:t>KEY METRICS — QUICK REFERENCE</a:t>
            </a:r>
          </a:p>
        </p:txBody>
      </p:sp>
      <p:sp>
        <p:nvSpPr>
          <p:cNvPr id="6" name="Rectangle 5"/>
          <p:cNvSpPr/>
          <p:nvPr/>
        </p:nvSpPr>
        <p:spPr>
          <a:xfrm>
            <a:off x="603504" y="1188720"/>
            <a:ext cx="1463040" cy="54864"/>
          </a:xfrm>
          <a:prstGeom prst="rect">
            <a:avLst/>
          </a:prstGeom>
          <a:solidFill>
            <a:srgbClr val="1C4966"/>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TextBox 6"/>
          <p:cNvSpPr txBox="1"/>
          <p:nvPr/>
        </p:nvSpPr>
        <p:spPr>
          <a:xfrm>
            <a:off x="566928" y="1371600"/>
            <a:ext cx="10972800" cy="457200"/>
          </a:xfrm>
          <a:prstGeom prst="rect">
            <a:avLst/>
          </a:prstGeom>
          <a:noFill/>
        </p:spPr>
        <p:txBody>
          <a:bodyPr wrap="square">
            <a:spAutoFit/>
          </a:bodyPr>
          <a:lstStyle/>
          <a:p>
            <a:pPr algn="l"/>
            <a:r>
              <a:rPr sz="1300" b="0">
                <a:solidFill>
                  <a:srgbClr val="2C3B47"/>
                </a:solidFill>
                <a:latin typeface="Segoe UI"/>
              </a:rPr>
              <a:t>A simple cheat-sheet of what each metric means and where to find it.</a:t>
            </a:r>
          </a:p>
        </p:txBody>
      </p:sp>
      <p:graphicFrame>
        <p:nvGraphicFramePr>
          <p:cNvPr id="8" name="Table 7"/>
          <p:cNvGraphicFramePr>
            <a:graphicFrameLocks noGrp="1"/>
          </p:cNvGraphicFramePr>
          <p:nvPr/>
        </p:nvGraphicFramePr>
        <p:xfrm>
          <a:off x="548640" y="1920240"/>
          <a:ext cx="11064240" cy="3200400"/>
        </p:xfrm>
        <a:graphic>
          <a:graphicData uri="http://schemas.openxmlformats.org/drawingml/2006/table">
            <a:tbl>
              <a:tblPr firstRow="1" bandRow="1">
                <a:tableStyleId>{5C22544A-7EE6-4342-B048-85BDC9FD1C3A}</a:tableStyleId>
              </a:tblPr>
              <a:tblGrid>
                <a:gridCol w="3688080"/>
                <a:gridCol w="3688080"/>
                <a:gridCol w="3688080"/>
              </a:tblGrid>
              <a:tr h="457200">
                <a:tc>
                  <a:txBody>
                    <a:bodyPr/>
                    <a:lstStyle/>
                    <a:p>
                      <a:r>
                        <a:rPr sz="1200" b="1">
                          <a:solidFill>
                            <a:srgbClr val="FFFFFF"/>
                          </a:solidFill>
                          <a:latin typeface="Segoe UI"/>
                        </a:rPr>
                        <a:t>Metric</a:t>
                      </a:r>
                    </a:p>
                  </a:txBody>
                  <a:tcPr>
                    <a:solidFill>
                      <a:srgbClr val="1C4966"/>
                    </a:solidFill>
                  </a:tcPr>
                </a:tc>
                <a:tc>
                  <a:txBody>
                    <a:bodyPr/>
                    <a:lstStyle/>
                    <a:p>
                      <a:r>
                        <a:rPr sz="1200" b="1">
                          <a:solidFill>
                            <a:srgbClr val="FFFFFF"/>
                          </a:solidFill>
                          <a:latin typeface="Segoe UI"/>
                        </a:rPr>
                        <a:t>What it tells you</a:t>
                      </a:r>
                    </a:p>
                  </a:txBody>
                  <a:tcPr>
                    <a:solidFill>
                      <a:srgbClr val="1C4966"/>
                    </a:solidFill>
                  </a:tcPr>
                </a:tc>
                <a:tc>
                  <a:txBody>
                    <a:bodyPr/>
                    <a:lstStyle/>
                    <a:p>
                      <a:r>
                        <a:rPr sz="1200" b="1">
                          <a:solidFill>
                            <a:srgbClr val="FFFFFF"/>
                          </a:solidFill>
                          <a:latin typeface="Segoe UI"/>
                        </a:rPr>
                        <a:t>Where to see it</a:t>
                      </a:r>
                    </a:p>
                  </a:txBody>
                  <a:tcPr>
                    <a:solidFill>
                      <a:srgbClr val="1C4966"/>
                    </a:solidFill>
                  </a:tcPr>
                </a:tc>
              </a:tr>
              <a:tr h="457200">
                <a:tc>
                  <a:txBody>
                    <a:bodyPr/>
                    <a:lstStyle/>
                    <a:p>
                      <a:r>
                        <a:rPr sz="1100">
                          <a:solidFill>
                            <a:srgbClr val="2C3B47"/>
                          </a:solidFill>
                          <a:latin typeface="Segoe UI"/>
                        </a:rPr>
                        <a:t>Connections</a:t>
                      </a:r>
                    </a:p>
                  </a:txBody>
                  <a:tcPr>
                    <a:solidFill>
                      <a:srgbClr val="FFFFFF"/>
                    </a:solidFill>
                  </a:tcPr>
                </a:tc>
                <a:tc>
                  <a:txBody>
                    <a:bodyPr/>
                    <a:lstStyle/>
                    <a:p>
                      <a:r>
                        <a:rPr sz="1100">
                          <a:solidFill>
                            <a:srgbClr val="2C3B47"/>
                          </a:solidFill>
                          <a:latin typeface="Segoe UI"/>
                        </a:rPr>
                        <a:t>client connections open</a:t>
                      </a:r>
                    </a:p>
                  </a:txBody>
                  <a:tcPr>
                    <a:solidFill>
                      <a:srgbClr val="FFFFFF"/>
                    </a:solidFill>
                  </a:tcPr>
                </a:tc>
                <a:tc>
                  <a:txBody>
                    <a:bodyPr/>
                    <a:lstStyle/>
                    <a:p>
                      <a:r>
                        <a:rPr sz="1100">
                          <a:solidFill>
                            <a:srgbClr val="2C3B47"/>
                          </a:solidFill>
                          <a:latin typeface="Segoe UI"/>
                        </a:rPr>
                        <a:t>Overview</a:t>
                      </a:r>
                    </a:p>
                  </a:txBody>
                  <a:tcPr>
                    <a:solidFill>
                      <a:srgbClr val="FFFFFF"/>
                    </a:solidFill>
                  </a:tcPr>
                </a:tc>
              </a:tr>
              <a:tr h="457200">
                <a:tc>
                  <a:txBody>
                    <a:bodyPr/>
                    <a:lstStyle/>
                    <a:p>
                      <a:r>
                        <a:rPr sz="1100">
                          <a:solidFill>
                            <a:srgbClr val="2C3B47"/>
                          </a:solidFill>
                          <a:latin typeface="Segoe UI"/>
                        </a:rPr>
                        <a:t>Operation counters</a:t>
                      </a:r>
                    </a:p>
                  </a:txBody>
                  <a:tcPr>
                    <a:solidFill>
                      <a:srgbClr val="E6EFF4"/>
                    </a:solidFill>
                  </a:tcPr>
                </a:tc>
                <a:tc>
                  <a:txBody>
                    <a:bodyPr/>
                    <a:lstStyle/>
                    <a:p>
                      <a:r>
                        <a:rPr sz="1100">
                          <a:solidFill>
                            <a:srgbClr val="2C3B47"/>
                          </a:solidFill>
                          <a:latin typeface="Segoe UI"/>
                        </a:rPr>
                        <a:t>inserts / queries / updates / etc.</a:t>
                      </a:r>
                    </a:p>
                  </a:txBody>
                  <a:tcPr>
                    <a:solidFill>
                      <a:srgbClr val="E6EFF4"/>
                    </a:solidFill>
                  </a:tcPr>
                </a:tc>
                <a:tc>
                  <a:txBody>
                    <a:bodyPr/>
                    <a:lstStyle/>
                    <a:p>
                      <a:r>
                        <a:rPr sz="1100">
                          <a:solidFill>
                            <a:srgbClr val="2C3B47"/>
                          </a:solidFill>
                          <a:latin typeface="Segoe UI"/>
                        </a:rPr>
                        <a:t>Operations</a:t>
                      </a:r>
                    </a:p>
                  </a:txBody>
                  <a:tcPr>
                    <a:solidFill>
                      <a:srgbClr val="E6EFF4"/>
                    </a:solidFill>
                  </a:tcPr>
                </a:tc>
              </a:tr>
              <a:tr h="457200">
                <a:tc>
                  <a:txBody>
                    <a:bodyPr/>
                    <a:lstStyle/>
                    <a:p>
                      <a:r>
                        <a:rPr sz="1100">
                          <a:solidFill>
                            <a:srgbClr val="2C3B47"/>
                          </a:solidFill>
                          <a:latin typeface="Segoe UI"/>
                        </a:rPr>
                        <a:t>Replica set state</a:t>
                      </a:r>
                    </a:p>
                  </a:txBody>
                  <a:tcPr>
                    <a:solidFill>
                      <a:srgbClr val="FFFFFF"/>
                    </a:solidFill>
                  </a:tcPr>
                </a:tc>
                <a:tc>
                  <a:txBody>
                    <a:bodyPr/>
                    <a:lstStyle/>
                    <a:p>
                      <a:r>
                        <a:rPr sz="1100">
                          <a:solidFill>
                            <a:srgbClr val="2C3B47"/>
                          </a:solidFill>
                          <a:latin typeface="Segoe UI"/>
                        </a:rPr>
                        <a:t>primary / secondary health</a:t>
                      </a:r>
                    </a:p>
                  </a:txBody>
                  <a:tcPr>
                    <a:solidFill>
                      <a:srgbClr val="FFFFFF"/>
                    </a:solidFill>
                  </a:tcPr>
                </a:tc>
                <a:tc>
                  <a:txBody>
                    <a:bodyPr/>
                    <a:lstStyle/>
                    <a:p>
                      <a:r>
                        <a:rPr sz="1100">
                          <a:solidFill>
                            <a:srgbClr val="2C3B47"/>
                          </a:solidFill>
                          <a:latin typeface="Segoe UI"/>
                        </a:rPr>
                        <a:t>Replication</a:t>
                      </a:r>
                    </a:p>
                  </a:txBody>
                  <a:tcPr>
                    <a:solidFill>
                      <a:srgbClr val="FFFFFF"/>
                    </a:solidFill>
                  </a:tcPr>
                </a:tc>
              </a:tr>
              <a:tr h="457200">
                <a:tc>
                  <a:txBody>
                    <a:bodyPr/>
                    <a:lstStyle/>
                    <a:p>
                      <a:r>
                        <a:rPr sz="1100">
                          <a:solidFill>
                            <a:srgbClr val="2C3B47"/>
                          </a:solidFill>
                          <a:latin typeface="Segoe UI"/>
                        </a:rPr>
                        <a:t>Oplog window</a:t>
                      </a:r>
                    </a:p>
                  </a:txBody>
                  <a:tcPr>
                    <a:solidFill>
                      <a:srgbClr val="E6EFF4"/>
                    </a:solidFill>
                  </a:tcPr>
                </a:tc>
                <a:tc>
                  <a:txBody>
                    <a:bodyPr/>
                    <a:lstStyle/>
                    <a:p>
                      <a:r>
                        <a:rPr sz="1100">
                          <a:solidFill>
                            <a:srgbClr val="2C3B47"/>
                          </a:solidFill>
                          <a:latin typeface="Segoe UI"/>
                        </a:rPr>
                        <a:t>how much history is retained</a:t>
                      </a:r>
                    </a:p>
                  </a:txBody>
                  <a:tcPr>
                    <a:solidFill>
                      <a:srgbClr val="E6EFF4"/>
                    </a:solidFill>
                  </a:tcPr>
                </a:tc>
                <a:tc>
                  <a:txBody>
                    <a:bodyPr/>
                    <a:lstStyle/>
                    <a:p>
                      <a:r>
                        <a:rPr sz="1100">
                          <a:solidFill>
                            <a:srgbClr val="2C3B47"/>
                          </a:solidFill>
                          <a:latin typeface="Segoe UI"/>
                        </a:rPr>
                        <a:t>Oplog</a:t>
                      </a:r>
                    </a:p>
                  </a:txBody>
                  <a:tcPr>
                    <a:solidFill>
                      <a:srgbClr val="E6EFF4"/>
                    </a:solidFill>
                  </a:tcPr>
                </a:tc>
              </a:tr>
              <a:tr h="457200">
                <a:tc>
                  <a:txBody>
                    <a:bodyPr/>
                    <a:lstStyle/>
                    <a:p>
                      <a:r>
                        <a:rPr sz="1100">
                          <a:solidFill>
                            <a:srgbClr val="2C3B47"/>
                          </a:solidFill>
                          <a:latin typeface="Segoe UI"/>
                        </a:rPr>
                        <a:t>WiredTiger cache</a:t>
                      </a:r>
                    </a:p>
                  </a:txBody>
                  <a:tcPr>
                    <a:solidFill>
                      <a:srgbClr val="FFFFFF"/>
                    </a:solidFill>
                  </a:tcPr>
                </a:tc>
                <a:tc>
                  <a:txBody>
                    <a:bodyPr/>
                    <a:lstStyle/>
                    <a:p>
                      <a:r>
                        <a:rPr sz="1100">
                          <a:solidFill>
                            <a:srgbClr val="2C3B47"/>
                          </a:solidFill>
                          <a:latin typeface="Segoe UI"/>
                        </a:rPr>
                        <a:t>memory used by the engine</a:t>
                      </a:r>
                    </a:p>
                  </a:txBody>
                  <a:tcPr>
                    <a:solidFill>
                      <a:srgbClr val="FFFFFF"/>
                    </a:solidFill>
                  </a:tcPr>
                </a:tc>
                <a:tc>
                  <a:txBody>
                    <a:bodyPr/>
                    <a:lstStyle/>
                    <a:p>
                      <a:r>
                        <a:rPr sz="1100">
                          <a:solidFill>
                            <a:srgbClr val="2C3B47"/>
                          </a:solidFill>
                          <a:latin typeface="Segoe UI"/>
                        </a:rPr>
                        <a:t>WiredTiger</a:t>
                      </a:r>
                    </a:p>
                  </a:txBody>
                  <a:tcPr>
                    <a:solidFill>
                      <a:srgbClr val="FFFFFF"/>
                    </a:solidFill>
                  </a:tcPr>
                </a:tc>
              </a:tr>
              <a:tr h="457200">
                <a:tc>
                  <a:txBody>
                    <a:bodyPr/>
                    <a:lstStyle/>
                    <a:p>
                      <a:r>
                        <a:rPr sz="1100">
                          <a:solidFill>
                            <a:srgbClr val="2C3B47"/>
                          </a:solidFill>
                          <a:latin typeface="Segoe UI"/>
                        </a:rPr>
                        <a:t>Slow operations</a:t>
                      </a:r>
                    </a:p>
                  </a:txBody>
                  <a:tcPr>
                    <a:solidFill>
                      <a:srgbClr val="E6EFF4"/>
                    </a:solidFill>
                  </a:tcPr>
                </a:tc>
                <a:tc>
                  <a:txBody>
                    <a:bodyPr/>
                    <a:lstStyle/>
                    <a:p>
                      <a:r>
                        <a:rPr sz="1100">
                          <a:solidFill>
                            <a:srgbClr val="2C3B47"/>
                          </a:solidFill>
                          <a:latin typeface="Segoe UI"/>
                        </a:rPr>
                        <a:t>commands running too long</a:t>
                      </a:r>
                    </a:p>
                  </a:txBody>
                  <a:tcPr>
                    <a:solidFill>
                      <a:srgbClr val="E6EFF4"/>
                    </a:solidFill>
                  </a:tcPr>
                </a:tc>
                <a:tc>
                  <a:txBody>
                    <a:bodyPr/>
                    <a:lstStyle/>
                    <a:p>
                      <a:r>
                        <a:rPr sz="1100">
                          <a:solidFill>
                            <a:srgbClr val="2C3B47"/>
                          </a:solidFill>
                          <a:latin typeface="Segoe UI"/>
                        </a:rPr>
                        <a:t>Profiler / Slow Queries</a:t>
                      </a:r>
                    </a:p>
                  </a:txBody>
                  <a:tcPr>
                    <a:solidFill>
                      <a:srgbClr val="E6EFF4"/>
                    </a:solidFill>
                  </a:tcPr>
                </a:tc>
              </a:tr>
            </a:tbl>
          </a:graphicData>
        </a:graphic>
      </p:graphicFrame>
      <p:sp>
        <p:nvSpPr>
          <p:cNvPr id="9" name="TextBox 8"/>
          <p:cNvSpPr txBox="1"/>
          <p:nvPr/>
        </p:nvSpPr>
        <p:spPr>
          <a:xfrm>
            <a:off x="502920" y="6473952"/>
            <a:ext cx="8229600" cy="274320"/>
          </a:xfrm>
          <a:prstGeom prst="rect">
            <a:avLst/>
          </a:prstGeom>
          <a:noFill/>
        </p:spPr>
        <p:txBody>
          <a:bodyPr wrap="square">
            <a:spAutoFit/>
          </a:bodyPr>
          <a:lstStyle/>
          <a:p>
            <a:pPr algn="l"/>
            <a:r>
              <a:rPr sz="900" b="0">
                <a:solidFill>
                  <a:srgbClr val="5E6B76"/>
                </a:solidFill>
                <a:latin typeface="Segoe UI"/>
              </a:rPr>
              <a:t>Actmon  ·  MongoDB Monitoring</a:t>
            </a:r>
          </a:p>
        </p:txBody>
      </p:sp>
      <p:sp>
        <p:nvSpPr>
          <p:cNvPr id="10" name="TextBox 9"/>
          <p:cNvSpPr txBox="1"/>
          <p:nvPr/>
        </p:nvSpPr>
        <p:spPr>
          <a:xfrm>
            <a:off x="11155680" y="6473952"/>
            <a:ext cx="822960" cy="274320"/>
          </a:xfrm>
          <a:prstGeom prst="rect">
            <a:avLst/>
          </a:prstGeom>
          <a:noFill/>
        </p:spPr>
        <p:txBody>
          <a:bodyPr wrap="square">
            <a:spAutoFit/>
          </a:bodyPr>
          <a:lstStyle/>
          <a:p>
            <a:pPr algn="r"/>
            <a:r>
              <a:rPr sz="900" b="0">
                <a:solidFill>
                  <a:srgbClr val="5E6B76"/>
                </a:solidFill>
                <a:latin typeface="Segoe UI"/>
              </a:rPr>
              <a:t>16</a:t>
            </a:r>
          </a:p>
        </p:txBody>
      </p:sp>
    </p:spTree>
  </p:cSld>
  <p:clrMapOvr>
    <a:masterClrMapping/>
  </p:clrMapOvr>
</p:sld>
</file>

<file path=ppt/slides/slide17.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F4F1EA"/>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Oval 2"/>
          <p:cNvSpPr/>
          <p:nvPr/>
        </p:nvSpPr>
        <p:spPr>
          <a:xfrm>
            <a:off x="9448495" y="-1554480"/>
            <a:ext cx="4206240" cy="4206240"/>
          </a:xfrm>
          <a:prstGeom prst="ellipse">
            <a:avLst/>
          </a:prstGeom>
          <a:solidFill>
            <a:srgbClr val="DCEEEE"/>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Oval 3"/>
          <p:cNvSpPr/>
          <p:nvPr/>
        </p:nvSpPr>
        <p:spPr>
          <a:xfrm>
            <a:off x="-1645920" y="4297680"/>
            <a:ext cx="4023360" cy="4023360"/>
          </a:xfrm>
          <a:prstGeom prst="ellipse">
            <a:avLst/>
          </a:prstGeom>
          <a:solidFill>
            <a:srgbClr val="DCEEEE"/>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 name="TextBox 4"/>
          <p:cNvSpPr txBox="1"/>
          <p:nvPr/>
        </p:nvSpPr>
        <p:spPr>
          <a:xfrm>
            <a:off x="548640" y="457200"/>
            <a:ext cx="10972800" cy="640080"/>
          </a:xfrm>
          <a:prstGeom prst="rect">
            <a:avLst/>
          </a:prstGeom>
          <a:noFill/>
        </p:spPr>
        <p:txBody>
          <a:bodyPr wrap="square">
            <a:spAutoFit/>
          </a:bodyPr>
          <a:lstStyle/>
          <a:p>
            <a:pPr algn="l"/>
            <a:r>
              <a:rPr sz="2900" b="1">
                <a:solidFill>
                  <a:srgbClr val="1C4966"/>
                </a:solidFill>
                <a:latin typeface="Segoe UI"/>
              </a:rPr>
              <a:t>SUMMARY</a:t>
            </a:r>
          </a:p>
        </p:txBody>
      </p:sp>
      <p:sp>
        <p:nvSpPr>
          <p:cNvPr id="6" name="Rectangle 5"/>
          <p:cNvSpPr/>
          <p:nvPr/>
        </p:nvSpPr>
        <p:spPr>
          <a:xfrm>
            <a:off x="603504" y="1207008"/>
            <a:ext cx="1463040" cy="54864"/>
          </a:xfrm>
          <a:prstGeom prst="rect">
            <a:avLst/>
          </a:prstGeom>
          <a:solidFill>
            <a:srgbClr val="1C4966"/>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TextBox 6"/>
          <p:cNvSpPr txBox="1"/>
          <p:nvPr/>
        </p:nvSpPr>
        <p:spPr>
          <a:xfrm>
            <a:off x="566928" y="1371600"/>
            <a:ext cx="11064240" cy="457200"/>
          </a:xfrm>
          <a:prstGeom prst="rect">
            <a:avLst/>
          </a:prstGeom>
          <a:noFill/>
        </p:spPr>
        <p:txBody>
          <a:bodyPr wrap="square">
            <a:spAutoFit/>
          </a:bodyPr>
          <a:lstStyle/>
          <a:p>
            <a:pPr algn="l"/>
            <a:r>
              <a:rPr sz="1300" b="0">
                <a:solidFill>
                  <a:srgbClr val="2C3B47"/>
                </a:solidFill>
                <a:latin typeface="Segoe UI"/>
              </a:rPr>
              <a:t>One screen to monitor, analyse and protect MongoDB.</a:t>
            </a:r>
          </a:p>
        </p:txBody>
      </p:sp>
      <p:sp>
        <p:nvSpPr>
          <p:cNvPr id="8" name="Rounded Rectangle 7"/>
          <p:cNvSpPr/>
          <p:nvPr/>
        </p:nvSpPr>
        <p:spPr>
          <a:xfrm>
            <a:off x="548640" y="1965960"/>
            <a:ext cx="5417820" cy="1965960"/>
          </a:xfrm>
          <a:prstGeom prst="roundRect">
            <a:avLst/>
          </a:prstGeom>
          <a:solidFill>
            <a:srgbClr val="6E98AF"/>
          </a:solidFill>
          <a:ln>
            <a:noFill/>
          </a:ln>
          <a:effectLst/>
        </p:spPr>
        <p:style>
          <a:lnRef idx="1">
            <a:schemeClr val="accent1"/>
          </a:lnRef>
          <a:fillRef idx="3">
            <a:schemeClr val="accent1"/>
          </a:fillRef>
          <a:effectRef idx="2">
            <a:schemeClr val="accent1"/>
          </a:effectRef>
          <a:fontRef idx="minor">
            <a:schemeClr val="lt1"/>
          </a:fontRef>
        </p:style>
        <p:txBody>
          <a:bodyPr rtlCol="0" anchor="t" wrap="square" lIns="256032" rIns="237744" tIns="146304"/>
          <a:lstStyle/>
          <a:p>
            <a:pPr algn="l"/>
            <a:r>
              <a:rPr sz="1800" b="1">
                <a:solidFill>
                  <a:srgbClr val="D7E6EF"/>
                </a:solidFill>
                <a:latin typeface="Segoe UI"/>
              </a:rPr>
              <a:t>01   </a:t>
            </a:r>
            <a:r>
              <a:rPr sz="1400" b="1">
                <a:solidFill>
                  <a:srgbClr val="FFFFFF"/>
                </a:solidFill>
                <a:latin typeface="Segoe UI"/>
              </a:rPr>
              <a:t>Monitor everything</a:t>
            </a:r>
          </a:p>
          <a:p>
            <a:pPr algn="l">
              <a:spcBef>
                <a:spcPts val="400"/>
              </a:spcBef>
            </a:pPr>
            <a:r>
              <a:rPr sz="1100" b="0">
                <a:solidFill>
                  <a:srgbClr val="FFFFFF"/>
                </a:solidFill>
                <a:latin typeface="Segoe UI"/>
              </a:rPr>
              <a:t>Operations, collections, indexes, replication, oplog, sharding, transactions and WiredTiger — all live in one place.</a:t>
            </a:r>
          </a:p>
        </p:txBody>
      </p:sp>
      <p:sp>
        <p:nvSpPr>
          <p:cNvPr id="9" name="Rounded Rectangle 8"/>
          <p:cNvSpPr/>
          <p:nvPr/>
        </p:nvSpPr>
        <p:spPr>
          <a:xfrm>
            <a:off x="6240780" y="1965960"/>
            <a:ext cx="5417820" cy="1965960"/>
          </a:xfrm>
          <a:prstGeom prst="roundRect">
            <a:avLst/>
          </a:prstGeom>
          <a:solidFill>
            <a:srgbClr val="4F809C"/>
          </a:solidFill>
          <a:ln>
            <a:noFill/>
          </a:ln>
          <a:effectLst/>
        </p:spPr>
        <p:style>
          <a:lnRef idx="1">
            <a:schemeClr val="accent1"/>
          </a:lnRef>
          <a:fillRef idx="3">
            <a:schemeClr val="accent1"/>
          </a:fillRef>
          <a:effectRef idx="2">
            <a:schemeClr val="accent1"/>
          </a:effectRef>
          <a:fontRef idx="minor">
            <a:schemeClr val="lt1"/>
          </a:fontRef>
        </p:style>
        <p:txBody>
          <a:bodyPr rtlCol="0" anchor="t" wrap="square" lIns="256032" rIns="237744" tIns="146304"/>
          <a:lstStyle/>
          <a:p>
            <a:pPr algn="l"/>
            <a:r>
              <a:rPr sz="1800" b="1">
                <a:solidFill>
                  <a:srgbClr val="D7E6EF"/>
                </a:solidFill>
                <a:latin typeface="Segoe UI"/>
              </a:rPr>
              <a:t>02   </a:t>
            </a:r>
            <a:r>
              <a:rPr sz="1400" b="1">
                <a:solidFill>
                  <a:srgbClr val="FFFFFF"/>
                </a:solidFill>
                <a:latin typeface="Segoe UI"/>
              </a:rPr>
              <a:t>Find slow work</a:t>
            </a:r>
          </a:p>
          <a:p>
            <a:pPr algn="l">
              <a:spcBef>
                <a:spcPts val="400"/>
              </a:spcBef>
            </a:pPr>
            <a:r>
              <a:rPr sz="1100" b="0">
                <a:solidFill>
                  <a:srgbClr val="FFFFFF"/>
                </a:solidFill>
                <a:latin typeface="Segoe UI"/>
              </a:rPr>
              <a:t>The profiler and slow-operation views point straight at the commands that are dragging down performance.</a:t>
            </a:r>
          </a:p>
        </p:txBody>
      </p:sp>
      <p:sp>
        <p:nvSpPr>
          <p:cNvPr id="10" name="Rounded Rectangle 9"/>
          <p:cNvSpPr/>
          <p:nvPr/>
        </p:nvSpPr>
        <p:spPr>
          <a:xfrm>
            <a:off x="548640" y="4206240"/>
            <a:ext cx="5417820" cy="1965960"/>
          </a:xfrm>
          <a:prstGeom prst="roundRect">
            <a:avLst/>
          </a:prstGeom>
          <a:solidFill>
            <a:srgbClr val="3A6A88"/>
          </a:solidFill>
          <a:ln>
            <a:noFill/>
          </a:ln>
          <a:effectLst/>
        </p:spPr>
        <p:style>
          <a:lnRef idx="1">
            <a:schemeClr val="accent1"/>
          </a:lnRef>
          <a:fillRef idx="3">
            <a:schemeClr val="accent1"/>
          </a:fillRef>
          <a:effectRef idx="2">
            <a:schemeClr val="accent1"/>
          </a:effectRef>
          <a:fontRef idx="minor">
            <a:schemeClr val="lt1"/>
          </a:fontRef>
        </p:style>
        <p:txBody>
          <a:bodyPr rtlCol="0" anchor="t" wrap="square" lIns="256032" rIns="237744" tIns="146304"/>
          <a:lstStyle/>
          <a:p>
            <a:pPr algn="l"/>
            <a:r>
              <a:rPr sz="1800" b="1">
                <a:solidFill>
                  <a:srgbClr val="D7E6EF"/>
                </a:solidFill>
                <a:latin typeface="Segoe UI"/>
              </a:rPr>
              <a:t>03   </a:t>
            </a:r>
            <a:r>
              <a:rPr sz="1400" b="1">
                <a:solidFill>
                  <a:srgbClr val="FFFFFF"/>
                </a:solidFill>
                <a:latin typeface="Segoe UI"/>
              </a:rPr>
              <a:t>Understand with AI</a:t>
            </a:r>
          </a:p>
          <a:p>
            <a:pPr algn="l">
              <a:spcBef>
                <a:spcPts val="400"/>
              </a:spcBef>
            </a:pPr>
            <a:r>
              <a:rPr sz="1100" b="0">
                <a:solidFill>
                  <a:srgbClr val="FFFFFF"/>
                </a:solidFill>
                <a:latin typeface="Segoe UI"/>
              </a:rPr>
              <a:t>AI explains errors and operations in plain language, available to the whole team.</a:t>
            </a:r>
          </a:p>
        </p:txBody>
      </p:sp>
      <p:sp>
        <p:nvSpPr>
          <p:cNvPr id="11" name="Rounded Rectangle 10"/>
          <p:cNvSpPr/>
          <p:nvPr/>
        </p:nvSpPr>
        <p:spPr>
          <a:xfrm>
            <a:off x="6240780" y="4206240"/>
            <a:ext cx="5417820" cy="1965960"/>
          </a:xfrm>
          <a:prstGeom prst="roundRect">
            <a:avLst/>
          </a:prstGeom>
          <a:solidFill>
            <a:srgbClr val="2A5573"/>
          </a:solidFill>
          <a:ln>
            <a:noFill/>
          </a:ln>
          <a:effectLst/>
        </p:spPr>
        <p:style>
          <a:lnRef idx="1">
            <a:schemeClr val="accent1"/>
          </a:lnRef>
          <a:fillRef idx="3">
            <a:schemeClr val="accent1"/>
          </a:fillRef>
          <a:effectRef idx="2">
            <a:schemeClr val="accent1"/>
          </a:effectRef>
          <a:fontRef idx="minor">
            <a:schemeClr val="lt1"/>
          </a:fontRef>
        </p:style>
        <p:txBody>
          <a:bodyPr rtlCol="0" anchor="t" wrap="square" lIns="256032" rIns="237744" tIns="146304"/>
          <a:lstStyle/>
          <a:p>
            <a:pPr algn="l"/>
            <a:r>
              <a:rPr sz="1800" b="1">
                <a:solidFill>
                  <a:srgbClr val="D7E6EF"/>
                </a:solidFill>
                <a:latin typeface="Segoe UI"/>
              </a:rPr>
              <a:t>04   </a:t>
            </a:r>
            <a:r>
              <a:rPr sz="1400" b="1">
                <a:solidFill>
                  <a:srgbClr val="FFFFFF"/>
                </a:solidFill>
                <a:latin typeface="Segoe UI"/>
              </a:rPr>
              <a:t>Protect &amp; govern</a:t>
            </a:r>
          </a:p>
          <a:p>
            <a:pPr algn="l">
              <a:spcBef>
                <a:spcPts val="400"/>
              </a:spcBef>
            </a:pPr>
            <a:r>
              <a:rPr sz="1100" b="0">
                <a:solidFill>
                  <a:srgbClr val="FFFFFF"/>
                </a:solidFill>
                <a:latin typeface="Segoe UI"/>
              </a:rPr>
              <a:t>Backups keep data safe and role-based access ensures each user only sees and does what their role allows.</a:t>
            </a:r>
          </a:p>
        </p:txBody>
      </p:sp>
      <p:sp>
        <p:nvSpPr>
          <p:cNvPr id="12" name="TextBox 11"/>
          <p:cNvSpPr txBox="1"/>
          <p:nvPr/>
        </p:nvSpPr>
        <p:spPr>
          <a:xfrm>
            <a:off x="502920" y="6473952"/>
            <a:ext cx="8229600" cy="274320"/>
          </a:xfrm>
          <a:prstGeom prst="rect">
            <a:avLst/>
          </a:prstGeom>
          <a:noFill/>
        </p:spPr>
        <p:txBody>
          <a:bodyPr wrap="square">
            <a:spAutoFit/>
          </a:bodyPr>
          <a:lstStyle/>
          <a:p>
            <a:pPr algn="l"/>
            <a:r>
              <a:rPr sz="900" b="0">
                <a:solidFill>
                  <a:srgbClr val="5E6B76"/>
                </a:solidFill>
                <a:latin typeface="Segoe UI"/>
              </a:rPr>
              <a:t>Actmon  ·  MongoDB Monitoring</a:t>
            </a:r>
          </a:p>
        </p:txBody>
      </p:sp>
      <p:sp>
        <p:nvSpPr>
          <p:cNvPr id="13" name="TextBox 12"/>
          <p:cNvSpPr txBox="1"/>
          <p:nvPr/>
        </p:nvSpPr>
        <p:spPr>
          <a:xfrm>
            <a:off x="11155680" y="6473952"/>
            <a:ext cx="822960" cy="274320"/>
          </a:xfrm>
          <a:prstGeom prst="rect">
            <a:avLst/>
          </a:prstGeom>
          <a:noFill/>
        </p:spPr>
        <p:txBody>
          <a:bodyPr wrap="square">
            <a:spAutoFit/>
          </a:bodyPr>
          <a:lstStyle/>
          <a:p>
            <a:pPr algn="r"/>
            <a:r>
              <a:rPr sz="900" b="0">
                <a:solidFill>
                  <a:srgbClr val="5E6B76"/>
                </a:solidFill>
                <a:latin typeface="Segoe UI"/>
              </a:rPr>
              <a:t>17</a:t>
            </a:r>
          </a:p>
        </p:txBody>
      </p:sp>
    </p:spTree>
  </p:cSld>
  <p:clrMapOvr>
    <a:masterClrMapping/>
  </p:clrMapOvr>
</p:sld>
</file>

<file path=ppt/theme/theme1.xml><?xml version="1.0" encoding="utf-8"?>
<a:theme xmlns:a="http://schemas.openxmlformats.org/drawingml/2006/main" name="Office Theme">
  <a:themeElements>
    <a:clrScheme name="Office">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spDef>
      <a:spPr/>
      <a:bodyPr/>
      <a:lstStyle/>
      <a:style>
        <a:lnRef idx="1">
          <a:schemeClr val="accent1"/>
        </a:lnRef>
        <a:fillRef idx="3">
          <a:schemeClr val="accent1"/>
        </a:fillRef>
        <a:effectRef idx="2">
          <a:schemeClr val="accent1"/>
        </a:effectRef>
        <a:fontRef idx="minor">
          <a:schemeClr val="lt1"/>
        </a:fontRef>
      </a:style>
    </a:spDef>
    <a:lnDef>
      <a:spPr/>
      <a:bodyPr/>
      <a:lstStyle/>
      <a:style>
        <a:lnRef idx="2">
          <a:schemeClr val="accent1"/>
        </a:lnRef>
        <a:fillRef idx="0">
          <a:schemeClr val="accent1"/>
        </a:fillRef>
        <a:effectRef idx="1">
          <a:schemeClr val="accent1"/>
        </a:effectRef>
        <a:fontRef idx="minor">
          <a:schemeClr val="tx1"/>
        </a:fontRef>
      </a:style>
    </a:lnDef>
  </a:objectDefaults>
  <a:extraClrSchemeLst/>
</a:theme>
</file>

<file path=docProps/app.xml><?xml version="1.0" encoding="utf-8"?>
<Properties xmlns="http://schemas.openxmlformats.org/officeDocument/2006/extended-properties" xmlns:vt="http://schemas.openxmlformats.org/officeDocument/2006/docPropsVTypes">
  <TotalTime>1</TotalTime>
  <Words>0</Words>
  <Application>Microsoft Macintosh PowerPoint</Application>
  <PresentationFormat>On-screen Show (4:3)</PresentationFormat>
  <Paragraphs>0</Paragraphs>
  <Slides>0</Slides>
  <Notes>0</Notes>
  <HiddenSlides>0</HiddenSlides>
  <MMClips>0</MMClips>
  <ScaleCrop>false</ScaleCrop>
  <HeadingPairs>
    <vt:vector size="4" baseType="variant">
      <vt:variant>
        <vt:lpstr>Theme</vt:lpstr>
      </vt:variant>
      <vt:variant>
        <vt:i4>1</vt:i4>
      </vt:variant>
      <vt:variant>
        <vt:lpstr>Slide Titles</vt:lpstr>
      </vt:variant>
      <vt:variant>
        <vt:i4>0</vt:i4>
      </vt:variant>
    </vt:vector>
  </HeadingPairs>
  <TitlesOfParts>
    <vt:vector size="1" baseType="lpstr">
      <vt:lpstr>Office Theme</vt:lpstr>
    </vt:vector>
  </TitlesOfParts>
  <Manager/>
  <Company/>
  <LinksUpToDate>false</LinksUpToDate>
  <SharedDoc>false</SharedDoc>
  <HyperlinkBase/>
  <HyperlinksChanged>false</HyperlinksChanged>
  <AppVersion>14.0000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
  <dc:subject/>
  <dc:creator/>
  <cp:keywords/>
  <dc:description>generated using python-pptx</dc:description>
  <cp:lastModifiedBy>Steve Canny</cp:lastModifiedBy>
  <cp:revision>1</cp:revision>
  <dcterms:created xsi:type="dcterms:W3CDTF">2013-01-27T09:14:16Z</dcterms:created>
  <dcterms:modified xsi:type="dcterms:W3CDTF">2013-01-27T09:15:58Z</dcterms:modified>
  <cp:category/>
</cp:coreProperties>
</file>