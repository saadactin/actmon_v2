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448495" y="-1554480"/>
            <a:ext cx="4206240" cy="4206240"/>
          </a:xfrm>
          <a:prstGeom prst="ellipse">
            <a:avLst/>
          </a:prstGeom>
          <a:solidFill>
            <a:srgbClr val="DC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297680"/>
            <a:ext cx="4023360" cy="4023360"/>
          </a:xfrm>
          <a:prstGeom prst="ellipse">
            <a:avLst/>
          </a:prstGeom>
          <a:solidFill>
            <a:srgbClr val="DC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502920"/>
            <a:ext cx="5486400" cy="365760"/>
          </a:xfrm>
          <a:prstGeom prst="rect">
            <a:avLst/>
          </a:prstGeom>
          <a:noFill/>
        </p:spPr>
        <p:txBody>
          <a:bodyPr wrap="square">
            <a:spAutoFit/>
          </a:bodyPr>
          <a:lstStyle/>
          <a:p>
            <a:pPr algn="l"/>
            <a:r>
              <a:rPr sz="1300" b="1">
                <a:solidFill>
                  <a:srgbClr val="1C4966"/>
                </a:solidFill>
                <a:latin typeface="Segoe UI"/>
              </a:rPr>
              <a:t>● ACTMON</a:t>
            </a:r>
          </a:p>
        </p:txBody>
      </p:sp>
      <p:sp>
        <p:nvSpPr>
          <p:cNvPr id="6" name="TextBox 5"/>
          <p:cNvSpPr txBox="1"/>
          <p:nvPr/>
        </p:nvSpPr>
        <p:spPr>
          <a:xfrm>
            <a:off x="548640" y="1737360"/>
            <a:ext cx="10058400" cy="2194560"/>
          </a:xfrm>
          <a:prstGeom prst="rect">
            <a:avLst/>
          </a:prstGeom>
          <a:noFill/>
        </p:spPr>
        <p:txBody>
          <a:bodyPr wrap="square">
            <a:spAutoFit/>
          </a:bodyPr>
          <a:lstStyle/>
          <a:p>
            <a:pPr algn="l"/>
            <a:r>
              <a:rPr sz="5000" b="1">
                <a:solidFill>
                  <a:srgbClr val="1C4966"/>
                </a:solidFill>
                <a:latin typeface="Segoe UI"/>
              </a:rPr>
              <a:t>POSTGRESQL
MONITORING</a:t>
            </a:r>
          </a:p>
        </p:txBody>
      </p:sp>
      <p:sp>
        <p:nvSpPr>
          <p:cNvPr id="7" name="Rectangle 6"/>
          <p:cNvSpPr/>
          <p:nvPr/>
        </p:nvSpPr>
        <p:spPr>
          <a:xfrm>
            <a:off x="603504" y="4069080"/>
            <a:ext cx="2377440" cy="73152"/>
          </a:xfrm>
          <a:prstGeom prst="rect">
            <a:avLst/>
          </a:prstGeom>
          <a:solidFill>
            <a:srgbClr val="1C49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297680"/>
            <a:ext cx="10607040" cy="1828800"/>
          </a:xfrm>
          <a:prstGeom prst="rect">
            <a:avLst/>
          </a:prstGeom>
          <a:noFill/>
        </p:spPr>
        <p:txBody>
          <a:bodyPr wrap="square">
            <a:spAutoFit/>
          </a:bodyPr>
          <a:lstStyle/>
          <a:p>
            <a:pPr algn="l"/>
            <a:r>
              <a:rPr sz="1600" b="0">
                <a:solidFill>
                  <a:srgbClr val="2C3B47"/>
                </a:solidFill>
                <a:latin typeface="Segoe UI"/>
              </a:rPr>
              <a:t>Watch your PostgreSQL database and its server in real time — track every metric, analyse slow queries with AI, and find the cause of any problem from one screen.</a:t>
            </a:r>
          </a:p>
        </p:txBody>
      </p:sp>
      <p:sp>
        <p:nvSpPr>
          <p:cNvPr id="9" name="TextBox 8"/>
          <p:cNvSpPr txBox="1"/>
          <p:nvPr/>
        </p:nvSpPr>
        <p:spPr>
          <a:xfrm>
            <a:off x="502920" y="6473952"/>
            <a:ext cx="8229600" cy="274320"/>
          </a:xfrm>
          <a:prstGeom prst="rect">
            <a:avLst/>
          </a:prstGeom>
          <a:noFill/>
        </p:spPr>
        <p:txBody>
          <a:bodyPr wrap="square">
            <a:spAutoFit/>
          </a:bodyPr>
          <a:lstStyle/>
          <a:p>
            <a:pPr algn="l"/>
            <a:r>
              <a:rPr sz="900" b="0">
                <a:solidFill>
                  <a:srgbClr val="5E6B76"/>
                </a:solidFill>
                <a:latin typeface="Segoe UI"/>
              </a:rPr>
              <a:t>Actmon  ·  PostgreSQL Monitoring</a:t>
            </a:r>
          </a:p>
        </p:txBody>
      </p:sp>
      <p:sp>
        <p:nvSpPr>
          <p:cNvPr id="10" name="TextBox 9"/>
          <p:cNvSpPr txBox="1"/>
          <p:nvPr/>
        </p:nvSpPr>
        <p:spPr>
          <a:xfrm>
            <a:off x="11155680" y="6473952"/>
            <a:ext cx="822960" cy="274320"/>
          </a:xfrm>
          <a:prstGeom prst="rect">
            <a:avLst/>
          </a:prstGeom>
          <a:noFill/>
        </p:spPr>
        <p:txBody>
          <a:bodyPr wrap="square">
            <a:spAutoFit/>
          </a:bodyPr>
          <a:lstStyle/>
          <a:p>
            <a:pPr algn="r"/>
            <a:r>
              <a:rPr sz="900" b="0">
                <a:solidFill>
                  <a:srgbClr val="5E6B76"/>
                </a:solidFill>
                <a:latin typeface="Segoe UI"/>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448495" y="-1554480"/>
            <a:ext cx="4206240" cy="4206240"/>
          </a:xfrm>
          <a:prstGeom prst="ellipse">
            <a:avLst/>
          </a:prstGeom>
          <a:solidFill>
            <a:srgbClr val="DC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297680"/>
            <a:ext cx="4023360" cy="4023360"/>
          </a:xfrm>
          <a:prstGeom prst="ellipse">
            <a:avLst/>
          </a:prstGeom>
          <a:solidFill>
            <a:srgbClr val="DC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1051560"/>
            <a:ext cx="4983480" cy="4846320"/>
          </a:xfrm>
          <a:prstGeom prst="roundRect">
            <a:avLst/>
          </a:prstGeom>
          <a:solidFill>
            <a:srgbClr val="B9D4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10896" rIns="274320"/>
          <a:lstStyle/>
          <a:p>
            <a:pPr algn="l"/>
            <a:r>
              <a:rPr sz="2700" b="1">
                <a:solidFill>
                  <a:srgbClr val="1C4966"/>
                </a:solidFill>
                <a:latin typeface="Segoe UI"/>
              </a:rPr>
              <a:t>WHAT IS ACTMON?</a:t>
            </a:r>
          </a:p>
          <a:p>
            <a:pPr algn="l">
              <a:spcBef>
                <a:spcPts val="1000"/>
              </a:spcBef>
            </a:pPr>
            <a:r>
              <a:rPr sz="1250" b="0">
                <a:solidFill>
                  <a:srgbClr val="1C4966"/>
                </a:solidFill>
                <a:latin typeface="Segoe UI"/>
              </a:rPr>
              <a:t>Actmon is a real-time monitoring dashboard for PostgreSQL. Instead of logging into the server and running commands, your team sees the database's health, performance and the host machine in one place — in plain language anyone can follow.</a:t>
            </a:r>
          </a:p>
        </p:txBody>
      </p:sp>
      <p:sp>
        <p:nvSpPr>
          <p:cNvPr id="6" name="Rectangle 5"/>
          <p:cNvSpPr/>
          <p:nvPr/>
        </p:nvSpPr>
        <p:spPr>
          <a:xfrm>
            <a:off x="6355080" y="1234440"/>
            <a:ext cx="27432" cy="4663440"/>
          </a:xfrm>
          <a:prstGeom prst="rect">
            <a:avLst/>
          </a:prstGeom>
          <a:solidFill>
            <a:srgbClr val="1C49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91072" y="1344168"/>
            <a:ext cx="155448" cy="155448"/>
          </a:xfrm>
          <a:prstGeom prst="ellipse">
            <a:avLst/>
          </a:prstGeom>
          <a:solidFill>
            <a:srgbClr val="1C49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47688" y="1252728"/>
            <a:ext cx="5349240" cy="411480"/>
          </a:xfrm>
          <a:prstGeom prst="rect">
            <a:avLst/>
          </a:prstGeom>
          <a:noFill/>
        </p:spPr>
        <p:txBody>
          <a:bodyPr wrap="square">
            <a:spAutoFit/>
          </a:bodyPr>
          <a:lstStyle/>
          <a:p>
            <a:pPr algn="l"/>
            <a:r>
              <a:rPr sz="1700" b="1">
                <a:solidFill>
                  <a:srgbClr val="1C4966"/>
                </a:solidFill>
                <a:latin typeface="Segoe UI"/>
              </a:rPr>
              <a:t>01  </a:t>
            </a:r>
            <a:r>
              <a:rPr sz="1400" b="1">
                <a:solidFill>
                  <a:srgbClr val="1C4966"/>
                </a:solidFill>
                <a:latin typeface="Segoe UI"/>
              </a:rPr>
              <a:t>One place for everything</a:t>
            </a:r>
          </a:p>
        </p:txBody>
      </p:sp>
      <p:sp>
        <p:nvSpPr>
          <p:cNvPr id="9" name="TextBox 8"/>
          <p:cNvSpPr txBox="1"/>
          <p:nvPr/>
        </p:nvSpPr>
        <p:spPr>
          <a:xfrm>
            <a:off x="6665976" y="1691640"/>
            <a:ext cx="5303520" cy="1097280"/>
          </a:xfrm>
          <a:prstGeom prst="rect">
            <a:avLst/>
          </a:prstGeom>
          <a:noFill/>
        </p:spPr>
        <p:txBody>
          <a:bodyPr wrap="square">
            <a:spAutoFit/>
          </a:bodyPr>
          <a:lstStyle/>
          <a:p>
            <a:pPr algn="l"/>
            <a:r>
              <a:rPr sz="1100" b="0">
                <a:solidFill>
                  <a:srgbClr val="2C3B47"/>
                </a:solidFill>
                <a:latin typeface="Segoe UI"/>
              </a:rPr>
              <a:t>No separate tools for the database, queries, logs and server — Actmon brings them together on one screen, so you switch windows less and understand PostgreSQL more.</a:t>
            </a:r>
          </a:p>
        </p:txBody>
      </p:sp>
      <p:sp>
        <p:nvSpPr>
          <p:cNvPr id="10" name="Oval 9"/>
          <p:cNvSpPr/>
          <p:nvPr/>
        </p:nvSpPr>
        <p:spPr>
          <a:xfrm>
            <a:off x="6291072" y="2898648"/>
            <a:ext cx="155448" cy="155448"/>
          </a:xfrm>
          <a:prstGeom prst="ellipse">
            <a:avLst/>
          </a:prstGeom>
          <a:solidFill>
            <a:srgbClr val="1C49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47688" y="2807208"/>
            <a:ext cx="5349240" cy="411480"/>
          </a:xfrm>
          <a:prstGeom prst="rect">
            <a:avLst/>
          </a:prstGeom>
          <a:noFill/>
        </p:spPr>
        <p:txBody>
          <a:bodyPr wrap="square">
            <a:spAutoFit/>
          </a:bodyPr>
          <a:lstStyle/>
          <a:p>
            <a:pPr algn="l"/>
            <a:r>
              <a:rPr sz="1700" b="1">
                <a:solidFill>
                  <a:srgbClr val="1C4966"/>
                </a:solidFill>
                <a:latin typeface="Segoe UI"/>
              </a:rPr>
              <a:t>02  </a:t>
            </a:r>
            <a:r>
              <a:rPr sz="1400" b="1">
                <a:solidFill>
                  <a:srgbClr val="1C4966"/>
                </a:solidFill>
                <a:latin typeface="Segoe UI"/>
              </a:rPr>
              <a:t>Always up to date</a:t>
            </a:r>
          </a:p>
        </p:txBody>
      </p:sp>
      <p:sp>
        <p:nvSpPr>
          <p:cNvPr id="12" name="TextBox 11"/>
          <p:cNvSpPr txBox="1"/>
          <p:nvPr/>
        </p:nvSpPr>
        <p:spPr>
          <a:xfrm>
            <a:off x="6665976" y="3246120"/>
            <a:ext cx="5303520" cy="1097280"/>
          </a:xfrm>
          <a:prstGeom prst="rect">
            <a:avLst/>
          </a:prstGeom>
          <a:noFill/>
        </p:spPr>
        <p:txBody>
          <a:bodyPr wrap="square">
            <a:spAutoFit/>
          </a:bodyPr>
          <a:lstStyle/>
          <a:p>
            <a:pPr algn="l"/>
            <a:r>
              <a:rPr sz="1100" b="0">
                <a:solidFill>
                  <a:srgbClr val="2C3B47"/>
                </a:solidFill>
                <a:latin typeface="Segoe UI"/>
              </a:rPr>
              <a:t>Every number refreshes by itself every few seconds, so you always see the live state of the database, not an old snapshot, and notice changes the moment they happen.</a:t>
            </a:r>
          </a:p>
        </p:txBody>
      </p:sp>
      <p:sp>
        <p:nvSpPr>
          <p:cNvPr id="13" name="Oval 12"/>
          <p:cNvSpPr/>
          <p:nvPr/>
        </p:nvSpPr>
        <p:spPr>
          <a:xfrm>
            <a:off x="6291072" y="4453128"/>
            <a:ext cx="155448" cy="155448"/>
          </a:xfrm>
          <a:prstGeom prst="ellipse">
            <a:avLst/>
          </a:prstGeom>
          <a:solidFill>
            <a:srgbClr val="1C49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47688" y="4361688"/>
            <a:ext cx="5349240" cy="411480"/>
          </a:xfrm>
          <a:prstGeom prst="rect">
            <a:avLst/>
          </a:prstGeom>
          <a:noFill/>
        </p:spPr>
        <p:txBody>
          <a:bodyPr wrap="square">
            <a:spAutoFit/>
          </a:bodyPr>
          <a:lstStyle/>
          <a:p>
            <a:pPr algn="l"/>
            <a:r>
              <a:rPr sz="1700" b="1">
                <a:solidFill>
                  <a:srgbClr val="1C4966"/>
                </a:solidFill>
                <a:latin typeface="Segoe UI"/>
              </a:rPr>
              <a:t>03  </a:t>
            </a:r>
            <a:r>
              <a:rPr sz="1400" b="1">
                <a:solidFill>
                  <a:srgbClr val="1C4966"/>
                </a:solidFill>
                <a:latin typeface="Segoe UI"/>
              </a:rPr>
              <a:t>From symptom to cause</a:t>
            </a:r>
          </a:p>
        </p:txBody>
      </p:sp>
      <p:sp>
        <p:nvSpPr>
          <p:cNvPr id="15" name="TextBox 14"/>
          <p:cNvSpPr txBox="1"/>
          <p:nvPr/>
        </p:nvSpPr>
        <p:spPr>
          <a:xfrm>
            <a:off x="6665976" y="4800600"/>
            <a:ext cx="5303520" cy="1097280"/>
          </a:xfrm>
          <a:prstGeom prst="rect">
            <a:avLst/>
          </a:prstGeom>
          <a:noFill/>
        </p:spPr>
        <p:txBody>
          <a:bodyPr wrap="square">
            <a:spAutoFit/>
          </a:bodyPr>
          <a:lstStyle/>
          <a:p>
            <a:pPr algn="l"/>
            <a:r>
              <a:rPr sz="1100" b="0">
                <a:solidFill>
                  <a:srgbClr val="2C3B47"/>
                </a:solidFill>
                <a:latin typeface="Segoe UI"/>
              </a:rPr>
              <a:t>When something looks wrong, click from a high-level number straight down to the exact query, session or process behind it, then act on it.</a:t>
            </a:r>
          </a:p>
        </p:txBody>
      </p:sp>
      <p:sp>
        <p:nvSpPr>
          <p:cNvPr id="16" name="TextBox 15"/>
          <p:cNvSpPr txBox="1"/>
          <p:nvPr/>
        </p:nvSpPr>
        <p:spPr>
          <a:xfrm>
            <a:off x="502920" y="6473952"/>
            <a:ext cx="8229600" cy="274320"/>
          </a:xfrm>
          <a:prstGeom prst="rect">
            <a:avLst/>
          </a:prstGeom>
          <a:noFill/>
        </p:spPr>
        <p:txBody>
          <a:bodyPr wrap="square">
            <a:spAutoFit/>
          </a:bodyPr>
          <a:lstStyle/>
          <a:p>
            <a:pPr algn="l"/>
            <a:r>
              <a:rPr sz="900" b="0">
                <a:solidFill>
                  <a:srgbClr val="5E6B76"/>
                </a:solidFill>
                <a:latin typeface="Segoe UI"/>
              </a:rPr>
              <a:t>Actmon  ·  PostgreSQL Monitoring</a:t>
            </a:r>
          </a:p>
        </p:txBody>
      </p:sp>
      <p:sp>
        <p:nvSpPr>
          <p:cNvPr id="17" name="TextBox 16"/>
          <p:cNvSpPr txBox="1"/>
          <p:nvPr/>
        </p:nvSpPr>
        <p:spPr>
          <a:xfrm>
            <a:off x="11155680" y="6473952"/>
            <a:ext cx="822960" cy="274320"/>
          </a:xfrm>
          <a:prstGeom prst="rect">
            <a:avLst/>
          </a:prstGeom>
          <a:noFill/>
        </p:spPr>
        <p:txBody>
          <a:bodyPr wrap="square">
            <a:spAutoFit/>
          </a:bodyPr>
          <a:lstStyle/>
          <a:p>
            <a:pPr algn="r"/>
            <a:r>
              <a:rPr sz="900" b="0">
                <a:solidFill>
                  <a:srgbClr val="5E6B76"/>
                </a:solidFill>
                <a:latin typeface="Segoe U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448495" y="-1554480"/>
            <a:ext cx="4206240" cy="4206240"/>
          </a:xfrm>
          <a:prstGeom prst="ellipse">
            <a:avLst/>
          </a:prstGeom>
          <a:solidFill>
            <a:srgbClr val="DC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297680"/>
            <a:ext cx="4023360" cy="4023360"/>
          </a:xfrm>
          <a:prstGeom prst="ellipse">
            <a:avLst/>
          </a:prstGeom>
          <a:solidFill>
            <a:srgbClr val="DC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457200"/>
            <a:ext cx="10972800" cy="640080"/>
          </a:xfrm>
          <a:prstGeom prst="rect">
            <a:avLst/>
          </a:prstGeom>
          <a:noFill/>
        </p:spPr>
        <p:txBody>
          <a:bodyPr wrap="square">
            <a:spAutoFit/>
          </a:bodyPr>
          <a:lstStyle/>
          <a:p>
            <a:pPr algn="l"/>
            <a:r>
              <a:rPr sz="2900" b="1">
                <a:solidFill>
                  <a:srgbClr val="1C4966"/>
                </a:solidFill>
                <a:latin typeface="Segoe UI"/>
              </a:rPr>
              <a:t>BUSINESS BENEFITS</a:t>
            </a:r>
          </a:p>
        </p:txBody>
      </p:sp>
      <p:sp>
        <p:nvSpPr>
          <p:cNvPr id="6" name="Rectangle 5"/>
          <p:cNvSpPr/>
          <p:nvPr/>
        </p:nvSpPr>
        <p:spPr>
          <a:xfrm>
            <a:off x="603504" y="1207008"/>
            <a:ext cx="1463040" cy="54864"/>
          </a:xfrm>
          <a:prstGeom prst="rect">
            <a:avLst/>
          </a:prstGeom>
          <a:solidFill>
            <a:srgbClr val="1C49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1371600"/>
            <a:ext cx="11064240" cy="457200"/>
          </a:xfrm>
          <a:prstGeom prst="rect">
            <a:avLst/>
          </a:prstGeom>
          <a:noFill/>
        </p:spPr>
        <p:txBody>
          <a:bodyPr wrap="square">
            <a:spAutoFit/>
          </a:bodyPr>
          <a:lstStyle/>
          <a:p>
            <a:pPr algn="l"/>
            <a:r>
              <a:rPr sz="1300" b="0">
                <a:solidFill>
                  <a:srgbClr val="2C3B47"/>
                </a:solidFill>
                <a:latin typeface="Segoe UI"/>
              </a:rPr>
              <a:t>Clear value for managers and engineers alike.</a:t>
            </a:r>
          </a:p>
        </p:txBody>
      </p:sp>
      <p:sp>
        <p:nvSpPr>
          <p:cNvPr id="8" name="Rounded Rectangle 7"/>
          <p:cNvSpPr/>
          <p:nvPr/>
        </p:nvSpPr>
        <p:spPr>
          <a:xfrm>
            <a:off x="548640" y="1965960"/>
            <a:ext cx="5417820" cy="1965960"/>
          </a:xfrm>
          <a:prstGeom prst="roundRect">
            <a:avLst/>
          </a:prstGeom>
          <a:solidFill>
            <a:srgbClr val="6E98A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237744" tIns="146304"/>
          <a:lstStyle/>
          <a:p>
            <a:pPr algn="l"/>
            <a:r>
              <a:rPr sz="1800" b="1">
                <a:solidFill>
                  <a:srgbClr val="D7E6EF"/>
                </a:solidFill>
                <a:latin typeface="Segoe UI"/>
              </a:rPr>
              <a:t>01   </a:t>
            </a:r>
            <a:r>
              <a:rPr sz="1400" b="1">
                <a:solidFill>
                  <a:srgbClr val="FFFFFF"/>
                </a:solidFill>
                <a:latin typeface="Segoe UI"/>
              </a:rPr>
              <a:t>Less downtime</a:t>
            </a:r>
          </a:p>
          <a:p>
            <a:pPr algn="l">
              <a:spcBef>
                <a:spcPts val="400"/>
              </a:spcBef>
            </a:pPr>
            <a:r>
              <a:rPr sz="1100" b="0">
                <a:solidFill>
                  <a:srgbClr val="FFFFFF"/>
                </a:solidFill>
                <a:latin typeface="Segoe UI"/>
              </a:rPr>
              <a:t>Problems show up early as clear red signals, so the team reacts before users notice a slowdown or outage in PostgreSQL. Catching issues early is far cheaper and calmer than fixing them during a full outage.</a:t>
            </a:r>
          </a:p>
        </p:txBody>
      </p:sp>
      <p:sp>
        <p:nvSpPr>
          <p:cNvPr id="9" name="Rounded Rectangle 8"/>
          <p:cNvSpPr/>
          <p:nvPr/>
        </p:nvSpPr>
        <p:spPr>
          <a:xfrm>
            <a:off x="6240780" y="1965960"/>
            <a:ext cx="5417820" cy="1965960"/>
          </a:xfrm>
          <a:prstGeom prst="roundRect">
            <a:avLst/>
          </a:prstGeom>
          <a:solidFill>
            <a:srgbClr val="4F809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237744" tIns="146304"/>
          <a:lstStyle/>
          <a:p>
            <a:pPr algn="l"/>
            <a:r>
              <a:rPr sz="1800" b="1">
                <a:solidFill>
                  <a:srgbClr val="D7E6EF"/>
                </a:solidFill>
                <a:latin typeface="Segoe UI"/>
              </a:rPr>
              <a:t>02   </a:t>
            </a:r>
            <a:r>
              <a:rPr sz="1400" b="1">
                <a:solidFill>
                  <a:srgbClr val="FFFFFF"/>
                </a:solidFill>
                <a:latin typeface="Segoe UI"/>
              </a:rPr>
              <a:t>Faster troubleshooting</a:t>
            </a:r>
          </a:p>
          <a:p>
            <a:pPr algn="l">
              <a:spcBef>
                <a:spcPts val="400"/>
              </a:spcBef>
            </a:pPr>
            <a:r>
              <a:rPr sz="1100" b="0">
                <a:solidFill>
                  <a:srgbClr val="FFFFFF"/>
                </a:solidFill>
                <a:latin typeface="Segoe UI"/>
              </a:rPr>
              <a:t>Actmon points to the slow query or busy process in seconds instead of hours of manual digging, so incidents are resolved quickly and engineers stay focused on building, not firefighting.</a:t>
            </a:r>
          </a:p>
        </p:txBody>
      </p:sp>
      <p:sp>
        <p:nvSpPr>
          <p:cNvPr id="10" name="Rounded Rectangle 9"/>
          <p:cNvSpPr/>
          <p:nvPr/>
        </p:nvSpPr>
        <p:spPr>
          <a:xfrm>
            <a:off x="548640" y="4206240"/>
            <a:ext cx="5417820" cy="1965960"/>
          </a:xfrm>
          <a:prstGeom prst="roundRect">
            <a:avLst/>
          </a:prstGeom>
          <a:solidFill>
            <a:srgbClr val="3A6A8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237744" tIns="146304"/>
          <a:lstStyle/>
          <a:p>
            <a:pPr algn="l"/>
            <a:r>
              <a:rPr sz="1800" b="1">
                <a:solidFill>
                  <a:srgbClr val="D7E6EF"/>
                </a:solidFill>
                <a:latin typeface="Segoe UI"/>
              </a:rPr>
              <a:t>03   </a:t>
            </a:r>
            <a:r>
              <a:rPr sz="1400" b="1">
                <a:solidFill>
                  <a:srgbClr val="FFFFFF"/>
                </a:solidFill>
                <a:latin typeface="Segoe UI"/>
              </a:rPr>
              <a:t>The real root cause</a:t>
            </a:r>
          </a:p>
          <a:p>
            <a:pPr algn="l">
              <a:spcBef>
                <a:spcPts val="400"/>
              </a:spcBef>
            </a:pPr>
            <a:r>
              <a:rPr sz="1100" b="0">
                <a:solidFill>
                  <a:srgbClr val="FFFFFF"/>
                </a:solidFill>
                <a:latin typeface="Segoe UI"/>
              </a:rPr>
              <a:t>A CPU or memory spike is not always the database. Actmon shows whether the database or another program on the server is responsible, so you fix the right thing the first time.</a:t>
            </a:r>
          </a:p>
        </p:txBody>
      </p:sp>
      <p:sp>
        <p:nvSpPr>
          <p:cNvPr id="11" name="Rounded Rectangle 10"/>
          <p:cNvSpPr/>
          <p:nvPr/>
        </p:nvSpPr>
        <p:spPr>
          <a:xfrm>
            <a:off x="6240780" y="4206240"/>
            <a:ext cx="5417820" cy="1965960"/>
          </a:xfrm>
          <a:prstGeom prst="roundRect">
            <a:avLst/>
          </a:prstGeom>
          <a:solidFill>
            <a:srgbClr val="2A557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237744" tIns="146304"/>
          <a:lstStyle/>
          <a:p>
            <a:pPr algn="l"/>
            <a:r>
              <a:rPr sz="1800" b="1">
                <a:solidFill>
                  <a:srgbClr val="D7E6EF"/>
                </a:solidFill>
                <a:latin typeface="Segoe UI"/>
              </a:rPr>
              <a:t>04   </a:t>
            </a:r>
            <a:r>
              <a:rPr sz="1400" b="1">
                <a:solidFill>
                  <a:srgbClr val="FFFFFF"/>
                </a:solidFill>
                <a:latin typeface="Segoe UI"/>
              </a:rPr>
              <a:t>One affordable tool</a:t>
            </a:r>
          </a:p>
          <a:p>
            <a:pPr algn="l">
              <a:spcBef>
                <a:spcPts val="400"/>
              </a:spcBef>
            </a:pPr>
            <a:r>
              <a:rPr sz="1100" b="0">
                <a:solidFill>
                  <a:srgbClr val="FFFFFF"/>
                </a:solidFill>
                <a:latin typeface="Segoe UI"/>
              </a:rPr>
              <a:t>Health checks, query analysis, error logs and reports are in one platform that replaces several products, lowering cost, simplifying training, and giving everyone a single source of truth.</a:t>
            </a:r>
          </a:p>
        </p:txBody>
      </p:sp>
      <p:sp>
        <p:nvSpPr>
          <p:cNvPr id="12" name="TextBox 11"/>
          <p:cNvSpPr txBox="1"/>
          <p:nvPr/>
        </p:nvSpPr>
        <p:spPr>
          <a:xfrm>
            <a:off x="502920" y="6473952"/>
            <a:ext cx="8229600" cy="274320"/>
          </a:xfrm>
          <a:prstGeom prst="rect">
            <a:avLst/>
          </a:prstGeom>
          <a:noFill/>
        </p:spPr>
        <p:txBody>
          <a:bodyPr wrap="square">
            <a:spAutoFit/>
          </a:bodyPr>
          <a:lstStyle/>
          <a:p>
            <a:pPr algn="l"/>
            <a:r>
              <a:rPr sz="900" b="0">
                <a:solidFill>
                  <a:srgbClr val="5E6B76"/>
                </a:solidFill>
                <a:latin typeface="Segoe UI"/>
              </a:rPr>
              <a:t>Actmon  ·  PostgreSQL Monitoring</a:t>
            </a:r>
          </a:p>
        </p:txBody>
      </p:sp>
      <p:sp>
        <p:nvSpPr>
          <p:cNvPr id="13" name="TextBox 12"/>
          <p:cNvSpPr txBox="1"/>
          <p:nvPr/>
        </p:nvSpPr>
        <p:spPr>
          <a:xfrm>
            <a:off x="11155680" y="6473952"/>
            <a:ext cx="822960" cy="274320"/>
          </a:xfrm>
          <a:prstGeom prst="rect">
            <a:avLst/>
          </a:prstGeom>
          <a:noFill/>
        </p:spPr>
        <p:txBody>
          <a:bodyPr wrap="square">
            <a:spAutoFit/>
          </a:bodyPr>
          <a:lstStyle/>
          <a:p>
            <a:pPr algn="r"/>
            <a:r>
              <a:rPr sz="900" b="0">
                <a:solidFill>
                  <a:srgbClr val="5E6B76"/>
                </a:solidFill>
                <a:latin typeface="Segoe U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448495" y="-1554480"/>
            <a:ext cx="4206240" cy="4206240"/>
          </a:xfrm>
          <a:prstGeom prst="ellipse">
            <a:avLst/>
          </a:prstGeom>
          <a:solidFill>
            <a:srgbClr val="DC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297680"/>
            <a:ext cx="4023360" cy="4023360"/>
          </a:xfrm>
          <a:prstGeom prst="ellipse">
            <a:avLst/>
          </a:prstGeom>
          <a:solidFill>
            <a:srgbClr val="DC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1051560"/>
            <a:ext cx="4983480" cy="4846320"/>
          </a:xfrm>
          <a:prstGeom prst="roundRect">
            <a:avLst/>
          </a:prstGeom>
          <a:solidFill>
            <a:srgbClr val="B9D4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10896" rIns="274320"/>
          <a:lstStyle/>
          <a:p>
            <a:pPr algn="l"/>
            <a:r>
              <a:rPr sz="2700" b="1">
                <a:solidFill>
                  <a:srgbClr val="1C4966"/>
                </a:solidFill>
                <a:latin typeface="Segoe UI"/>
              </a:rPr>
              <a:t>HOW ACTMON CONNECTS</a:t>
            </a:r>
          </a:p>
          <a:p>
            <a:pPr algn="l">
              <a:spcBef>
                <a:spcPts val="1000"/>
              </a:spcBef>
            </a:pPr>
            <a:r>
              <a:rPr sz="1250" b="0">
                <a:solidFill>
                  <a:srgbClr val="1C4966"/>
                </a:solidFill>
                <a:latin typeface="Segoe UI"/>
              </a:rPr>
              <a:t>Actmon connects to PostgreSQL with the host, port, user and password you provide. It only reads — it never changes your database on its own.</a:t>
            </a:r>
          </a:p>
        </p:txBody>
      </p:sp>
      <p:sp>
        <p:nvSpPr>
          <p:cNvPr id="6" name="Rectangle 5"/>
          <p:cNvSpPr/>
          <p:nvPr/>
        </p:nvSpPr>
        <p:spPr>
          <a:xfrm>
            <a:off x="6355080" y="1234440"/>
            <a:ext cx="27432" cy="4663440"/>
          </a:xfrm>
          <a:prstGeom prst="rect">
            <a:avLst/>
          </a:prstGeom>
          <a:solidFill>
            <a:srgbClr val="1C49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91072" y="1344168"/>
            <a:ext cx="155448" cy="155448"/>
          </a:xfrm>
          <a:prstGeom prst="ellipse">
            <a:avLst/>
          </a:prstGeom>
          <a:solidFill>
            <a:srgbClr val="1C49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47688" y="1252728"/>
            <a:ext cx="5349240" cy="411480"/>
          </a:xfrm>
          <a:prstGeom prst="rect">
            <a:avLst/>
          </a:prstGeom>
          <a:noFill/>
        </p:spPr>
        <p:txBody>
          <a:bodyPr wrap="square">
            <a:spAutoFit/>
          </a:bodyPr>
          <a:lstStyle/>
          <a:p>
            <a:pPr algn="l"/>
            <a:r>
              <a:rPr sz="1700" b="1">
                <a:solidFill>
                  <a:srgbClr val="1C4966"/>
                </a:solidFill>
                <a:latin typeface="Segoe UI"/>
              </a:rPr>
              <a:t>01  </a:t>
            </a:r>
            <a:r>
              <a:rPr sz="1400" b="1">
                <a:solidFill>
                  <a:srgbClr val="1C4966"/>
                </a:solidFill>
                <a:latin typeface="Segoe UI"/>
              </a:rPr>
              <a:t>Secure connection</a:t>
            </a:r>
          </a:p>
        </p:txBody>
      </p:sp>
      <p:sp>
        <p:nvSpPr>
          <p:cNvPr id="9" name="TextBox 8"/>
          <p:cNvSpPr txBox="1"/>
          <p:nvPr/>
        </p:nvSpPr>
        <p:spPr>
          <a:xfrm>
            <a:off x="6665976" y="1691640"/>
            <a:ext cx="5303520" cy="1097280"/>
          </a:xfrm>
          <a:prstGeom prst="rect">
            <a:avLst/>
          </a:prstGeom>
          <a:noFill/>
        </p:spPr>
        <p:txBody>
          <a:bodyPr wrap="square">
            <a:spAutoFit/>
          </a:bodyPr>
          <a:lstStyle/>
          <a:p>
            <a:pPr algn="l"/>
            <a:r>
              <a:rPr sz="1100" b="0">
                <a:solidFill>
                  <a:srgbClr val="2C3B47"/>
                </a:solidFill>
                <a:latin typeface="Segoe UI"/>
              </a:rPr>
              <a:t>Signs in with your connection details and reads PostgreSQL's built-in statistics, which are cluster-wide, so you see every database from one connection.</a:t>
            </a:r>
          </a:p>
        </p:txBody>
      </p:sp>
      <p:sp>
        <p:nvSpPr>
          <p:cNvPr id="10" name="Oval 9"/>
          <p:cNvSpPr/>
          <p:nvPr/>
        </p:nvSpPr>
        <p:spPr>
          <a:xfrm>
            <a:off x="6291072" y="2898648"/>
            <a:ext cx="155448" cy="155448"/>
          </a:xfrm>
          <a:prstGeom prst="ellipse">
            <a:avLst/>
          </a:prstGeom>
          <a:solidFill>
            <a:srgbClr val="1C49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47688" y="2807208"/>
            <a:ext cx="5349240" cy="411480"/>
          </a:xfrm>
          <a:prstGeom prst="rect">
            <a:avLst/>
          </a:prstGeom>
          <a:noFill/>
        </p:spPr>
        <p:txBody>
          <a:bodyPr wrap="square">
            <a:spAutoFit/>
          </a:bodyPr>
          <a:lstStyle/>
          <a:p>
            <a:pPr algn="l"/>
            <a:r>
              <a:rPr sz="1700" b="1">
                <a:solidFill>
                  <a:srgbClr val="1C4966"/>
                </a:solidFill>
                <a:latin typeface="Segoe UI"/>
              </a:rPr>
              <a:t>02  </a:t>
            </a:r>
            <a:r>
              <a:rPr sz="1400" b="1">
                <a:solidFill>
                  <a:srgbClr val="1C4966"/>
                </a:solidFill>
                <a:latin typeface="Segoe UI"/>
              </a:rPr>
              <a:t>Reads database and server</a:t>
            </a:r>
          </a:p>
        </p:txBody>
      </p:sp>
      <p:sp>
        <p:nvSpPr>
          <p:cNvPr id="12" name="TextBox 11"/>
          <p:cNvSpPr txBox="1"/>
          <p:nvPr/>
        </p:nvSpPr>
        <p:spPr>
          <a:xfrm>
            <a:off x="6665976" y="3246120"/>
            <a:ext cx="5303520" cy="1097280"/>
          </a:xfrm>
          <a:prstGeom prst="rect">
            <a:avLst/>
          </a:prstGeom>
          <a:noFill/>
        </p:spPr>
        <p:txBody>
          <a:bodyPr wrap="square">
            <a:spAutoFit/>
          </a:bodyPr>
          <a:lstStyle/>
          <a:p>
            <a:pPr algn="l"/>
            <a:r>
              <a:rPr sz="1100" b="0">
                <a:solidFill>
                  <a:srgbClr val="2C3B47"/>
                </a:solidFill>
                <a:latin typeface="Segoe UI"/>
              </a:rPr>
              <a:t>Reads server activity and per-database stats; on a Linux host it also reads CPU, memory and disk over SSH. Slow-query stats are read from a database where pg_stat_statements is enabled.</a:t>
            </a:r>
          </a:p>
        </p:txBody>
      </p:sp>
      <p:sp>
        <p:nvSpPr>
          <p:cNvPr id="13" name="Oval 12"/>
          <p:cNvSpPr/>
          <p:nvPr/>
        </p:nvSpPr>
        <p:spPr>
          <a:xfrm>
            <a:off x="6291072" y="4453128"/>
            <a:ext cx="155448" cy="155448"/>
          </a:xfrm>
          <a:prstGeom prst="ellipse">
            <a:avLst/>
          </a:prstGeom>
          <a:solidFill>
            <a:srgbClr val="1C49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47688" y="4361688"/>
            <a:ext cx="5349240" cy="411480"/>
          </a:xfrm>
          <a:prstGeom prst="rect">
            <a:avLst/>
          </a:prstGeom>
          <a:noFill/>
        </p:spPr>
        <p:txBody>
          <a:bodyPr wrap="square">
            <a:spAutoFit/>
          </a:bodyPr>
          <a:lstStyle/>
          <a:p>
            <a:pPr algn="l"/>
            <a:r>
              <a:rPr sz="1700" b="1">
                <a:solidFill>
                  <a:srgbClr val="1C4966"/>
                </a:solidFill>
                <a:latin typeface="Segoe UI"/>
              </a:rPr>
              <a:t>03  </a:t>
            </a:r>
            <a:r>
              <a:rPr sz="1400" b="1">
                <a:solidFill>
                  <a:srgbClr val="1C4966"/>
                </a:solidFill>
                <a:latin typeface="Segoe UI"/>
              </a:rPr>
              <a:t>Safe by design</a:t>
            </a:r>
          </a:p>
        </p:txBody>
      </p:sp>
      <p:sp>
        <p:nvSpPr>
          <p:cNvPr id="15" name="TextBox 14"/>
          <p:cNvSpPr txBox="1"/>
          <p:nvPr/>
        </p:nvSpPr>
        <p:spPr>
          <a:xfrm>
            <a:off x="6665976" y="4800600"/>
            <a:ext cx="5303520" cy="1097280"/>
          </a:xfrm>
          <a:prstGeom prst="rect">
            <a:avLst/>
          </a:prstGeom>
          <a:noFill/>
        </p:spPr>
        <p:txBody>
          <a:bodyPr wrap="square">
            <a:spAutoFit/>
          </a:bodyPr>
          <a:lstStyle/>
          <a:p>
            <a:pPr algn="l"/>
            <a:r>
              <a:rPr sz="1100" b="0">
                <a:solidFill>
                  <a:srgbClr val="2C3B47"/>
                </a:solidFill>
                <a:latin typeface="Segoe UI"/>
              </a:rPr>
              <a:t>Monitoring is read-only. Nothing is created, changed or deleted unless you choose to run a guided action.</a:t>
            </a:r>
          </a:p>
        </p:txBody>
      </p:sp>
      <p:sp>
        <p:nvSpPr>
          <p:cNvPr id="16" name="TextBox 15"/>
          <p:cNvSpPr txBox="1"/>
          <p:nvPr/>
        </p:nvSpPr>
        <p:spPr>
          <a:xfrm>
            <a:off x="502920" y="6473952"/>
            <a:ext cx="8229600" cy="274320"/>
          </a:xfrm>
          <a:prstGeom prst="rect">
            <a:avLst/>
          </a:prstGeom>
          <a:noFill/>
        </p:spPr>
        <p:txBody>
          <a:bodyPr wrap="square">
            <a:spAutoFit/>
          </a:bodyPr>
          <a:lstStyle/>
          <a:p>
            <a:pPr algn="l"/>
            <a:r>
              <a:rPr sz="900" b="0">
                <a:solidFill>
                  <a:srgbClr val="5E6B76"/>
                </a:solidFill>
                <a:latin typeface="Segoe UI"/>
              </a:rPr>
              <a:t>Actmon  ·  PostgreSQL Monitoring</a:t>
            </a:r>
          </a:p>
        </p:txBody>
      </p:sp>
      <p:sp>
        <p:nvSpPr>
          <p:cNvPr id="17" name="TextBox 16"/>
          <p:cNvSpPr txBox="1"/>
          <p:nvPr/>
        </p:nvSpPr>
        <p:spPr>
          <a:xfrm>
            <a:off x="11155680" y="6473952"/>
            <a:ext cx="822960" cy="274320"/>
          </a:xfrm>
          <a:prstGeom prst="rect">
            <a:avLst/>
          </a:prstGeom>
          <a:noFill/>
        </p:spPr>
        <p:txBody>
          <a:bodyPr wrap="square">
            <a:spAutoFit/>
          </a:bodyPr>
          <a:lstStyle/>
          <a:p>
            <a:pPr algn="r"/>
            <a:r>
              <a:rPr sz="900" b="0">
                <a:solidFill>
                  <a:srgbClr val="5E6B76"/>
                </a:solidFill>
                <a:latin typeface="Segoe U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448495" y="-1554480"/>
            <a:ext cx="4206240" cy="4206240"/>
          </a:xfrm>
          <a:prstGeom prst="ellipse">
            <a:avLst/>
          </a:prstGeom>
          <a:solidFill>
            <a:srgbClr val="DC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297680"/>
            <a:ext cx="4023360" cy="4023360"/>
          </a:xfrm>
          <a:prstGeom prst="ellipse">
            <a:avLst/>
          </a:prstGeom>
          <a:solidFill>
            <a:srgbClr val="DC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457200"/>
            <a:ext cx="10972800" cy="640080"/>
          </a:xfrm>
          <a:prstGeom prst="rect">
            <a:avLst/>
          </a:prstGeom>
          <a:noFill/>
        </p:spPr>
        <p:txBody>
          <a:bodyPr wrap="square">
            <a:spAutoFit/>
          </a:bodyPr>
          <a:lstStyle/>
          <a:p>
            <a:pPr algn="l"/>
            <a:r>
              <a:rPr sz="2900" b="1">
                <a:solidFill>
                  <a:srgbClr val="1C4966"/>
                </a:solidFill>
                <a:latin typeface="Segoe UI"/>
              </a:rPr>
              <a:t>WHAT ACTMON MONITORS</a:t>
            </a:r>
          </a:p>
        </p:txBody>
      </p:sp>
      <p:sp>
        <p:nvSpPr>
          <p:cNvPr id="6" name="Rectangle 5"/>
          <p:cNvSpPr/>
          <p:nvPr/>
        </p:nvSpPr>
        <p:spPr>
          <a:xfrm>
            <a:off x="603504" y="1207008"/>
            <a:ext cx="1463040" cy="54864"/>
          </a:xfrm>
          <a:prstGeom prst="rect">
            <a:avLst/>
          </a:prstGeom>
          <a:solidFill>
            <a:srgbClr val="1C49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1371600"/>
            <a:ext cx="11064240" cy="457200"/>
          </a:xfrm>
          <a:prstGeom prst="rect">
            <a:avLst/>
          </a:prstGeom>
          <a:noFill/>
        </p:spPr>
        <p:txBody>
          <a:bodyPr wrap="square">
            <a:spAutoFit/>
          </a:bodyPr>
          <a:lstStyle/>
          <a:p>
            <a:pPr algn="l"/>
            <a:r>
              <a:rPr sz="1300" b="0">
                <a:solidFill>
                  <a:srgbClr val="2C3B47"/>
                </a:solidFill>
                <a:latin typeface="Segoe UI"/>
              </a:rPr>
              <a:t>Full coverage of the database, its data and its server.</a:t>
            </a:r>
          </a:p>
        </p:txBody>
      </p:sp>
      <p:sp>
        <p:nvSpPr>
          <p:cNvPr id="8" name="Rounded Rectangle 7"/>
          <p:cNvSpPr/>
          <p:nvPr/>
        </p:nvSpPr>
        <p:spPr>
          <a:xfrm>
            <a:off x="548640" y="1965960"/>
            <a:ext cx="5417820" cy="1965960"/>
          </a:xfrm>
          <a:prstGeom prst="roundRect">
            <a:avLst/>
          </a:prstGeom>
          <a:solidFill>
            <a:srgbClr val="6E98A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237744" tIns="146304"/>
          <a:lstStyle/>
          <a:p>
            <a:pPr algn="l"/>
            <a:r>
              <a:rPr sz="1800" b="1">
                <a:solidFill>
                  <a:srgbClr val="D7E6EF"/>
                </a:solidFill>
                <a:latin typeface="Segoe UI"/>
              </a:rPr>
              <a:t>01   </a:t>
            </a:r>
            <a:r>
              <a:rPr sz="1400" b="1">
                <a:solidFill>
                  <a:srgbClr val="FFFFFF"/>
                </a:solidFill>
                <a:latin typeface="Segoe UI"/>
              </a:rPr>
              <a:t>Health &amp; performance</a:t>
            </a:r>
          </a:p>
          <a:p>
            <a:pPr algn="l">
              <a:spcBef>
                <a:spcPts val="400"/>
              </a:spcBef>
            </a:pPr>
            <a:r>
              <a:rPr sz="1100" b="0">
                <a:solidFill>
                  <a:srgbClr val="FFFFFF"/>
                </a:solidFill>
                <a:latin typeface="Segoe UI"/>
              </a:rPr>
              <a:t>A health score plus the numbers behind it: uptime, version, connections, buffer cache hit and query activity — one glance tells you whether the database is healthy and keeping up.</a:t>
            </a:r>
          </a:p>
        </p:txBody>
      </p:sp>
      <p:sp>
        <p:nvSpPr>
          <p:cNvPr id="9" name="Rounded Rectangle 8"/>
          <p:cNvSpPr/>
          <p:nvPr/>
        </p:nvSpPr>
        <p:spPr>
          <a:xfrm>
            <a:off x="6240780" y="1965960"/>
            <a:ext cx="5417820" cy="1965960"/>
          </a:xfrm>
          <a:prstGeom prst="roundRect">
            <a:avLst/>
          </a:prstGeom>
          <a:solidFill>
            <a:srgbClr val="4F809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237744" tIns="146304"/>
          <a:lstStyle/>
          <a:p>
            <a:pPr algn="l"/>
            <a:r>
              <a:rPr sz="1800" b="1">
                <a:solidFill>
                  <a:srgbClr val="D7E6EF"/>
                </a:solidFill>
                <a:latin typeface="Segoe UI"/>
              </a:rPr>
              <a:t>02   </a:t>
            </a:r>
            <a:r>
              <a:rPr sz="1400" b="1">
                <a:solidFill>
                  <a:srgbClr val="FFFFFF"/>
                </a:solidFill>
                <a:latin typeface="Segoe UI"/>
              </a:rPr>
              <a:t>Queries &amp; tables</a:t>
            </a:r>
          </a:p>
          <a:p>
            <a:pPr algn="l">
              <a:spcBef>
                <a:spcPts val="400"/>
              </a:spcBef>
            </a:pPr>
            <a:r>
              <a:rPr sz="1100" b="0">
                <a:solidFill>
                  <a:srgbClr val="FFFFFF"/>
                </a:solidFill>
                <a:latin typeface="Segoe UI"/>
              </a:rPr>
              <a:t>Slow queries from pg_stat_statements with AI analysis, plus every table across all databases with its size, rows, indexes, structure and vacuum status.</a:t>
            </a:r>
          </a:p>
        </p:txBody>
      </p:sp>
      <p:sp>
        <p:nvSpPr>
          <p:cNvPr id="10" name="Rounded Rectangle 9"/>
          <p:cNvSpPr/>
          <p:nvPr/>
        </p:nvSpPr>
        <p:spPr>
          <a:xfrm>
            <a:off x="548640" y="4206240"/>
            <a:ext cx="5417820" cy="1965960"/>
          </a:xfrm>
          <a:prstGeom prst="roundRect">
            <a:avLst/>
          </a:prstGeom>
          <a:solidFill>
            <a:srgbClr val="3A6A8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237744" tIns="146304"/>
          <a:lstStyle/>
          <a:p>
            <a:pPr algn="l"/>
            <a:r>
              <a:rPr sz="1800" b="1">
                <a:solidFill>
                  <a:srgbClr val="D7E6EF"/>
                </a:solidFill>
                <a:latin typeface="Segoe UI"/>
              </a:rPr>
              <a:t>03   </a:t>
            </a:r>
            <a:r>
              <a:rPr sz="1400" b="1">
                <a:solidFill>
                  <a:srgbClr val="FFFFFF"/>
                </a:solidFill>
                <a:latin typeface="Segoe UI"/>
              </a:rPr>
              <a:t>Concurrency &amp; replication</a:t>
            </a:r>
          </a:p>
          <a:p>
            <a:pPr algn="l">
              <a:spcBef>
                <a:spcPts val="400"/>
              </a:spcBef>
            </a:pPr>
            <a:r>
              <a:rPr sz="1100" b="0">
                <a:solidFill>
                  <a:srgbClr val="FFFFFF"/>
                </a:solidFill>
                <a:latin typeface="Segoe UI"/>
              </a:rPr>
              <a:t>Blocking locks and lock waits show whether sessions are stuck, while replication status shows whether a replica is in place or the server is standalone.</a:t>
            </a:r>
          </a:p>
        </p:txBody>
      </p:sp>
      <p:sp>
        <p:nvSpPr>
          <p:cNvPr id="11" name="Rounded Rectangle 10"/>
          <p:cNvSpPr/>
          <p:nvPr/>
        </p:nvSpPr>
        <p:spPr>
          <a:xfrm>
            <a:off x="6240780" y="4206240"/>
            <a:ext cx="5417820" cy="1965960"/>
          </a:xfrm>
          <a:prstGeom prst="roundRect">
            <a:avLst/>
          </a:prstGeom>
          <a:solidFill>
            <a:srgbClr val="2A557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237744" tIns="146304"/>
          <a:lstStyle/>
          <a:p>
            <a:pPr algn="l"/>
            <a:r>
              <a:rPr sz="1800" b="1">
                <a:solidFill>
                  <a:srgbClr val="D7E6EF"/>
                </a:solidFill>
                <a:latin typeface="Segoe UI"/>
              </a:rPr>
              <a:t>04   </a:t>
            </a:r>
            <a:r>
              <a:rPr sz="1400" b="1">
                <a:solidFill>
                  <a:srgbClr val="FFFFFF"/>
                </a:solidFill>
                <a:latin typeface="Segoe UI"/>
              </a:rPr>
              <a:t>Storage, config &amp; users</a:t>
            </a:r>
          </a:p>
          <a:p>
            <a:pPr algn="l">
              <a:spcBef>
                <a:spcPts val="400"/>
              </a:spcBef>
            </a:pPr>
            <a:r>
              <a:rPr sz="1100" b="0">
                <a:solidFill>
                  <a:srgbClr val="FFFFFF"/>
                </a:solidFill>
                <a:latin typeface="Segoe UI"/>
              </a:rPr>
              <a:t>See where storage is used, review server settings in the Config tab, and list roles and users — everything needed to understand and tune the server.</a:t>
            </a:r>
          </a:p>
        </p:txBody>
      </p:sp>
      <p:sp>
        <p:nvSpPr>
          <p:cNvPr id="12" name="TextBox 11"/>
          <p:cNvSpPr txBox="1"/>
          <p:nvPr/>
        </p:nvSpPr>
        <p:spPr>
          <a:xfrm>
            <a:off x="502920" y="6473952"/>
            <a:ext cx="8229600" cy="274320"/>
          </a:xfrm>
          <a:prstGeom prst="rect">
            <a:avLst/>
          </a:prstGeom>
          <a:noFill/>
        </p:spPr>
        <p:txBody>
          <a:bodyPr wrap="square">
            <a:spAutoFit/>
          </a:bodyPr>
          <a:lstStyle/>
          <a:p>
            <a:pPr algn="l"/>
            <a:r>
              <a:rPr sz="900" b="0">
                <a:solidFill>
                  <a:srgbClr val="5E6B76"/>
                </a:solidFill>
                <a:latin typeface="Segoe UI"/>
              </a:rPr>
              <a:t>Actmon  ·  PostgreSQL Monitoring</a:t>
            </a:r>
          </a:p>
        </p:txBody>
      </p:sp>
      <p:sp>
        <p:nvSpPr>
          <p:cNvPr id="13" name="TextBox 12"/>
          <p:cNvSpPr txBox="1"/>
          <p:nvPr/>
        </p:nvSpPr>
        <p:spPr>
          <a:xfrm>
            <a:off x="11155680" y="6473952"/>
            <a:ext cx="822960" cy="274320"/>
          </a:xfrm>
          <a:prstGeom prst="rect">
            <a:avLst/>
          </a:prstGeom>
          <a:noFill/>
        </p:spPr>
        <p:txBody>
          <a:bodyPr wrap="square">
            <a:spAutoFit/>
          </a:bodyPr>
          <a:lstStyle/>
          <a:p>
            <a:pPr algn="r"/>
            <a:r>
              <a:rPr sz="900" b="0">
                <a:solidFill>
                  <a:srgbClr val="5E6B76"/>
                </a:solidFill>
                <a:latin typeface="Segoe U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448495" y="-1554480"/>
            <a:ext cx="4206240" cy="4206240"/>
          </a:xfrm>
          <a:prstGeom prst="ellipse">
            <a:avLst/>
          </a:prstGeom>
          <a:solidFill>
            <a:srgbClr val="DC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297680"/>
            <a:ext cx="4023360" cy="4023360"/>
          </a:xfrm>
          <a:prstGeom prst="ellipse">
            <a:avLst/>
          </a:prstGeom>
          <a:solidFill>
            <a:srgbClr val="DC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457200"/>
            <a:ext cx="10972800" cy="640080"/>
          </a:xfrm>
          <a:prstGeom prst="rect">
            <a:avLst/>
          </a:prstGeom>
          <a:noFill/>
        </p:spPr>
        <p:txBody>
          <a:bodyPr wrap="square">
            <a:spAutoFit/>
          </a:bodyPr>
          <a:lstStyle/>
          <a:p>
            <a:pPr algn="l"/>
            <a:r>
              <a:rPr sz="2900" b="1">
                <a:solidFill>
                  <a:srgbClr val="1C4966"/>
                </a:solidFill>
                <a:latin typeface="Segoe UI"/>
              </a:rPr>
              <a:t>OVERVIEW METRICS</a:t>
            </a:r>
          </a:p>
        </p:txBody>
      </p:sp>
      <p:sp>
        <p:nvSpPr>
          <p:cNvPr id="6" name="Rectangle 5"/>
          <p:cNvSpPr/>
          <p:nvPr/>
        </p:nvSpPr>
        <p:spPr>
          <a:xfrm>
            <a:off x="603504" y="1207008"/>
            <a:ext cx="1463040" cy="54864"/>
          </a:xfrm>
          <a:prstGeom prst="rect">
            <a:avLst/>
          </a:prstGeom>
          <a:solidFill>
            <a:srgbClr val="1C49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1371600"/>
            <a:ext cx="11064240" cy="457200"/>
          </a:xfrm>
          <a:prstGeom prst="rect">
            <a:avLst/>
          </a:prstGeom>
          <a:noFill/>
        </p:spPr>
        <p:txBody>
          <a:bodyPr wrap="square">
            <a:spAutoFit/>
          </a:bodyPr>
          <a:lstStyle/>
          <a:p>
            <a:pPr algn="l"/>
            <a:r>
              <a:rPr sz="1300" b="0">
                <a:solidFill>
                  <a:srgbClr val="2C3B47"/>
                </a:solidFill>
                <a:latin typeface="Segoe UI"/>
              </a:rPr>
              <a:t>The most important numbers, explained in plain language.</a:t>
            </a:r>
          </a:p>
        </p:txBody>
      </p:sp>
      <p:sp>
        <p:nvSpPr>
          <p:cNvPr id="8" name="Rounded Rectangle 7"/>
          <p:cNvSpPr/>
          <p:nvPr/>
        </p:nvSpPr>
        <p:spPr>
          <a:xfrm>
            <a:off x="548640" y="1965960"/>
            <a:ext cx="5417820" cy="1965960"/>
          </a:xfrm>
          <a:prstGeom prst="roundRect">
            <a:avLst/>
          </a:prstGeom>
          <a:solidFill>
            <a:srgbClr val="6E98A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237744" tIns="146304"/>
          <a:lstStyle/>
          <a:p>
            <a:pPr algn="l"/>
            <a:r>
              <a:rPr sz="1800" b="1">
                <a:solidFill>
                  <a:srgbClr val="D7E6EF"/>
                </a:solidFill>
                <a:latin typeface="Segoe UI"/>
              </a:rPr>
              <a:t>01   </a:t>
            </a:r>
            <a:r>
              <a:rPr sz="1400" b="1">
                <a:solidFill>
                  <a:srgbClr val="FFFFFF"/>
                </a:solidFill>
                <a:latin typeface="Segoe UI"/>
              </a:rPr>
              <a:t>Uptime &amp; version</a:t>
            </a:r>
          </a:p>
          <a:p>
            <a:pPr algn="l">
              <a:spcBef>
                <a:spcPts val="400"/>
              </a:spcBef>
            </a:pPr>
            <a:r>
              <a:rPr sz="1100" b="0">
                <a:solidFill>
                  <a:srgbClr val="FFFFFF"/>
                </a:solidFill>
                <a:latin typeface="Segoe UI"/>
              </a:rPr>
              <a:t>Uptime shows how long PostgreSQL has run without a restart; the version tells you exactly which build is running, which matters for features and known issues.</a:t>
            </a:r>
          </a:p>
        </p:txBody>
      </p:sp>
      <p:sp>
        <p:nvSpPr>
          <p:cNvPr id="9" name="Rounded Rectangle 8"/>
          <p:cNvSpPr/>
          <p:nvPr/>
        </p:nvSpPr>
        <p:spPr>
          <a:xfrm>
            <a:off x="6240780" y="1965960"/>
            <a:ext cx="5417820" cy="1965960"/>
          </a:xfrm>
          <a:prstGeom prst="roundRect">
            <a:avLst/>
          </a:prstGeom>
          <a:solidFill>
            <a:srgbClr val="4F809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237744" tIns="146304"/>
          <a:lstStyle/>
          <a:p>
            <a:pPr algn="l"/>
            <a:r>
              <a:rPr sz="1800" b="1">
                <a:solidFill>
                  <a:srgbClr val="D7E6EF"/>
                </a:solidFill>
                <a:latin typeface="Segoe UI"/>
              </a:rPr>
              <a:t>02   </a:t>
            </a:r>
            <a:r>
              <a:rPr sz="1400" b="1">
                <a:solidFill>
                  <a:srgbClr val="FFFFFF"/>
                </a:solidFill>
                <a:latin typeface="Segoe UI"/>
              </a:rPr>
              <a:t>Connections &amp; sessions</a:t>
            </a:r>
          </a:p>
          <a:p>
            <a:pPr algn="l">
              <a:spcBef>
                <a:spcPts val="400"/>
              </a:spcBef>
            </a:pPr>
            <a:r>
              <a:rPr sz="1100" b="0">
                <a:solidFill>
                  <a:srgbClr val="FFFFFF"/>
                </a:solidFill>
                <a:latin typeface="Segoe UI"/>
              </a:rPr>
              <a:t>How many client connections are in use out of the maximum, and how many sessions are active right now — so you can see if you are close to the limit or unusually busy.</a:t>
            </a:r>
          </a:p>
        </p:txBody>
      </p:sp>
      <p:sp>
        <p:nvSpPr>
          <p:cNvPr id="10" name="Rounded Rectangle 9"/>
          <p:cNvSpPr/>
          <p:nvPr/>
        </p:nvSpPr>
        <p:spPr>
          <a:xfrm>
            <a:off x="548640" y="4206240"/>
            <a:ext cx="5417820" cy="1965960"/>
          </a:xfrm>
          <a:prstGeom prst="roundRect">
            <a:avLst/>
          </a:prstGeom>
          <a:solidFill>
            <a:srgbClr val="3A6A8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237744" tIns="146304"/>
          <a:lstStyle/>
          <a:p>
            <a:pPr algn="l"/>
            <a:r>
              <a:rPr sz="1800" b="1">
                <a:solidFill>
                  <a:srgbClr val="D7E6EF"/>
                </a:solidFill>
                <a:latin typeface="Segoe UI"/>
              </a:rPr>
              <a:t>03   </a:t>
            </a:r>
            <a:r>
              <a:rPr sz="1400" b="1">
                <a:solidFill>
                  <a:srgbClr val="FFFFFF"/>
                </a:solidFill>
                <a:latin typeface="Segoe UI"/>
              </a:rPr>
              <a:t>Buffer cache hit %</a:t>
            </a:r>
          </a:p>
          <a:p>
            <a:pPr algn="l">
              <a:spcBef>
                <a:spcPts val="400"/>
              </a:spcBef>
            </a:pPr>
            <a:r>
              <a:rPr sz="1100" b="0">
                <a:solidFill>
                  <a:srgbClr val="FFFFFF"/>
                </a:solidFill>
                <a:latin typeface="Segoe UI"/>
              </a:rPr>
              <a:t>How often reads are answered from memory instead of disk. A high value means memory is well used and reads are fast; a falling value warns of memory pressure hurting performance.</a:t>
            </a:r>
          </a:p>
        </p:txBody>
      </p:sp>
      <p:sp>
        <p:nvSpPr>
          <p:cNvPr id="11" name="Rounded Rectangle 10"/>
          <p:cNvSpPr/>
          <p:nvPr/>
        </p:nvSpPr>
        <p:spPr>
          <a:xfrm>
            <a:off x="6240780" y="4206240"/>
            <a:ext cx="5417820" cy="1965960"/>
          </a:xfrm>
          <a:prstGeom prst="roundRect">
            <a:avLst/>
          </a:prstGeom>
          <a:solidFill>
            <a:srgbClr val="2A557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237744" tIns="146304"/>
          <a:lstStyle/>
          <a:p>
            <a:pPr algn="l"/>
            <a:r>
              <a:rPr sz="1800" b="1">
                <a:solidFill>
                  <a:srgbClr val="D7E6EF"/>
                </a:solidFill>
                <a:latin typeface="Segoe UI"/>
              </a:rPr>
              <a:t>04   </a:t>
            </a:r>
            <a:r>
              <a:rPr sz="1400" b="1">
                <a:solidFill>
                  <a:srgbClr val="FFFFFF"/>
                </a:solidFill>
                <a:latin typeface="Segoe UI"/>
              </a:rPr>
              <a:t>Commits &amp; rollback rate</a:t>
            </a:r>
          </a:p>
          <a:p>
            <a:pPr algn="l">
              <a:spcBef>
                <a:spcPts val="400"/>
              </a:spcBef>
            </a:pPr>
            <a:r>
              <a:rPr sz="1100" b="0">
                <a:solidFill>
                  <a:srgbClr val="FFFFFF"/>
                </a:solidFill>
                <a:latin typeface="Segoe UI"/>
              </a:rPr>
              <a:t>The volume of committed transactions versus rolled-back ones. A high rollback rate is an early sign that application errors or conflicts are wasting database work.</a:t>
            </a:r>
          </a:p>
        </p:txBody>
      </p:sp>
      <p:sp>
        <p:nvSpPr>
          <p:cNvPr id="12" name="TextBox 11"/>
          <p:cNvSpPr txBox="1"/>
          <p:nvPr/>
        </p:nvSpPr>
        <p:spPr>
          <a:xfrm>
            <a:off x="502920" y="6473952"/>
            <a:ext cx="8229600" cy="274320"/>
          </a:xfrm>
          <a:prstGeom prst="rect">
            <a:avLst/>
          </a:prstGeom>
          <a:noFill/>
        </p:spPr>
        <p:txBody>
          <a:bodyPr wrap="square">
            <a:spAutoFit/>
          </a:bodyPr>
          <a:lstStyle/>
          <a:p>
            <a:pPr algn="l"/>
            <a:r>
              <a:rPr sz="900" b="0">
                <a:solidFill>
                  <a:srgbClr val="5E6B76"/>
                </a:solidFill>
                <a:latin typeface="Segoe UI"/>
              </a:rPr>
              <a:t>Actmon  ·  PostgreSQL Monitoring</a:t>
            </a:r>
          </a:p>
        </p:txBody>
      </p:sp>
      <p:sp>
        <p:nvSpPr>
          <p:cNvPr id="13" name="TextBox 12"/>
          <p:cNvSpPr txBox="1"/>
          <p:nvPr/>
        </p:nvSpPr>
        <p:spPr>
          <a:xfrm>
            <a:off x="11155680" y="6473952"/>
            <a:ext cx="822960" cy="274320"/>
          </a:xfrm>
          <a:prstGeom prst="rect">
            <a:avLst/>
          </a:prstGeom>
          <a:noFill/>
        </p:spPr>
        <p:txBody>
          <a:bodyPr wrap="square">
            <a:spAutoFit/>
          </a:bodyPr>
          <a:lstStyle/>
          <a:p>
            <a:pPr algn="r"/>
            <a:r>
              <a:rPr sz="900" b="0">
                <a:solidFill>
                  <a:srgbClr val="5E6B76"/>
                </a:solidFill>
                <a:latin typeface="Segoe U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448495" y="-1554480"/>
            <a:ext cx="4206240" cy="4206240"/>
          </a:xfrm>
          <a:prstGeom prst="ellipse">
            <a:avLst/>
          </a:prstGeom>
          <a:solidFill>
            <a:srgbClr val="DC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297680"/>
            <a:ext cx="4023360" cy="4023360"/>
          </a:xfrm>
          <a:prstGeom prst="ellipse">
            <a:avLst/>
          </a:prstGeom>
          <a:solidFill>
            <a:srgbClr val="DC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60120" y="5059680"/>
            <a:ext cx="749808" cy="426719"/>
          </a:xfrm>
          <a:prstGeom prst="rect">
            <a:avLst/>
          </a:prstGeom>
          <a:solidFill>
            <a:srgbClr val="A9C7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960120" y="4632960"/>
            <a:ext cx="749808" cy="426719"/>
          </a:xfrm>
          <a:prstGeom prst="rect">
            <a:avLst/>
          </a:prstGeom>
          <a:solidFill>
            <a:srgbClr val="6E98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60120" y="4206240"/>
            <a:ext cx="749808" cy="426719"/>
          </a:xfrm>
          <a:prstGeom prst="rect">
            <a:avLst/>
          </a:prstGeom>
          <a:solidFill>
            <a:srgbClr val="3A6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093976" y="4846320"/>
            <a:ext cx="749808" cy="640080"/>
          </a:xfrm>
          <a:prstGeom prst="rect">
            <a:avLst/>
          </a:prstGeom>
          <a:solidFill>
            <a:srgbClr val="A9C7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093976" y="4206240"/>
            <a:ext cx="749808" cy="640080"/>
          </a:xfrm>
          <a:prstGeom prst="rect">
            <a:avLst/>
          </a:prstGeom>
          <a:solidFill>
            <a:srgbClr val="6E98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093976" y="3566160"/>
            <a:ext cx="749808" cy="640080"/>
          </a:xfrm>
          <a:prstGeom prst="rect">
            <a:avLst/>
          </a:prstGeom>
          <a:solidFill>
            <a:srgbClr val="3A6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227832" y="4602480"/>
            <a:ext cx="749808" cy="883920"/>
          </a:xfrm>
          <a:prstGeom prst="rect">
            <a:avLst/>
          </a:prstGeom>
          <a:solidFill>
            <a:srgbClr val="A9C7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227832" y="3718560"/>
            <a:ext cx="749808" cy="883920"/>
          </a:xfrm>
          <a:prstGeom prst="rect">
            <a:avLst/>
          </a:prstGeom>
          <a:solidFill>
            <a:srgbClr val="6E98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227832" y="2834640"/>
            <a:ext cx="749808" cy="883920"/>
          </a:xfrm>
          <a:prstGeom prst="rect">
            <a:avLst/>
          </a:prstGeom>
          <a:solidFill>
            <a:srgbClr val="3A6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61688" y="4358640"/>
            <a:ext cx="749808" cy="1127760"/>
          </a:xfrm>
          <a:prstGeom prst="rect">
            <a:avLst/>
          </a:prstGeom>
          <a:solidFill>
            <a:srgbClr val="A9C7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61688" y="3230880"/>
            <a:ext cx="749808" cy="1127760"/>
          </a:xfrm>
          <a:prstGeom prst="rect">
            <a:avLst/>
          </a:prstGeom>
          <a:solidFill>
            <a:srgbClr val="6E98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61688" y="2103120"/>
            <a:ext cx="749808" cy="1127760"/>
          </a:xfrm>
          <a:prstGeom prst="rect">
            <a:avLst/>
          </a:prstGeom>
          <a:solidFill>
            <a:srgbClr val="3A6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126480" y="1371600"/>
            <a:ext cx="5577840" cy="1371600"/>
          </a:xfrm>
          <a:prstGeom prst="rect">
            <a:avLst/>
          </a:prstGeom>
          <a:noFill/>
        </p:spPr>
        <p:txBody>
          <a:bodyPr wrap="square">
            <a:spAutoFit/>
          </a:bodyPr>
          <a:lstStyle/>
          <a:p>
            <a:pPr algn="l"/>
            <a:r>
              <a:rPr sz="3000" b="1">
                <a:solidFill>
                  <a:srgbClr val="1C4966"/>
                </a:solidFill>
                <a:latin typeface="Segoe UI"/>
              </a:rPr>
              <a:t>PERFORMANCE &amp; ACTIVITY</a:t>
            </a:r>
          </a:p>
        </p:txBody>
      </p:sp>
      <p:sp>
        <p:nvSpPr>
          <p:cNvPr id="18" name="Rectangle 17"/>
          <p:cNvSpPr/>
          <p:nvPr/>
        </p:nvSpPr>
        <p:spPr>
          <a:xfrm>
            <a:off x="6181344" y="2606040"/>
            <a:ext cx="1463040" cy="54864"/>
          </a:xfrm>
          <a:prstGeom prst="rect">
            <a:avLst/>
          </a:prstGeom>
          <a:solidFill>
            <a:srgbClr val="1C49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144768" y="2834640"/>
            <a:ext cx="5623560" cy="3108960"/>
          </a:xfrm>
          <a:prstGeom prst="rect">
            <a:avLst/>
          </a:prstGeom>
          <a:noFill/>
        </p:spPr>
        <p:txBody>
          <a:bodyPr wrap="square">
            <a:spAutoFit/>
          </a:bodyPr>
          <a:lstStyle/>
          <a:p>
            <a:pPr algn="l"/>
            <a:r>
              <a:rPr sz="1300" b="0">
                <a:solidFill>
                  <a:srgbClr val="2C3B47"/>
                </a:solidFill>
                <a:latin typeface="Segoe UI"/>
              </a:rPr>
              <a:t>This view shows how busy PostgreSQL is and how efficiently it serves work. You see query operations such as inserts, updates, deletes and commits, the buffer cache hit ratio that tells you how much is served from memory, and temp-file and temp-byte usage that reveal queries spilling to disk because they need more memory. Together these make it easy to tell whether the server is comfortable or whether queries are forcing slow disk work and need attention.</a:t>
            </a:r>
          </a:p>
        </p:txBody>
      </p:sp>
      <p:sp>
        <p:nvSpPr>
          <p:cNvPr id="20" name="TextBox 19"/>
          <p:cNvSpPr txBox="1"/>
          <p:nvPr/>
        </p:nvSpPr>
        <p:spPr>
          <a:xfrm>
            <a:off x="502920" y="6473952"/>
            <a:ext cx="8229600" cy="274320"/>
          </a:xfrm>
          <a:prstGeom prst="rect">
            <a:avLst/>
          </a:prstGeom>
          <a:noFill/>
        </p:spPr>
        <p:txBody>
          <a:bodyPr wrap="square">
            <a:spAutoFit/>
          </a:bodyPr>
          <a:lstStyle/>
          <a:p>
            <a:pPr algn="l"/>
            <a:r>
              <a:rPr sz="900" b="0">
                <a:solidFill>
                  <a:srgbClr val="5E6B76"/>
                </a:solidFill>
                <a:latin typeface="Segoe UI"/>
              </a:rPr>
              <a:t>Actmon  ·  PostgreSQL Monitoring</a:t>
            </a:r>
          </a:p>
        </p:txBody>
      </p:sp>
      <p:sp>
        <p:nvSpPr>
          <p:cNvPr id="21" name="TextBox 20"/>
          <p:cNvSpPr txBox="1"/>
          <p:nvPr/>
        </p:nvSpPr>
        <p:spPr>
          <a:xfrm>
            <a:off x="11155680" y="6473952"/>
            <a:ext cx="822960" cy="274320"/>
          </a:xfrm>
          <a:prstGeom prst="rect">
            <a:avLst/>
          </a:prstGeom>
          <a:noFill/>
        </p:spPr>
        <p:txBody>
          <a:bodyPr wrap="square">
            <a:spAutoFit/>
          </a:bodyPr>
          <a:lstStyle/>
          <a:p>
            <a:pPr algn="r"/>
            <a:r>
              <a:rPr sz="900" b="0">
                <a:solidFill>
                  <a:srgbClr val="5E6B76"/>
                </a:solidFill>
                <a:latin typeface="Segoe U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448495" y="-1554480"/>
            <a:ext cx="4206240" cy="4206240"/>
          </a:xfrm>
          <a:prstGeom prst="ellipse">
            <a:avLst/>
          </a:prstGeom>
          <a:solidFill>
            <a:srgbClr val="DC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297680"/>
            <a:ext cx="4023360" cy="4023360"/>
          </a:xfrm>
          <a:prstGeom prst="ellipse">
            <a:avLst/>
          </a:prstGeom>
          <a:solidFill>
            <a:srgbClr val="DC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1051560"/>
            <a:ext cx="4983480" cy="4846320"/>
          </a:xfrm>
          <a:prstGeom prst="roundRect">
            <a:avLst/>
          </a:prstGeom>
          <a:solidFill>
            <a:srgbClr val="B9D4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10896" rIns="274320"/>
          <a:lstStyle/>
          <a:p>
            <a:pPr algn="l"/>
            <a:r>
              <a:rPr sz="2700" b="1">
                <a:solidFill>
                  <a:srgbClr val="1C4966"/>
                </a:solidFill>
                <a:latin typeface="Segoe UI"/>
              </a:rPr>
              <a:t>HOST RESOURCES</a:t>
            </a:r>
          </a:p>
          <a:p>
            <a:pPr algn="l">
              <a:spcBef>
                <a:spcPts val="1000"/>
              </a:spcBef>
            </a:pPr>
            <a:r>
              <a:rPr sz="1250" b="0">
                <a:solidFill>
                  <a:srgbClr val="1C4966"/>
                </a:solidFill>
                <a:latin typeface="Segoe UI"/>
              </a:rPr>
              <a:t>Actmon watches the machine PostgreSQL runs on, not just the database — so you can tell a real database problem apart from an overloaded server.</a:t>
            </a:r>
          </a:p>
        </p:txBody>
      </p:sp>
      <p:sp>
        <p:nvSpPr>
          <p:cNvPr id="6" name="Rectangle 5"/>
          <p:cNvSpPr/>
          <p:nvPr/>
        </p:nvSpPr>
        <p:spPr>
          <a:xfrm>
            <a:off x="6355080" y="1234440"/>
            <a:ext cx="27432" cy="4663440"/>
          </a:xfrm>
          <a:prstGeom prst="rect">
            <a:avLst/>
          </a:prstGeom>
          <a:solidFill>
            <a:srgbClr val="1C49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91072" y="1344168"/>
            <a:ext cx="155448" cy="155448"/>
          </a:xfrm>
          <a:prstGeom prst="ellipse">
            <a:avLst/>
          </a:prstGeom>
          <a:solidFill>
            <a:srgbClr val="1C49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47688" y="1252728"/>
            <a:ext cx="5349240" cy="411480"/>
          </a:xfrm>
          <a:prstGeom prst="rect">
            <a:avLst/>
          </a:prstGeom>
          <a:noFill/>
        </p:spPr>
        <p:txBody>
          <a:bodyPr wrap="square">
            <a:spAutoFit/>
          </a:bodyPr>
          <a:lstStyle/>
          <a:p>
            <a:pPr algn="l"/>
            <a:r>
              <a:rPr sz="1700" b="1">
                <a:solidFill>
                  <a:srgbClr val="1C4966"/>
                </a:solidFill>
                <a:latin typeface="Segoe UI"/>
              </a:rPr>
              <a:t>01  </a:t>
            </a:r>
            <a:r>
              <a:rPr sz="1400" b="1">
                <a:solidFill>
                  <a:srgbClr val="1C4966"/>
                </a:solidFill>
                <a:latin typeface="Segoe UI"/>
              </a:rPr>
              <a:t>CPU, memory and disk</a:t>
            </a:r>
          </a:p>
        </p:txBody>
      </p:sp>
      <p:sp>
        <p:nvSpPr>
          <p:cNvPr id="9" name="TextBox 8"/>
          <p:cNvSpPr txBox="1"/>
          <p:nvPr/>
        </p:nvSpPr>
        <p:spPr>
          <a:xfrm>
            <a:off x="6665976" y="1691640"/>
            <a:ext cx="5303520" cy="1097280"/>
          </a:xfrm>
          <a:prstGeom prst="rect">
            <a:avLst/>
          </a:prstGeom>
          <a:noFill/>
        </p:spPr>
        <p:txBody>
          <a:bodyPr wrap="square">
            <a:spAutoFit/>
          </a:bodyPr>
          <a:lstStyle/>
          <a:p>
            <a:pPr algn="l"/>
            <a:r>
              <a:rPr sz="1100" b="0">
                <a:solidFill>
                  <a:srgbClr val="2C3B47"/>
                </a:solidFill>
                <a:latin typeface="Segoe UI"/>
              </a:rPr>
              <a:t>On a Linux host this is read over SSH; a local server is read directly. You see CPU usage out of 100 with the core count, RAM used versus total, and how full the disk is.</a:t>
            </a:r>
          </a:p>
        </p:txBody>
      </p:sp>
      <p:sp>
        <p:nvSpPr>
          <p:cNvPr id="10" name="Oval 9"/>
          <p:cNvSpPr/>
          <p:nvPr/>
        </p:nvSpPr>
        <p:spPr>
          <a:xfrm>
            <a:off x="6291072" y="2898648"/>
            <a:ext cx="155448" cy="155448"/>
          </a:xfrm>
          <a:prstGeom prst="ellipse">
            <a:avLst/>
          </a:prstGeom>
          <a:solidFill>
            <a:srgbClr val="1C49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47688" y="2807208"/>
            <a:ext cx="5349240" cy="411480"/>
          </a:xfrm>
          <a:prstGeom prst="rect">
            <a:avLst/>
          </a:prstGeom>
          <a:noFill/>
        </p:spPr>
        <p:txBody>
          <a:bodyPr wrap="square">
            <a:spAutoFit/>
          </a:bodyPr>
          <a:lstStyle/>
          <a:p>
            <a:pPr algn="l"/>
            <a:r>
              <a:rPr sz="1700" b="1">
                <a:solidFill>
                  <a:srgbClr val="1C4966"/>
                </a:solidFill>
                <a:latin typeface="Segoe UI"/>
              </a:rPr>
              <a:t>02  </a:t>
            </a:r>
            <a:r>
              <a:rPr sz="1400" b="1">
                <a:solidFill>
                  <a:srgbClr val="1C4966"/>
                </a:solidFill>
                <a:latin typeface="Segoe UI"/>
              </a:rPr>
              <a:t>Top processes on demand</a:t>
            </a:r>
          </a:p>
        </p:txBody>
      </p:sp>
      <p:sp>
        <p:nvSpPr>
          <p:cNvPr id="12" name="TextBox 11"/>
          <p:cNvSpPr txBox="1"/>
          <p:nvPr/>
        </p:nvSpPr>
        <p:spPr>
          <a:xfrm>
            <a:off x="6665976" y="3246120"/>
            <a:ext cx="5303520" cy="1097280"/>
          </a:xfrm>
          <a:prstGeom prst="rect">
            <a:avLst/>
          </a:prstGeom>
          <a:noFill/>
        </p:spPr>
        <p:txBody>
          <a:bodyPr wrap="square">
            <a:spAutoFit/>
          </a:bodyPr>
          <a:lstStyle/>
          <a:p>
            <a:pPr algn="l"/>
            <a:r>
              <a:rPr sz="1100" b="0">
                <a:solidFill>
                  <a:srgbClr val="2C3B47"/>
                </a:solidFill>
                <a:latin typeface="Segoe UI"/>
              </a:rPr>
              <a:t>Click a CPU or memory gauge to list the processes using the most resources, with the database clearly marked, answering 'is it the database or something else?' instantly.</a:t>
            </a:r>
          </a:p>
        </p:txBody>
      </p:sp>
      <p:sp>
        <p:nvSpPr>
          <p:cNvPr id="13" name="Oval 12"/>
          <p:cNvSpPr/>
          <p:nvPr/>
        </p:nvSpPr>
        <p:spPr>
          <a:xfrm>
            <a:off x="6291072" y="4453128"/>
            <a:ext cx="155448" cy="155448"/>
          </a:xfrm>
          <a:prstGeom prst="ellipse">
            <a:avLst/>
          </a:prstGeom>
          <a:solidFill>
            <a:srgbClr val="1C49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47688" y="4361688"/>
            <a:ext cx="5349240" cy="411480"/>
          </a:xfrm>
          <a:prstGeom prst="rect">
            <a:avLst/>
          </a:prstGeom>
          <a:noFill/>
        </p:spPr>
        <p:txBody>
          <a:bodyPr wrap="square">
            <a:spAutoFit/>
          </a:bodyPr>
          <a:lstStyle/>
          <a:p>
            <a:pPr algn="l"/>
            <a:r>
              <a:rPr sz="1700" b="1">
                <a:solidFill>
                  <a:srgbClr val="1C4966"/>
                </a:solidFill>
                <a:latin typeface="Segoe UI"/>
              </a:rPr>
              <a:t>03  </a:t>
            </a:r>
            <a:r>
              <a:rPr sz="1400" b="1">
                <a:solidFill>
                  <a:srgbClr val="1C4966"/>
                </a:solidFill>
                <a:latin typeface="Segoe UI"/>
              </a:rPr>
              <a:t>History for spikes</a:t>
            </a:r>
          </a:p>
        </p:txBody>
      </p:sp>
      <p:sp>
        <p:nvSpPr>
          <p:cNvPr id="15" name="TextBox 14"/>
          <p:cNvSpPr txBox="1"/>
          <p:nvPr/>
        </p:nvSpPr>
        <p:spPr>
          <a:xfrm>
            <a:off x="6665976" y="4800600"/>
            <a:ext cx="5303520" cy="1097280"/>
          </a:xfrm>
          <a:prstGeom prst="rect">
            <a:avLst/>
          </a:prstGeom>
          <a:noFill/>
        </p:spPr>
        <p:txBody>
          <a:bodyPr wrap="square">
            <a:spAutoFit/>
          </a:bodyPr>
          <a:lstStyle/>
          <a:p>
            <a:pPr algn="l"/>
            <a:r>
              <a:rPr sz="1100" b="0">
                <a:solidFill>
                  <a:srgbClr val="2C3B47"/>
                </a:solidFill>
                <a:latin typeface="Segoe UI"/>
              </a:rPr>
              <a:t>Past resource samples are kept, so when CPU or memory spikes you can look back at what was happening at that moment instead of relying on guesswork.</a:t>
            </a:r>
          </a:p>
        </p:txBody>
      </p:sp>
      <p:sp>
        <p:nvSpPr>
          <p:cNvPr id="16" name="TextBox 15"/>
          <p:cNvSpPr txBox="1"/>
          <p:nvPr/>
        </p:nvSpPr>
        <p:spPr>
          <a:xfrm>
            <a:off x="502920" y="6473952"/>
            <a:ext cx="8229600" cy="274320"/>
          </a:xfrm>
          <a:prstGeom prst="rect">
            <a:avLst/>
          </a:prstGeom>
          <a:noFill/>
        </p:spPr>
        <p:txBody>
          <a:bodyPr wrap="square">
            <a:spAutoFit/>
          </a:bodyPr>
          <a:lstStyle/>
          <a:p>
            <a:pPr algn="l"/>
            <a:r>
              <a:rPr sz="900" b="0">
                <a:solidFill>
                  <a:srgbClr val="5E6B76"/>
                </a:solidFill>
                <a:latin typeface="Segoe UI"/>
              </a:rPr>
              <a:t>Actmon  ·  PostgreSQL Monitoring</a:t>
            </a:r>
          </a:p>
        </p:txBody>
      </p:sp>
      <p:sp>
        <p:nvSpPr>
          <p:cNvPr id="17" name="TextBox 16"/>
          <p:cNvSpPr txBox="1"/>
          <p:nvPr/>
        </p:nvSpPr>
        <p:spPr>
          <a:xfrm>
            <a:off x="11155680" y="6473952"/>
            <a:ext cx="822960" cy="274320"/>
          </a:xfrm>
          <a:prstGeom prst="rect">
            <a:avLst/>
          </a:prstGeom>
          <a:noFill/>
        </p:spPr>
        <p:txBody>
          <a:bodyPr wrap="square">
            <a:spAutoFit/>
          </a:bodyPr>
          <a:lstStyle/>
          <a:p>
            <a:pPr algn="r"/>
            <a:r>
              <a:rPr sz="900" b="0">
                <a:solidFill>
                  <a:srgbClr val="5E6B76"/>
                </a:solidFill>
                <a:latin typeface="Segoe U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448495" y="-1554480"/>
            <a:ext cx="4206240" cy="4206240"/>
          </a:xfrm>
          <a:prstGeom prst="ellipse">
            <a:avLst/>
          </a:prstGeom>
          <a:solidFill>
            <a:srgbClr val="DC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297680"/>
            <a:ext cx="4023360" cy="4023360"/>
          </a:xfrm>
          <a:prstGeom prst="ellipse">
            <a:avLst/>
          </a:prstGeom>
          <a:solidFill>
            <a:srgbClr val="DC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457200"/>
            <a:ext cx="10972800" cy="640080"/>
          </a:xfrm>
          <a:prstGeom prst="rect">
            <a:avLst/>
          </a:prstGeom>
          <a:noFill/>
        </p:spPr>
        <p:txBody>
          <a:bodyPr wrap="square">
            <a:spAutoFit/>
          </a:bodyPr>
          <a:lstStyle/>
          <a:p>
            <a:pPr algn="l"/>
            <a:r>
              <a:rPr sz="2900" b="1">
                <a:solidFill>
                  <a:srgbClr val="1C4966"/>
                </a:solidFill>
                <a:latin typeface="Segoe UI"/>
              </a:rPr>
              <a:t>SLOW QUERIES WITH AI</a:t>
            </a:r>
          </a:p>
        </p:txBody>
      </p:sp>
      <p:sp>
        <p:nvSpPr>
          <p:cNvPr id="6" name="Rectangle 5"/>
          <p:cNvSpPr/>
          <p:nvPr/>
        </p:nvSpPr>
        <p:spPr>
          <a:xfrm>
            <a:off x="603504" y="1207008"/>
            <a:ext cx="1463040" cy="54864"/>
          </a:xfrm>
          <a:prstGeom prst="rect">
            <a:avLst/>
          </a:prstGeom>
          <a:solidFill>
            <a:srgbClr val="1C49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1371600"/>
            <a:ext cx="11064240" cy="457200"/>
          </a:xfrm>
          <a:prstGeom prst="rect">
            <a:avLst/>
          </a:prstGeom>
          <a:noFill/>
        </p:spPr>
        <p:txBody>
          <a:bodyPr wrap="square">
            <a:spAutoFit/>
          </a:bodyPr>
          <a:lstStyle/>
          <a:p>
            <a:pPr algn="l"/>
            <a:r>
              <a:rPr sz="1300" b="0">
                <a:solidFill>
                  <a:srgbClr val="2C3B47"/>
                </a:solidFill>
                <a:latin typeface="Segoe UI"/>
              </a:rPr>
              <a:t>Find the slowest queries and get fixes automatically.</a:t>
            </a:r>
          </a:p>
        </p:txBody>
      </p:sp>
      <p:sp>
        <p:nvSpPr>
          <p:cNvPr id="8" name="Rounded Rectangle 7"/>
          <p:cNvSpPr/>
          <p:nvPr/>
        </p:nvSpPr>
        <p:spPr>
          <a:xfrm>
            <a:off x="548640" y="1965960"/>
            <a:ext cx="5417820" cy="1965960"/>
          </a:xfrm>
          <a:prstGeom prst="roundRect">
            <a:avLst/>
          </a:prstGeom>
          <a:solidFill>
            <a:srgbClr val="6E98A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237744" tIns="146304"/>
          <a:lstStyle/>
          <a:p>
            <a:pPr algn="l"/>
            <a:r>
              <a:rPr sz="1800" b="1">
                <a:solidFill>
                  <a:srgbClr val="D7E6EF"/>
                </a:solidFill>
                <a:latin typeface="Segoe UI"/>
              </a:rPr>
              <a:t>01   </a:t>
            </a:r>
            <a:r>
              <a:rPr sz="1400" b="1">
                <a:solidFill>
                  <a:srgbClr val="FFFFFF"/>
                </a:solidFill>
                <a:latin typeface="Segoe UI"/>
              </a:rPr>
              <a:t>One-click enable</a:t>
            </a:r>
          </a:p>
          <a:p>
            <a:pPr algn="l">
              <a:spcBef>
                <a:spcPts val="400"/>
              </a:spcBef>
            </a:pPr>
            <a:r>
              <a:rPr sz="1100" b="0">
                <a:solidFill>
                  <a:srgbClr val="FFFFFF"/>
                </a:solidFill>
                <a:latin typeface="Segoe UI"/>
              </a:rPr>
              <a:t>Slow-query tracking uses pg_stat_statements. If it is not on yet, Actmon can enable it for you, so you do not need to edit configuration files by hand.</a:t>
            </a:r>
          </a:p>
        </p:txBody>
      </p:sp>
      <p:sp>
        <p:nvSpPr>
          <p:cNvPr id="9" name="Rounded Rectangle 8"/>
          <p:cNvSpPr/>
          <p:nvPr/>
        </p:nvSpPr>
        <p:spPr>
          <a:xfrm>
            <a:off x="6240780" y="1965960"/>
            <a:ext cx="5417820" cy="1965960"/>
          </a:xfrm>
          <a:prstGeom prst="roundRect">
            <a:avLst/>
          </a:prstGeom>
          <a:solidFill>
            <a:srgbClr val="4F809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237744" tIns="146304"/>
          <a:lstStyle/>
          <a:p>
            <a:pPr algn="l"/>
            <a:r>
              <a:rPr sz="1800" b="1">
                <a:solidFill>
                  <a:srgbClr val="D7E6EF"/>
                </a:solidFill>
                <a:latin typeface="Segoe UI"/>
              </a:rPr>
              <a:t>02   </a:t>
            </a:r>
            <a:r>
              <a:rPr sz="1400" b="1">
                <a:solidFill>
                  <a:srgbClr val="FFFFFF"/>
                </a:solidFill>
                <a:latin typeface="Segoe UI"/>
              </a:rPr>
              <a:t>Ranked slow list</a:t>
            </a:r>
          </a:p>
          <a:p>
            <a:pPr algn="l">
              <a:spcBef>
                <a:spcPts val="400"/>
              </a:spcBef>
            </a:pPr>
            <a:r>
              <a:rPr sz="1100" b="0">
                <a:solidFill>
                  <a:srgbClr val="FFFFFF"/>
                </a:solidFill>
                <a:latin typeface="Segoe UI"/>
              </a:rPr>
              <a:t>Actmon lists the slowest statements, ranked so the worst offenders are easy to spot — you start from a clear, prioritised list instead of hunting through logs.</a:t>
            </a:r>
          </a:p>
        </p:txBody>
      </p:sp>
      <p:sp>
        <p:nvSpPr>
          <p:cNvPr id="10" name="Rounded Rectangle 9"/>
          <p:cNvSpPr/>
          <p:nvPr/>
        </p:nvSpPr>
        <p:spPr>
          <a:xfrm>
            <a:off x="548640" y="4206240"/>
            <a:ext cx="5417820" cy="1965960"/>
          </a:xfrm>
          <a:prstGeom prst="roundRect">
            <a:avLst/>
          </a:prstGeom>
          <a:solidFill>
            <a:srgbClr val="3A6A8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237744" tIns="146304"/>
          <a:lstStyle/>
          <a:p>
            <a:pPr algn="l"/>
            <a:r>
              <a:rPr sz="1800" b="1">
                <a:solidFill>
                  <a:srgbClr val="D7E6EF"/>
                </a:solidFill>
                <a:latin typeface="Segoe UI"/>
              </a:rPr>
              <a:t>03   </a:t>
            </a:r>
            <a:r>
              <a:rPr sz="1400" b="1">
                <a:solidFill>
                  <a:srgbClr val="FFFFFF"/>
                </a:solidFill>
                <a:latin typeface="Segoe UI"/>
              </a:rPr>
              <a:t>AI explains the cause</a:t>
            </a:r>
          </a:p>
          <a:p>
            <a:pPr algn="l">
              <a:spcBef>
                <a:spcPts val="400"/>
              </a:spcBef>
            </a:pPr>
            <a:r>
              <a:rPr sz="1100" b="0">
                <a:solidFill>
                  <a:srgbClr val="FFFFFF"/>
                </a:solidFill>
                <a:latin typeface="Segoe UI"/>
              </a:rPr>
              <a:t>Click any query and AI returns a severity rating and the root cause in plain language, such as a missing index or a query reading far more rows than it needs.</a:t>
            </a:r>
          </a:p>
        </p:txBody>
      </p:sp>
      <p:sp>
        <p:nvSpPr>
          <p:cNvPr id="11" name="Rounded Rectangle 10"/>
          <p:cNvSpPr/>
          <p:nvPr/>
        </p:nvSpPr>
        <p:spPr>
          <a:xfrm>
            <a:off x="6240780" y="4206240"/>
            <a:ext cx="5417820" cy="1965960"/>
          </a:xfrm>
          <a:prstGeom prst="roundRect">
            <a:avLst/>
          </a:prstGeom>
          <a:solidFill>
            <a:srgbClr val="2A557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237744" tIns="146304"/>
          <a:lstStyle/>
          <a:p>
            <a:pPr algn="l"/>
            <a:r>
              <a:rPr sz="1800" b="1">
                <a:solidFill>
                  <a:srgbClr val="D7E6EF"/>
                </a:solidFill>
                <a:latin typeface="Segoe UI"/>
              </a:rPr>
              <a:t>04   </a:t>
            </a:r>
            <a:r>
              <a:rPr sz="1400" b="1">
                <a:solidFill>
                  <a:srgbClr val="FFFFFF"/>
                </a:solidFill>
                <a:latin typeface="Segoe UI"/>
              </a:rPr>
              <a:t>Index or rewrite</a:t>
            </a:r>
          </a:p>
          <a:p>
            <a:pPr algn="l">
              <a:spcBef>
                <a:spcPts val="400"/>
              </a:spcBef>
            </a:pPr>
            <a:r>
              <a:rPr sz="1100" b="0">
                <a:solidFill>
                  <a:srgbClr val="FFFFFF"/>
                </a:solidFill>
                <a:latin typeface="Segoe UI"/>
              </a:rPr>
              <a:t>You get a suggested CREATE INDEX or a rewritten query, plus the most important actions first, turning a hard tuning task into a simple checklist.</a:t>
            </a:r>
          </a:p>
        </p:txBody>
      </p:sp>
      <p:sp>
        <p:nvSpPr>
          <p:cNvPr id="12" name="TextBox 11"/>
          <p:cNvSpPr txBox="1"/>
          <p:nvPr/>
        </p:nvSpPr>
        <p:spPr>
          <a:xfrm>
            <a:off x="502920" y="6473952"/>
            <a:ext cx="8229600" cy="274320"/>
          </a:xfrm>
          <a:prstGeom prst="rect">
            <a:avLst/>
          </a:prstGeom>
          <a:noFill/>
        </p:spPr>
        <p:txBody>
          <a:bodyPr wrap="square">
            <a:spAutoFit/>
          </a:bodyPr>
          <a:lstStyle/>
          <a:p>
            <a:pPr algn="l"/>
            <a:r>
              <a:rPr sz="900" b="0">
                <a:solidFill>
                  <a:srgbClr val="5E6B76"/>
                </a:solidFill>
                <a:latin typeface="Segoe UI"/>
              </a:rPr>
              <a:t>Actmon  ·  PostgreSQL Monitoring</a:t>
            </a:r>
          </a:p>
        </p:txBody>
      </p:sp>
      <p:sp>
        <p:nvSpPr>
          <p:cNvPr id="13" name="TextBox 12"/>
          <p:cNvSpPr txBox="1"/>
          <p:nvPr/>
        </p:nvSpPr>
        <p:spPr>
          <a:xfrm>
            <a:off x="11155680" y="6473952"/>
            <a:ext cx="822960" cy="274320"/>
          </a:xfrm>
          <a:prstGeom prst="rect">
            <a:avLst/>
          </a:prstGeom>
          <a:noFill/>
        </p:spPr>
        <p:txBody>
          <a:bodyPr wrap="square">
            <a:spAutoFit/>
          </a:bodyPr>
          <a:lstStyle/>
          <a:p>
            <a:pPr algn="r"/>
            <a:r>
              <a:rPr sz="900" b="0">
                <a:solidFill>
                  <a:srgbClr val="5E6B76"/>
                </a:solidFill>
                <a:latin typeface="Segoe U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448495" y="-1554480"/>
            <a:ext cx="4206240" cy="4206240"/>
          </a:xfrm>
          <a:prstGeom prst="ellipse">
            <a:avLst/>
          </a:prstGeom>
          <a:solidFill>
            <a:srgbClr val="DC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297680"/>
            <a:ext cx="4023360" cy="4023360"/>
          </a:xfrm>
          <a:prstGeom prst="ellipse">
            <a:avLst/>
          </a:prstGeom>
          <a:solidFill>
            <a:srgbClr val="DC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457200"/>
            <a:ext cx="10972800" cy="640080"/>
          </a:xfrm>
          <a:prstGeom prst="rect">
            <a:avLst/>
          </a:prstGeom>
          <a:noFill/>
        </p:spPr>
        <p:txBody>
          <a:bodyPr wrap="square">
            <a:spAutoFit/>
          </a:bodyPr>
          <a:lstStyle/>
          <a:p>
            <a:pPr algn="l"/>
            <a:r>
              <a:rPr sz="2900" b="1">
                <a:solidFill>
                  <a:srgbClr val="1C4966"/>
                </a:solidFill>
                <a:latin typeface="Segoe UI"/>
              </a:rPr>
              <a:t>TABLES &amp; VACUUM</a:t>
            </a:r>
          </a:p>
        </p:txBody>
      </p:sp>
      <p:sp>
        <p:nvSpPr>
          <p:cNvPr id="6" name="Rectangle 5"/>
          <p:cNvSpPr/>
          <p:nvPr/>
        </p:nvSpPr>
        <p:spPr>
          <a:xfrm>
            <a:off x="603504" y="1207008"/>
            <a:ext cx="1463040" cy="54864"/>
          </a:xfrm>
          <a:prstGeom prst="rect">
            <a:avLst/>
          </a:prstGeom>
          <a:solidFill>
            <a:srgbClr val="1C49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1371600"/>
            <a:ext cx="11064240" cy="457200"/>
          </a:xfrm>
          <a:prstGeom prst="rect">
            <a:avLst/>
          </a:prstGeom>
          <a:noFill/>
        </p:spPr>
        <p:txBody>
          <a:bodyPr wrap="square">
            <a:spAutoFit/>
          </a:bodyPr>
          <a:lstStyle/>
          <a:p>
            <a:pPr algn="l"/>
            <a:r>
              <a:rPr sz="1300" b="0">
                <a:solidFill>
                  <a:srgbClr val="2C3B47"/>
                </a:solidFill>
                <a:latin typeface="Segoe UI"/>
              </a:rPr>
              <a:t>Explore every table and keep them healthy.</a:t>
            </a:r>
          </a:p>
        </p:txBody>
      </p:sp>
      <p:sp>
        <p:nvSpPr>
          <p:cNvPr id="8" name="Rounded Rectangle 7"/>
          <p:cNvSpPr/>
          <p:nvPr/>
        </p:nvSpPr>
        <p:spPr>
          <a:xfrm>
            <a:off x="548640" y="1965960"/>
            <a:ext cx="5417820" cy="1965960"/>
          </a:xfrm>
          <a:prstGeom prst="roundRect">
            <a:avLst/>
          </a:prstGeom>
          <a:solidFill>
            <a:srgbClr val="6E98A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237744" tIns="146304"/>
          <a:lstStyle/>
          <a:p>
            <a:pPr algn="l"/>
            <a:r>
              <a:rPr sz="1800" b="1">
                <a:solidFill>
                  <a:srgbClr val="D7E6EF"/>
                </a:solidFill>
                <a:latin typeface="Segoe UI"/>
              </a:rPr>
              <a:t>01   </a:t>
            </a:r>
            <a:r>
              <a:rPr sz="1400" b="1">
                <a:solidFill>
                  <a:srgbClr val="FFFFFF"/>
                </a:solidFill>
                <a:latin typeface="Segoe UI"/>
              </a:rPr>
              <a:t>All tables across DBs</a:t>
            </a:r>
          </a:p>
          <a:p>
            <a:pPr algn="l">
              <a:spcBef>
                <a:spcPts val="400"/>
              </a:spcBef>
            </a:pPr>
            <a:r>
              <a:rPr sz="1100" b="0">
                <a:solidFill>
                  <a:srgbClr val="FFFFFF"/>
                </a:solidFill>
                <a:latin typeface="Segoe UI"/>
              </a:rPr>
              <a:t>Every table from every database is listed with its size, row count and indexes, so you can find the biggest or busiest tables instantly.</a:t>
            </a:r>
          </a:p>
        </p:txBody>
      </p:sp>
      <p:sp>
        <p:nvSpPr>
          <p:cNvPr id="9" name="Rounded Rectangle 8"/>
          <p:cNvSpPr/>
          <p:nvPr/>
        </p:nvSpPr>
        <p:spPr>
          <a:xfrm>
            <a:off x="6240780" y="1965960"/>
            <a:ext cx="5417820" cy="1965960"/>
          </a:xfrm>
          <a:prstGeom prst="roundRect">
            <a:avLst/>
          </a:prstGeom>
          <a:solidFill>
            <a:srgbClr val="4F809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237744" tIns="146304"/>
          <a:lstStyle/>
          <a:p>
            <a:pPr algn="l"/>
            <a:r>
              <a:rPr sz="1800" b="1">
                <a:solidFill>
                  <a:srgbClr val="D7E6EF"/>
                </a:solidFill>
                <a:latin typeface="Segoe UI"/>
              </a:rPr>
              <a:t>02   </a:t>
            </a:r>
            <a:r>
              <a:rPr sz="1400" b="1">
                <a:solidFill>
                  <a:srgbClr val="FFFFFF"/>
                </a:solidFill>
                <a:latin typeface="Segoe UI"/>
              </a:rPr>
              <a:t>Structure &amp; indexes</a:t>
            </a:r>
          </a:p>
          <a:p>
            <a:pPr algn="l">
              <a:spcBef>
                <a:spcPts val="400"/>
              </a:spcBef>
            </a:pPr>
            <a:r>
              <a:rPr sz="1100" b="0">
                <a:solidFill>
                  <a:srgbClr val="FFFFFF"/>
                </a:solidFill>
                <a:latin typeface="Segoe UI"/>
              </a:rPr>
              <a:t>Open any table to see its columns, indexes and full structure — useful when reviewing a schema or planning a new index.</a:t>
            </a:r>
          </a:p>
        </p:txBody>
      </p:sp>
      <p:sp>
        <p:nvSpPr>
          <p:cNvPr id="10" name="Rounded Rectangle 9"/>
          <p:cNvSpPr/>
          <p:nvPr/>
        </p:nvSpPr>
        <p:spPr>
          <a:xfrm>
            <a:off x="548640" y="4206240"/>
            <a:ext cx="5417820" cy="1965960"/>
          </a:xfrm>
          <a:prstGeom prst="roundRect">
            <a:avLst/>
          </a:prstGeom>
          <a:solidFill>
            <a:srgbClr val="3A6A8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237744" tIns="146304"/>
          <a:lstStyle/>
          <a:p>
            <a:pPr algn="l"/>
            <a:r>
              <a:rPr sz="1800" b="1">
                <a:solidFill>
                  <a:srgbClr val="D7E6EF"/>
                </a:solidFill>
                <a:latin typeface="Segoe UI"/>
              </a:rPr>
              <a:t>03   </a:t>
            </a:r>
            <a:r>
              <a:rPr sz="1400" b="1">
                <a:solidFill>
                  <a:srgbClr val="FFFFFF"/>
                </a:solidFill>
                <a:latin typeface="Segoe UI"/>
              </a:rPr>
              <a:t>Dead tuples &amp; vacuum</a:t>
            </a:r>
          </a:p>
          <a:p>
            <a:pPr algn="l">
              <a:spcBef>
                <a:spcPts val="400"/>
              </a:spcBef>
            </a:pPr>
            <a:r>
              <a:rPr sz="1100" b="0">
                <a:solidFill>
                  <a:srgbClr val="FFFFFF"/>
                </a:solidFill>
                <a:latin typeface="Segoe UI"/>
              </a:rPr>
              <a:t>PostgreSQL leaves dead rows behind after updates and deletes. Actmon shows dead-tuple counts and which tables need a vacuum, so bloat does not silently slow you down.</a:t>
            </a:r>
          </a:p>
        </p:txBody>
      </p:sp>
      <p:sp>
        <p:nvSpPr>
          <p:cNvPr id="11" name="Rounded Rectangle 10"/>
          <p:cNvSpPr/>
          <p:nvPr/>
        </p:nvSpPr>
        <p:spPr>
          <a:xfrm>
            <a:off x="6240780" y="4206240"/>
            <a:ext cx="5417820" cy="1965960"/>
          </a:xfrm>
          <a:prstGeom prst="roundRect">
            <a:avLst/>
          </a:prstGeom>
          <a:solidFill>
            <a:srgbClr val="2A557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237744" tIns="146304"/>
          <a:lstStyle/>
          <a:p>
            <a:pPr algn="l"/>
            <a:r>
              <a:rPr sz="1800" b="1">
                <a:solidFill>
                  <a:srgbClr val="D7E6EF"/>
                </a:solidFill>
                <a:latin typeface="Segoe UI"/>
              </a:rPr>
              <a:t>04   </a:t>
            </a:r>
            <a:r>
              <a:rPr sz="1400" b="1">
                <a:solidFill>
                  <a:srgbClr val="FFFFFF"/>
                </a:solidFill>
                <a:latin typeface="Segoe UI"/>
              </a:rPr>
              <a:t>Sample data</a:t>
            </a:r>
          </a:p>
          <a:p>
            <a:pPr algn="l">
              <a:spcBef>
                <a:spcPts val="400"/>
              </a:spcBef>
            </a:pPr>
            <a:r>
              <a:rPr sz="1100" b="0">
                <a:solidFill>
                  <a:srgbClr val="FFFFFF"/>
                </a:solidFill>
                <a:latin typeface="Segoe UI"/>
              </a:rPr>
              <a:t>Preview real rows from a table in one click to confirm what the data looks like while investigating an issue.</a:t>
            </a:r>
          </a:p>
        </p:txBody>
      </p:sp>
      <p:sp>
        <p:nvSpPr>
          <p:cNvPr id="12" name="TextBox 11"/>
          <p:cNvSpPr txBox="1"/>
          <p:nvPr/>
        </p:nvSpPr>
        <p:spPr>
          <a:xfrm>
            <a:off x="502920" y="6473952"/>
            <a:ext cx="8229600" cy="274320"/>
          </a:xfrm>
          <a:prstGeom prst="rect">
            <a:avLst/>
          </a:prstGeom>
          <a:noFill/>
        </p:spPr>
        <p:txBody>
          <a:bodyPr wrap="square">
            <a:spAutoFit/>
          </a:bodyPr>
          <a:lstStyle/>
          <a:p>
            <a:pPr algn="l"/>
            <a:r>
              <a:rPr sz="900" b="0">
                <a:solidFill>
                  <a:srgbClr val="5E6B76"/>
                </a:solidFill>
                <a:latin typeface="Segoe UI"/>
              </a:rPr>
              <a:t>Actmon  ·  PostgreSQL Monitoring</a:t>
            </a:r>
          </a:p>
        </p:txBody>
      </p:sp>
      <p:sp>
        <p:nvSpPr>
          <p:cNvPr id="13" name="TextBox 12"/>
          <p:cNvSpPr txBox="1"/>
          <p:nvPr/>
        </p:nvSpPr>
        <p:spPr>
          <a:xfrm>
            <a:off x="11155680" y="6473952"/>
            <a:ext cx="822960" cy="274320"/>
          </a:xfrm>
          <a:prstGeom prst="rect">
            <a:avLst/>
          </a:prstGeom>
          <a:noFill/>
        </p:spPr>
        <p:txBody>
          <a:bodyPr wrap="square">
            <a:spAutoFit/>
          </a:bodyPr>
          <a:lstStyle/>
          <a:p>
            <a:pPr algn="r"/>
            <a:r>
              <a:rPr sz="900" b="0">
                <a:solidFill>
                  <a:srgbClr val="5E6B76"/>
                </a:solidFill>
                <a:latin typeface="Segoe U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448495" y="-1554480"/>
            <a:ext cx="4206240" cy="4206240"/>
          </a:xfrm>
          <a:prstGeom prst="ellipse">
            <a:avLst/>
          </a:prstGeom>
          <a:solidFill>
            <a:srgbClr val="DC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297680"/>
            <a:ext cx="4023360" cy="4023360"/>
          </a:xfrm>
          <a:prstGeom prst="ellipse">
            <a:avLst/>
          </a:prstGeom>
          <a:solidFill>
            <a:srgbClr val="DC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457200"/>
            <a:ext cx="10972800" cy="640080"/>
          </a:xfrm>
          <a:prstGeom prst="rect">
            <a:avLst/>
          </a:prstGeom>
          <a:noFill/>
        </p:spPr>
        <p:txBody>
          <a:bodyPr wrap="square">
            <a:spAutoFit/>
          </a:bodyPr>
          <a:lstStyle/>
          <a:p>
            <a:pPr algn="l"/>
            <a:r>
              <a:rPr sz="2900" b="1">
                <a:solidFill>
                  <a:srgbClr val="1C4966"/>
                </a:solidFill>
                <a:latin typeface="Segoe UI"/>
              </a:rPr>
              <a:t>HOW ISSUES ARE DETECTED</a:t>
            </a:r>
          </a:p>
        </p:txBody>
      </p:sp>
      <p:sp>
        <p:nvSpPr>
          <p:cNvPr id="6" name="Rectangle 5"/>
          <p:cNvSpPr/>
          <p:nvPr/>
        </p:nvSpPr>
        <p:spPr>
          <a:xfrm>
            <a:off x="603504" y="1207008"/>
            <a:ext cx="1463040" cy="54864"/>
          </a:xfrm>
          <a:prstGeom prst="rect">
            <a:avLst/>
          </a:prstGeom>
          <a:solidFill>
            <a:srgbClr val="1C49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1371600"/>
            <a:ext cx="11064240" cy="457200"/>
          </a:xfrm>
          <a:prstGeom prst="rect">
            <a:avLst/>
          </a:prstGeom>
          <a:noFill/>
        </p:spPr>
        <p:txBody>
          <a:bodyPr wrap="square">
            <a:spAutoFit/>
          </a:bodyPr>
          <a:lstStyle/>
          <a:p>
            <a:pPr algn="l"/>
            <a:r>
              <a:rPr sz="1300" b="0">
                <a:solidFill>
                  <a:srgbClr val="2C3B47"/>
                </a:solidFill>
                <a:latin typeface="Segoe UI"/>
              </a:rPr>
              <a:t>Actmon catches trouble with live signals and checks.</a:t>
            </a:r>
          </a:p>
        </p:txBody>
      </p:sp>
      <p:sp>
        <p:nvSpPr>
          <p:cNvPr id="8" name="Rounded Rectangle 7"/>
          <p:cNvSpPr/>
          <p:nvPr/>
        </p:nvSpPr>
        <p:spPr>
          <a:xfrm>
            <a:off x="548640" y="1965960"/>
            <a:ext cx="5417820" cy="1965960"/>
          </a:xfrm>
          <a:prstGeom prst="roundRect">
            <a:avLst/>
          </a:prstGeom>
          <a:solidFill>
            <a:srgbClr val="6E98A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237744" tIns="146304"/>
          <a:lstStyle/>
          <a:p>
            <a:pPr algn="l"/>
            <a:r>
              <a:rPr sz="1800" b="1">
                <a:solidFill>
                  <a:srgbClr val="D7E6EF"/>
                </a:solidFill>
                <a:latin typeface="Segoe UI"/>
              </a:rPr>
              <a:t>01   </a:t>
            </a:r>
            <a:r>
              <a:rPr sz="1400" b="1">
                <a:solidFill>
                  <a:srgbClr val="FFFFFF"/>
                </a:solidFill>
                <a:latin typeface="Segoe UI"/>
              </a:rPr>
              <a:t>Status badges</a:t>
            </a:r>
          </a:p>
          <a:p>
            <a:pPr algn="l">
              <a:spcBef>
                <a:spcPts val="400"/>
              </a:spcBef>
            </a:pPr>
            <a:r>
              <a:rPr sz="1100" b="0">
                <a:solidFill>
                  <a:srgbClr val="FFFFFF"/>
                </a:solidFill>
                <a:latin typeface="Segoe UI"/>
              </a:rPr>
              <a:t>Simple green and red badges summarise connections, cache hit and rollback rate, so anyone can glance at the colours and know whether the database needs attention.</a:t>
            </a:r>
          </a:p>
        </p:txBody>
      </p:sp>
      <p:sp>
        <p:nvSpPr>
          <p:cNvPr id="9" name="Rounded Rectangle 8"/>
          <p:cNvSpPr/>
          <p:nvPr/>
        </p:nvSpPr>
        <p:spPr>
          <a:xfrm>
            <a:off x="6240780" y="1965960"/>
            <a:ext cx="5417820" cy="1965960"/>
          </a:xfrm>
          <a:prstGeom prst="roundRect">
            <a:avLst/>
          </a:prstGeom>
          <a:solidFill>
            <a:srgbClr val="4F809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237744" tIns="146304"/>
          <a:lstStyle/>
          <a:p>
            <a:pPr algn="l"/>
            <a:r>
              <a:rPr sz="1800" b="1">
                <a:solidFill>
                  <a:srgbClr val="D7E6EF"/>
                </a:solidFill>
                <a:latin typeface="Segoe UI"/>
              </a:rPr>
              <a:t>02   </a:t>
            </a:r>
            <a:r>
              <a:rPr sz="1400" b="1">
                <a:solidFill>
                  <a:srgbClr val="FFFFFF"/>
                </a:solidFill>
                <a:latin typeface="Segoe UI"/>
              </a:rPr>
              <a:t>Long-running query</a:t>
            </a:r>
          </a:p>
          <a:p>
            <a:pPr algn="l">
              <a:spcBef>
                <a:spcPts val="400"/>
              </a:spcBef>
            </a:pPr>
            <a:r>
              <a:rPr sz="1100" b="0">
                <a:solidFill>
                  <a:srgbClr val="FFFFFF"/>
                </a:solidFill>
                <a:latin typeface="Segoe UI"/>
              </a:rPr>
              <a:t>Actmon flags any query that runs longer than expected, so a single runaway statement does not quietly drag down the whole server.</a:t>
            </a:r>
          </a:p>
        </p:txBody>
      </p:sp>
      <p:sp>
        <p:nvSpPr>
          <p:cNvPr id="10" name="Rounded Rectangle 9"/>
          <p:cNvSpPr/>
          <p:nvPr/>
        </p:nvSpPr>
        <p:spPr>
          <a:xfrm>
            <a:off x="548640" y="4206240"/>
            <a:ext cx="5417820" cy="1965960"/>
          </a:xfrm>
          <a:prstGeom prst="roundRect">
            <a:avLst/>
          </a:prstGeom>
          <a:solidFill>
            <a:srgbClr val="3A6A8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237744" tIns="146304"/>
          <a:lstStyle/>
          <a:p>
            <a:pPr algn="l"/>
            <a:r>
              <a:rPr sz="1800" b="1">
                <a:solidFill>
                  <a:srgbClr val="D7E6EF"/>
                </a:solidFill>
                <a:latin typeface="Segoe UI"/>
              </a:rPr>
              <a:t>03   </a:t>
            </a:r>
            <a:r>
              <a:rPr sz="1400" b="1">
                <a:solidFill>
                  <a:srgbClr val="FFFFFF"/>
                </a:solidFill>
                <a:latin typeface="Segoe UI"/>
              </a:rPr>
              <a:t>Blocking locks</a:t>
            </a:r>
          </a:p>
          <a:p>
            <a:pPr algn="l">
              <a:spcBef>
                <a:spcPts val="400"/>
              </a:spcBef>
            </a:pPr>
            <a:r>
              <a:rPr sz="1100" b="0">
                <a:solidFill>
                  <a:srgbClr val="FFFFFF"/>
                </a:solidFill>
                <a:latin typeface="Segoe UI"/>
              </a:rPr>
              <a:t>Shows where one session is blocking others and what is waiting — one of the most common causes of a database that suddenly feels stuck.</a:t>
            </a:r>
          </a:p>
        </p:txBody>
      </p:sp>
      <p:sp>
        <p:nvSpPr>
          <p:cNvPr id="11" name="Rounded Rectangle 10"/>
          <p:cNvSpPr/>
          <p:nvPr/>
        </p:nvSpPr>
        <p:spPr>
          <a:xfrm>
            <a:off x="6240780" y="4206240"/>
            <a:ext cx="5417820" cy="1965960"/>
          </a:xfrm>
          <a:prstGeom prst="roundRect">
            <a:avLst/>
          </a:prstGeom>
          <a:solidFill>
            <a:srgbClr val="2A557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237744" tIns="146304"/>
          <a:lstStyle/>
          <a:p>
            <a:pPr algn="l"/>
            <a:r>
              <a:rPr sz="1800" b="1">
                <a:solidFill>
                  <a:srgbClr val="D7E6EF"/>
                </a:solidFill>
                <a:latin typeface="Segoe UI"/>
              </a:rPr>
              <a:t>04   </a:t>
            </a:r>
            <a:r>
              <a:rPr sz="1400" b="1">
                <a:solidFill>
                  <a:srgbClr val="FFFFFF"/>
                </a:solidFill>
                <a:latin typeface="Segoe UI"/>
              </a:rPr>
              <a:t>Replication state</a:t>
            </a:r>
          </a:p>
          <a:p>
            <a:pPr algn="l">
              <a:spcBef>
                <a:spcPts val="400"/>
              </a:spcBef>
            </a:pPr>
            <a:r>
              <a:rPr sz="1100" b="0">
                <a:solidFill>
                  <a:srgbClr val="FFFFFF"/>
                </a:solidFill>
                <a:latin typeface="Segoe UI"/>
              </a:rPr>
              <a:t>Tells you whether the server is a replica or standalone, and helps spot when a standby is not keeping up.</a:t>
            </a:r>
          </a:p>
        </p:txBody>
      </p:sp>
      <p:sp>
        <p:nvSpPr>
          <p:cNvPr id="12" name="TextBox 11"/>
          <p:cNvSpPr txBox="1"/>
          <p:nvPr/>
        </p:nvSpPr>
        <p:spPr>
          <a:xfrm>
            <a:off x="502920" y="6473952"/>
            <a:ext cx="8229600" cy="274320"/>
          </a:xfrm>
          <a:prstGeom prst="rect">
            <a:avLst/>
          </a:prstGeom>
          <a:noFill/>
        </p:spPr>
        <p:txBody>
          <a:bodyPr wrap="square">
            <a:spAutoFit/>
          </a:bodyPr>
          <a:lstStyle/>
          <a:p>
            <a:pPr algn="l"/>
            <a:r>
              <a:rPr sz="900" b="0">
                <a:solidFill>
                  <a:srgbClr val="5E6B76"/>
                </a:solidFill>
                <a:latin typeface="Segoe UI"/>
              </a:rPr>
              <a:t>Actmon  ·  PostgreSQL Monitoring</a:t>
            </a:r>
          </a:p>
        </p:txBody>
      </p:sp>
      <p:sp>
        <p:nvSpPr>
          <p:cNvPr id="13" name="TextBox 12"/>
          <p:cNvSpPr txBox="1"/>
          <p:nvPr/>
        </p:nvSpPr>
        <p:spPr>
          <a:xfrm>
            <a:off x="11155680" y="6473952"/>
            <a:ext cx="822960" cy="274320"/>
          </a:xfrm>
          <a:prstGeom prst="rect">
            <a:avLst/>
          </a:prstGeom>
          <a:noFill/>
        </p:spPr>
        <p:txBody>
          <a:bodyPr wrap="square">
            <a:spAutoFit/>
          </a:bodyPr>
          <a:lstStyle/>
          <a:p>
            <a:pPr algn="r"/>
            <a:r>
              <a:rPr sz="900" b="0">
                <a:solidFill>
                  <a:srgbClr val="5E6B76"/>
                </a:solidFill>
                <a:latin typeface="Segoe U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448495" y="-1554480"/>
            <a:ext cx="4206240" cy="4206240"/>
          </a:xfrm>
          <a:prstGeom prst="ellipse">
            <a:avLst/>
          </a:prstGeom>
          <a:solidFill>
            <a:srgbClr val="DC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297680"/>
            <a:ext cx="4023360" cy="4023360"/>
          </a:xfrm>
          <a:prstGeom prst="ellipse">
            <a:avLst/>
          </a:prstGeom>
          <a:solidFill>
            <a:srgbClr val="DC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1051560"/>
            <a:ext cx="4983480" cy="4846320"/>
          </a:xfrm>
          <a:prstGeom prst="roundRect">
            <a:avLst/>
          </a:prstGeom>
          <a:solidFill>
            <a:srgbClr val="B9D4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10896" rIns="274320"/>
          <a:lstStyle/>
          <a:p>
            <a:pPr algn="l"/>
            <a:r>
              <a:rPr sz="2700" b="1">
                <a:solidFill>
                  <a:srgbClr val="1C4966"/>
                </a:solidFill>
                <a:latin typeface="Segoe UI"/>
              </a:rPr>
              <a:t>ERROR HANDLING WITH AI</a:t>
            </a:r>
          </a:p>
          <a:p>
            <a:pPr algn="l">
              <a:spcBef>
                <a:spcPts val="1000"/>
              </a:spcBef>
            </a:pPr>
            <a:r>
              <a:rPr sz="1250" b="0">
                <a:solidFill>
                  <a:srgbClr val="1C4966"/>
                </a:solidFill>
                <a:latin typeface="Segoe UI"/>
              </a:rPr>
              <a:t>PostgreSQL error messages can be cryptic. Actmon shows the error log clearly and uses AI to translate each entry into plain language with a fix.</a:t>
            </a:r>
          </a:p>
        </p:txBody>
      </p:sp>
      <p:sp>
        <p:nvSpPr>
          <p:cNvPr id="6" name="Rectangle 5"/>
          <p:cNvSpPr/>
          <p:nvPr/>
        </p:nvSpPr>
        <p:spPr>
          <a:xfrm>
            <a:off x="6355080" y="1234440"/>
            <a:ext cx="27432" cy="4663440"/>
          </a:xfrm>
          <a:prstGeom prst="rect">
            <a:avLst/>
          </a:prstGeom>
          <a:solidFill>
            <a:srgbClr val="1C49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91072" y="1344168"/>
            <a:ext cx="155448" cy="155448"/>
          </a:xfrm>
          <a:prstGeom prst="ellipse">
            <a:avLst/>
          </a:prstGeom>
          <a:solidFill>
            <a:srgbClr val="1C49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47688" y="1252728"/>
            <a:ext cx="5349240" cy="411480"/>
          </a:xfrm>
          <a:prstGeom prst="rect">
            <a:avLst/>
          </a:prstGeom>
          <a:noFill/>
        </p:spPr>
        <p:txBody>
          <a:bodyPr wrap="square">
            <a:spAutoFit/>
          </a:bodyPr>
          <a:lstStyle/>
          <a:p>
            <a:pPr algn="l"/>
            <a:r>
              <a:rPr sz="1700" b="1">
                <a:solidFill>
                  <a:srgbClr val="1C4966"/>
                </a:solidFill>
                <a:latin typeface="Segoe UI"/>
              </a:rPr>
              <a:t>01  </a:t>
            </a:r>
            <a:r>
              <a:rPr sz="1400" b="1">
                <a:solidFill>
                  <a:srgbClr val="1C4966"/>
                </a:solidFill>
                <a:latin typeface="Segoe UI"/>
              </a:rPr>
              <a:t>Read and filter</a:t>
            </a:r>
          </a:p>
        </p:txBody>
      </p:sp>
      <p:sp>
        <p:nvSpPr>
          <p:cNvPr id="9" name="TextBox 8"/>
          <p:cNvSpPr txBox="1"/>
          <p:nvPr/>
        </p:nvSpPr>
        <p:spPr>
          <a:xfrm>
            <a:off x="6665976" y="1691640"/>
            <a:ext cx="5303520" cy="1097280"/>
          </a:xfrm>
          <a:prstGeom prst="rect">
            <a:avLst/>
          </a:prstGeom>
          <a:noFill/>
        </p:spPr>
        <p:txBody>
          <a:bodyPr wrap="square">
            <a:spAutoFit/>
          </a:bodyPr>
          <a:lstStyle/>
          <a:p>
            <a:pPr algn="l"/>
            <a:r>
              <a:rPr sz="1100" b="0">
                <a:solidFill>
                  <a:srgbClr val="2C3B47"/>
                </a:solidFill>
                <a:latin typeface="Segoe UI"/>
              </a:rPr>
              <a:t>View PostgreSQL error-log entries and filter them by severity, so you focus on genuine problems instead of routine noise.</a:t>
            </a:r>
          </a:p>
        </p:txBody>
      </p:sp>
      <p:sp>
        <p:nvSpPr>
          <p:cNvPr id="10" name="Oval 9"/>
          <p:cNvSpPr/>
          <p:nvPr/>
        </p:nvSpPr>
        <p:spPr>
          <a:xfrm>
            <a:off x="6291072" y="2898648"/>
            <a:ext cx="155448" cy="155448"/>
          </a:xfrm>
          <a:prstGeom prst="ellipse">
            <a:avLst/>
          </a:prstGeom>
          <a:solidFill>
            <a:srgbClr val="1C49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47688" y="2807208"/>
            <a:ext cx="5349240" cy="411480"/>
          </a:xfrm>
          <a:prstGeom prst="rect">
            <a:avLst/>
          </a:prstGeom>
          <a:noFill/>
        </p:spPr>
        <p:txBody>
          <a:bodyPr wrap="square">
            <a:spAutoFit/>
          </a:bodyPr>
          <a:lstStyle/>
          <a:p>
            <a:pPr algn="l"/>
            <a:r>
              <a:rPr sz="1700" b="1">
                <a:solidFill>
                  <a:srgbClr val="1C4966"/>
                </a:solidFill>
                <a:latin typeface="Segoe UI"/>
              </a:rPr>
              <a:t>02  </a:t>
            </a:r>
            <a:r>
              <a:rPr sz="1400" b="1">
                <a:solidFill>
                  <a:srgbClr val="1C4966"/>
                </a:solidFill>
                <a:latin typeface="Segoe UI"/>
              </a:rPr>
              <a:t>AI explanation</a:t>
            </a:r>
          </a:p>
        </p:txBody>
      </p:sp>
      <p:sp>
        <p:nvSpPr>
          <p:cNvPr id="12" name="TextBox 11"/>
          <p:cNvSpPr txBox="1"/>
          <p:nvPr/>
        </p:nvSpPr>
        <p:spPr>
          <a:xfrm>
            <a:off x="6665976" y="3246120"/>
            <a:ext cx="5303520" cy="1097280"/>
          </a:xfrm>
          <a:prstGeom prst="rect">
            <a:avLst/>
          </a:prstGeom>
          <a:noFill/>
        </p:spPr>
        <p:txBody>
          <a:bodyPr wrap="square">
            <a:spAutoFit/>
          </a:bodyPr>
          <a:lstStyle/>
          <a:p>
            <a:pPr algn="l"/>
            <a:r>
              <a:rPr sz="1100" b="0">
                <a:solidFill>
                  <a:srgbClr val="2C3B47"/>
                </a:solidFill>
                <a:latin typeface="Segoe UI"/>
              </a:rPr>
              <a:t>Click an error and AI explains what it means and why it most likely happened — turning a confusing message into something anyone can understand.</a:t>
            </a:r>
          </a:p>
        </p:txBody>
      </p:sp>
      <p:sp>
        <p:nvSpPr>
          <p:cNvPr id="13" name="Oval 12"/>
          <p:cNvSpPr/>
          <p:nvPr/>
        </p:nvSpPr>
        <p:spPr>
          <a:xfrm>
            <a:off x="6291072" y="4453128"/>
            <a:ext cx="155448" cy="155448"/>
          </a:xfrm>
          <a:prstGeom prst="ellipse">
            <a:avLst/>
          </a:prstGeom>
          <a:solidFill>
            <a:srgbClr val="1C49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47688" y="4361688"/>
            <a:ext cx="5349240" cy="411480"/>
          </a:xfrm>
          <a:prstGeom prst="rect">
            <a:avLst/>
          </a:prstGeom>
          <a:noFill/>
        </p:spPr>
        <p:txBody>
          <a:bodyPr wrap="square">
            <a:spAutoFit/>
          </a:bodyPr>
          <a:lstStyle/>
          <a:p>
            <a:pPr algn="l"/>
            <a:r>
              <a:rPr sz="1700" b="1">
                <a:solidFill>
                  <a:srgbClr val="1C4966"/>
                </a:solidFill>
                <a:latin typeface="Segoe UI"/>
              </a:rPr>
              <a:t>03  </a:t>
            </a:r>
            <a:r>
              <a:rPr sz="1400" b="1">
                <a:solidFill>
                  <a:srgbClr val="1C4966"/>
                </a:solidFill>
                <a:latin typeface="Segoe UI"/>
              </a:rPr>
              <a:t>Clear fix steps</a:t>
            </a:r>
          </a:p>
        </p:txBody>
      </p:sp>
      <p:sp>
        <p:nvSpPr>
          <p:cNvPr id="15" name="TextBox 14"/>
          <p:cNvSpPr txBox="1"/>
          <p:nvPr/>
        </p:nvSpPr>
        <p:spPr>
          <a:xfrm>
            <a:off x="6665976" y="4800600"/>
            <a:ext cx="5303520" cy="1097280"/>
          </a:xfrm>
          <a:prstGeom prst="rect">
            <a:avLst/>
          </a:prstGeom>
          <a:noFill/>
        </p:spPr>
        <p:txBody>
          <a:bodyPr wrap="square">
            <a:spAutoFit/>
          </a:bodyPr>
          <a:lstStyle/>
          <a:p>
            <a:pPr algn="l"/>
            <a:r>
              <a:rPr sz="1100" b="0">
                <a:solidFill>
                  <a:srgbClr val="2C3B47"/>
                </a:solidFill>
                <a:latin typeface="Segoe UI"/>
              </a:rPr>
              <a:t>You get concrete next actions to resolve the error, removing guesswork and helping it get fixed correctly the first time.</a:t>
            </a:r>
          </a:p>
        </p:txBody>
      </p:sp>
      <p:sp>
        <p:nvSpPr>
          <p:cNvPr id="16" name="TextBox 15"/>
          <p:cNvSpPr txBox="1"/>
          <p:nvPr/>
        </p:nvSpPr>
        <p:spPr>
          <a:xfrm>
            <a:off x="502920" y="6473952"/>
            <a:ext cx="8229600" cy="274320"/>
          </a:xfrm>
          <a:prstGeom prst="rect">
            <a:avLst/>
          </a:prstGeom>
          <a:noFill/>
        </p:spPr>
        <p:txBody>
          <a:bodyPr wrap="square">
            <a:spAutoFit/>
          </a:bodyPr>
          <a:lstStyle/>
          <a:p>
            <a:pPr algn="l"/>
            <a:r>
              <a:rPr sz="900" b="0">
                <a:solidFill>
                  <a:srgbClr val="5E6B76"/>
                </a:solidFill>
                <a:latin typeface="Segoe UI"/>
              </a:rPr>
              <a:t>Actmon  ·  PostgreSQL Monitoring</a:t>
            </a:r>
          </a:p>
        </p:txBody>
      </p:sp>
      <p:sp>
        <p:nvSpPr>
          <p:cNvPr id="17" name="TextBox 16"/>
          <p:cNvSpPr txBox="1"/>
          <p:nvPr/>
        </p:nvSpPr>
        <p:spPr>
          <a:xfrm>
            <a:off x="11155680" y="6473952"/>
            <a:ext cx="822960" cy="274320"/>
          </a:xfrm>
          <a:prstGeom prst="rect">
            <a:avLst/>
          </a:prstGeom>
          <a:noFill/>
        </p:spPr>
        <p:txBody>
          <a:bodyPr wrap="square">
            <a:spAutoFit/>
          </a:bodyPr>
          <a:lstStyle/>
          <a:p>
            <a:pPr algn="r"/>
            <a:r>
              <a:rPr sz="900" b="0">
                <a:solidFill>
                  <a:srgbClr val="5E6B76"/>
                </a:solidFill>
                <a:latin typeface="Segoe U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448495" y="-1554480"/>
            <a:ext cx="4206240" cy="4206240"/>
          </a:xfrm>
          <a:prstGeom prst="ellipse">
            <a:avLst/>
          </a:prstGeom>
          <a:solidFill>
            <a:srgbClr val="DC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297680"/>
            <a:ext cx="4023360" cy="4023360"/>
          </a:xfrm>
          <a:prstGeom prst="ellipse">
            <a:avLst/>
          </a:prstGeom>
          <a:solidFill>
            <a:srgbClr val="DC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1051560"/>
            <a:ext cx="4983480" cy="4846320"/>
          </a:xfrm>
          <a:prstGeom prst="roundRect">
            <a:avLst/>
          </a:prstGeom>
          <a:solidFill>
            <a:srgbClr val="B9D4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10896" rIns="274320"/>
          <a:lstStyle/>
          <a:p>
            <a:pPr algn="l"/>
            <a:r>
              <a:rPr sz="2700" b="1">
                <a:solidFill>
                  <a:srgbClr val="1C4966"/>
                </a:solidFill>
                <a:latin typeface="Segoe UI"/>
              </a:rPr>
              <a:t>INDEX ANALYSIS</a:t>
            </a:r>
          </a:p>
          <a:p>
            <a:pPr algn="l">
              <a:spcBef>
                <a:spcPts val="1000"/>
              </a:spcBef>
            </a:pPr>
            <a:r>
              <a:rPr sz="1250" b="0">
                <a:solidFill>
                  <a:srgbClr val="1C4966"/>
                </a:solidFill>
                <a:latin typeface="Segoe UI"/>
              </a:rPr>
              <a:t>Indexes are the biggest factor in how fast queries run. Actmon shows where indexes help, where they are wasted, and where one is missing.</a:t>
            </a:r>
          </a:p>
        </p:txBody>
      </p:sp>
      <p:sp>
        <p:nvSpPr>
          <p:cNvPr id="6" name="Rectangle 5"/>
          <p:cNvSpPr/>
          <p:nvPr/>
        </p:nvSpPr>
        <p:spPr>
          <a:xfrm>
            <a:off x="6355080" y="1234440"/>
            <a:ext cx="27432" cy="4663440"/>
          </a:xfrm>
          <a:prstGeom prst="rect">
            <a:avLst/>
          </a:prstGeom>
          <a:solidFill>
            <a:srgbClr val="1C49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91072" y="1344168"/>
            <a:ext cx="155448" cy="155448"/>
          </a:xfrm>
          <a:prstGeom prst="ellipse">
            <a:avLst/>
          </a:prstGeom>
          <a:solidFill>
            <a:srgbClr val="1C49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47688" y="1252728"/>
            <a:ext cx="5349240" cy="411480"/>
          </a:xfrm>
          <a:prstGeom prst="rect">
            <a:avLst/>
          </a:prstGeom>
          <a:noFill/>
        </p:spPr>
        <p:txBody>
          <a:bodyPr wrap="square">
            <a:spAutoFit/>
          </a:bodyPr>
          <a:lstStyle/>
          <a:p>
            <a:pPr algn="l"/>
            <a:r>
              <a:rPr sz="1700" b="1">
                <a:solidFill>
                  <a:srgbClr val="1C4966"/>
                </a:solidFill>
                <a:latin typeface="Segoe UI"/>
              </a:rPr>
              <a:t>01  </a:t>
            </a:r>
            <a:r>
              <a:rPr sz="1400" b="1">
                <a:solidFill>
                  <a:srgbClr val="1C4966"/>
                </a:solidFill>
                <a:latin typeface="Segoe UI"/>
              </a:rPr>
              <a:t>Index usage</a:t>
            </a:r>
          </a:p>
        </p:txBody>
      </p:sp>
      <p:sp>
        <p:nvSpPr>
          <p:cNvPr id="9" name="TextBox 8"/>
          <p:cNvSpPr txBox="1"/>
          <p:nvPr/>
        </p:nvSpPr>
        <p:spPr>
          <a:xfrm>
            <a:off x="6665976" y="1691640"/>
            <a:ext cx="5303520" cy="1097280"/>
          </a:xfrm>
          <a:prstGeom prst="rect">
            <a:avLst/>
          </a:prstGeom>
          <a:noFill/>
        </p:spPr>
        <p:txBody>
          <a:bodyPr wrap="square">
            <a:spAutoFit/>
          </a:bodyPr>
          <a:lstStyle/>
          <a:p>
            <a:pPr algn="l"/>
            <a:r>
              <a:rPr sz="1100" b="0">
                <a:solidFill>
                  <a:srgbClr val="2C3B47"/>
                </a:solidFill>
                <a:latin typeface="Segoe UI"/>
              </a:rPr>
              <a:t>See which indexes your queries actually use; unused indexes still cost storage and slow every write.</a:t>
            </a:r>
          </a:p>
        </p:txBody>
      </p:sp>
      <p:sp>
        <p:nvSpPr>
          <p:cNvPr id="10" name="Oval 9"/>
          <p:cNvSpPr/>
          <p:nvPr/>
        </p:nvSpPr>
        <p:spPr>
          <a:xfrm>
            <a:off x="6291072" y="2898648"/>
            <a:ext cx="155448" cy="155448"/>
          </a:xfrm>
          <a:prstGeom prst="ellipse">
            <a:avLst/>
          </a:prstGeom>
          <a:solidFill>
            <a:srgbClr val="1C49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47688" y="2807208"/>
            <a:ext cx="5349240" cy="411480"/>
          </a:xfrm>
          <a:prstGeom prst="rect">
            <a:avLst/>
          </a:prstGeom>
          <a:noFill/>
        </p:spPr>
        <p:txBody>
          <a:bodyPr wrap="square">
            <a:spAutoFit/>
          </a:bodyPr>
          <a:lstStyle/>
          <a:p>
            <a:pPr algn="l"/>
            <a:r>
              <a:rPr sz="1700" b="1">
                <a:solidFill>
                  <a:srgbClr val="1C4966"/>
                </a:solidFill>
                <a:latin typeface="Segoe UI"/>
              </a:rPr>
              <a:t>02  </a:t>
            </a:r>
            <a:r>
              <a:rPr sz="1400" b="1">
                <a:solidFill>
                  <a:srgbClr val="1C4966"/>
                </a:solidFill>
                <a:latin typeface="Segoe UI"/>
              </a:rPr>
              <a:t>Unused indexes</a:t>
            </a:r>
          </a:p>
        </p:txBody>
      </p:sp>
      <p:sp>
        <p:nvSpPr>
          <p:cNvPr id="12" name="TextBox 11"/>
          <p:cNvSpPr txBox="1"/>
          <p:nvPr/>
        </p:nvSpPr>
        <p:spPr>
          <a:xfrm>
            <a:off x="6665976" y="3246120"/>
            <a:ext cx="5303520" cy="1097280"/>
          </a:xfrm>
          <a:prstGeom prst="rect">
            <a:avLst/>
          </a:prstGeom>
          <a:noFill/>
        </p:spPr>
        <p:txBody>
          <a:bodyPr wrap="square">
            <a:spAutoFit/>
          </a:bodyPr>
          <a:lstStyle/>
          <a:p>
            <a:pPr algn="l"/>
            <a:r>
              <a:rPr sz="1100" b="0">
                <a:solidFill>
                  <a:srgbClr val="2C3B47"/>
                </a:solidFill>
                <a:latin typeface="Segoe UI"/>
              </a:rPr>
              <a:t>Actmon highlights indexes that are never used, so you can remove them to free space and speed up writes.</a:t>
            </a:r>
          </a:p>
        </p:txBody>
      </p:sp>
      <p:sp>
        <p:nvSpPr>
          <p:cNvPr id="13" name="Oval 12"/>
          <p:cNvSpPr/>
          <p:nvPr/>
        </p:nvSpPr>
        <p:spPr>
          <a:xfrm>
            <a:off x="6291072" y="4453128"/>
            <a:ext cx="155448" cy="155448"/>
          </a:xfrm>
          <a:prstGeom prst="ellipse">
            <a:avLst/>
          </a:prstGeom>
          <a:solidFill>
            <a:srgbClr val="1C49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47688" y="4361688"/>
            <a:ext cx="5349240" cy="411480"/>
          </a:xfrm>
          <a:prstGeom prst="rect">
            <a:avLst/>
          </a:prstGeom>
          <a:noFill/>
        </p:spPr>
        <p:txBody>
          <a:bodyPr wrap="square">
            <a:spAutoFit/>
          </a:bodyPr>
          <a:lstStyle/>
          <a:p>
            <a:pPr algn="l"/>
            <a:r>
              <a:rPr sz="1700" b="1">
                <a:solidFill>
                  <a:srgbClr val="1C4966"/>
                </a:solidFill>
                <a:latin typeface="Segoe UI"/>
              </a:rPr>
              <a:t>03  </a:t>
            </a:r>
            <a:r>
              <a:rPr sz="1400" b="1">
                <a:solidFill>
                  <a:srgbClr val="1C4966"/>
                </a:solidFill>
                <a:latin typeface="Segoe UI"/>
              </a:rPr>
              <a:t>Missing indexes</a:t>
            </a:r>
          </a:p>
        </p:txBody>
      </p:sp>
      <p:sp>
        <p:nvSpPr>
          <p:cNvPr id="15" name="TextBox 14"/>
          <p:cNvSpPr txBox="1"/>
          <p:nvPr/>
        </p:nvSpPr>
        <p:spPr>
          <a:xfrm>
            <a:off x="6665976" y="4800600"/>
            <a:ext cx="5303520" cy="1097280"/>
          </a:xfrm>
          <a:prstGeom prst="rect">
            <a:avLst/>
          </a:prstGeom>
          <a:noFill/>
        </p:spPr>
        <p:txBody>
          <a:bodyPr wrap="square">
            <a:spAutoFit/>
          </a:bodyPr>
          <a:lstStyle/>
          <a:p>
            <a:pPr algn="l"/>
            <a:r>
              <a:rPr sz="1100" b="0">
                <a:solidFill>
                  <a:srgbClr val="2C3B47"/>
                </a:solidFill>
                <a:latin typeface="Segoe UI"/>
              </a:rPr>
              <a:t>For slow queries, Actmon suggests specific indexes that would speed them up, often turning a full scan into an instant lookup.</a:t>
            </a:r>
          </a:p>
        </p:txBody>
      </p:sp>
      <p:sp>
        <p:nvSpPr>
          <p:cNvPr id="16" name="TextBox 15"/>
          <p:cNvSpPr txBox="1"/>
          <p:nvPr/>
        </p:nvSpPr>
        <p:spPr>
          <a:xfrm>
            <a:off x="502920" y="6473952"/>
            <a:ext cx="8229600" cy="274320"/>
          </a:xfrm>
          <a:prstGeom prst="rect">
            <a:avLst/>
          </a:prstGeom>
          <a:noFill/>
        </p:spPr>
        <p:txBody>
          <a:bodyPr wrap="square">
            <a:spAutoFit/>
          </a:bodyPr>
          <a:lstStyle/>
          <a:p>
            <a:pPr algn="l"/>
            <a:r>
              <a:rPr sz="900" b="0">
                <a:solidFill>
                  <a:srgbClr val="5E6B76"/>
                </a:solidFill>
                <a:latin typeface="Segoe UI"/>
              </a:rPr>
              <a:t>Actmon  ·  PostgreSQL Monitoring</a:t>
            </a:r>
          </a:p>
        </p:txBody>
      </p:sp>
      <p:sp>
        <p:nvSpPr>
          <p:cNvPr id="17" name="TextBox 16"/>
          <p:cNvSpPr txBox="1"/>
          <p:nvPr/>
        </p:nvSpPr>
        <p:spPr>
          <a:xfrm>
            <a:off x="11155680" y="6473952"/>
            <a:ext cx="822960" cy="274320"/>
          </a:xfrm>
          <a:prstGeom prst="rect">
            <a:avLst/>
          </a:prstGeom>
          <a:noFill/>
        </p:spPr>
        <p:txBody>
          <a:bodyPr wrap="square">
            <a:spAutoFit/>
          </a:bodyPr>
          <a:lstStyle/>
          <a:p>
            <a:pPr algn="r"/>
            <a:r>
              <a:rPr sz="900" b="0">
                <a:solidFill>
                  <a:srgbClr val="5E6B76"/>
                </a:solidFill>
                <a:latin typeface="Segoe U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448495" y="-1554480"/>
            <a:ext cx="4206240" cy="4206240"/>
          </a:xfrm>
          <a:prstGeom prst="ellipse">
            <a:avLst/>
          </a:prstGeom>
          <a:solidFill>
            <a:srgbClr val="DC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297680"/>
            <a:ext cx="4023360" cy="4023360"/>
          </a:xfrm>
          <a:prstGeom prst="ellipse">
            <a:avLst/>
          </a:prstGeom>
          <a:solidFill>
            <a:srgbClr val="DC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457200"/>
            <a:ext cx="10972800" cy="640080"/>
          </a:xfrm>
          <a:prstGeom prst="rect">
            <a:avLst/>
          </a:prstGeom>
          <a:noFill/>
        </p:spPr>
        <p:txBody>
          <a:bodyPr wrap="square">
            <a:spAutoFit/>
          </a:bodyPr>
          <a:lstStyle/>
          <a:p>
            <a:pPr algn="l"/>
            <a:r>
              <a:rPr sz="2900" b="1">
                <a:solidFill>
                  <a:srgbClr val="1C4966"/>
                </a:solidFill>
                <a:latin typeface="Segoe UI"/>
              </a:rPr>
              <a:t>ROOT-CAUSE DRILL-DOWN</a:t>
            </a:r>
          </a:p>
        </p:txBody>
      </p:sp>
      <p:sp>
        <p:nvSpPr>
          <p:cNvPr id="6" name="Rectangle 5"/>
          <p:cNvSpPr/>
          <p:nvPr/>
        </p:nvSpPr>
        <p:spPr>
          <a:xfrm>
            <a:off x="603504" y="1207008"/>
            <a:ext cx="1463040" cy="54864"/>
          </a:xfrm>
          <a:prstGeom prst="rect">
            <a:avLst/>
          </a:prstGeom>
          <a:solidFill>
            <a:srgbClr val="1C49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1371600"/>
            <a:ext cx="11064240" cy="457200"/>
          </a:xfrm>
          <a:prstGeom prst="rect">
            <a:avLst/>
          </a:prstGeom>
          <a:noFill/>
        </p:spPr>
        <p:txBody>
          <a:bodyPr wrap="square">
            <a:spAutoFit/>
          </a:bodyPr>
          <a:lstStyle/>
          <a:p>
            <a:pPr algn="l"/>
            <a:r>
              <a:rPr sz="1300" b="0">
                <a:solidFill>
                  <a:srgbClr val="2C3B47"/>
                </a:solidFill>
                <a:latin typeface="Segoe UI"/>
              </a:rPr>
              <a:t>Go from a high-level metric to the real reason behind it.</a:t>
            </a:r>
          </a:p>
        </p:txBody>
      </p:sp>
      <p:sp>
        <p:nvSpPr>
          <p:cNvPr id="8" name="Rounded Rectangle 7"/>
          <p:cNvSpPr/>
          <p:nvPr/>
        </p:nvSpPr>
        <p:spPr>
          <a:xfrm>
            <a:off x="548640" y="1965960"/>
            <a:ext cx="5417820" cy="1965960"/>
          </a:xfrm>
          <a:prstGeom prst="roundRect">
            <a:avLst/>
          </a:prstGeom>
          <a:solidFill>
            <a:srgbClr val="6E98A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237744" tIns="146304"/>
          <a:lstStyle/>
          <a:p>
            <a:pPr algn="l"/>
            <a:r>
              <a:rPr sz="1800" b="1">
                <a:solidFill>
                  <a:srgbClr val="D7E6EF"/>
                </a:solidFill>
                <a:latin typeface="Segoe UI"/>
              </a:rPr>
              <a:t>01   </a:t>
            </a:r>
            <a:r>
              <a:rPr sz="1400" b="1">
                <a:solidFill>
                  <a:srgbClr val="FFFFFF"/>
                </a:solidFill>
                <a:latin typeface="Segoe UI"/>
              </a:rPr>
              <a:t>Start at the metric</a:t>
            </a:r>
          </a:p>
          <a:p>
            <a:pPr algn="l">
              <a:spcBef>
                <a:spcPts val="400"/>
              </a:spcBef>
            </a:pPr>
            <a:r>
              <a:rPr sz="1100" b="0">
                <a:solidFill>
                  <a:srgbClr val="FFFFFF"/>
                </a:solidFill>
                <a:latin typeface="Segoe UI"/>
              </a:rPr>
              <a:t>When CPU or memory looks high, click that gauge to begin. No commands are needed — the drill-down guides you from the symptom toward the cause step by step.</a:t>
            </a:r>
          </a:p>
        </p:txBody>
      </p:sp>
      <p:sp>
        <p:nvSpPr>
          <p:cNvPr id="9" name="Rounded Rectangle 8"/>
          <p:cNvSpPr/>
          <p:nvPr/>
        </p:nvSpPr>
        <p:spPr>
          <a:xfrm>
            <a:off x="6240780" y="1965960"/>
            <a:ext cx="5417820" cy="1965960"/>
          </a:xfrm>
          <a:prstGeom prst="roundRect">
            <a:avLst/>
          </a:prstGeom>
          <a:solidFill>
            <a:srgbClr val="4F809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237744" tIns="146304"/>
          <a:lstStyle/>
          <a:p>
            <a:pPr algn="l"/>
            <a:r>
              <a:rPr sz="1800" b="1">
                <a:solidFill>
                  <a:srgbClr val="D7E6EF"/>
                </a:solidFill>
                <a:latin typeface="Segoe UI"/>
              </a:rPr>
              <a:t>02   </a:t>
            </a:r>
            <a:r>
              <a:rPr sz="1400" b="1">
                <a:solidFill>
                  <a:srgbClr val="FFFFFF"/>
                </a:solidFill>
                <a:latin typeface="Segoe UI"/>
              </a:rPr>
              <a:t>See the top processes</a:t>
            </a:r>
          </a:p>
          <a:p>
            <a:pPr algn="l">
              <a:spcBef>
                <a:spcPts val="400"/>
              </a:spcBef>
            </a:pPr>
            <a:r>
              <a:rPr sz="1100" b="0">
                <a:solidFill>
                  <a:srgbClr val="FFFFFF"/>
                </a:solidFill>
                <a:latin typeface="Segoe UI"/>
              </a:rPr>
              <a:t>Actmon shows the processes using the most CPU or memory on the server, with the database clearly identified, so you immediately see whether it is the heavy one or not.</a:t>
            </a:r>
          </a:p>
        </p:txBody>
      </p:sp>
      <p:sp>
        <p:nvSpPr>
          <p:cNvPr id="10" name="Rounded Rectangle 9"/>
          <p:cNvSpPr/>
          <p:nvPr/>
        </p:nvSpPr>
        <p:spPr>
          <a:xfrm>
            <a:off x="548640" y="4206240"/>
            <a:ext cx="5417820" cy="1965960"/>
          </a:xfrm>
          <a:prstGeom prst="roundRect">
            <a:avLst/>
          </a:prstGeom>
          <a:solidFill>
            <a:srgbClr val="3A6A8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237744" tIns="146304"/>
          <a:lstStyle/>
          <a:p>
            <a:pPr algn="l"/>
            <a:r>
              <a:rPr sz="1800" b="1">
                <a:solidFill>
                  <a:srgbClr val="D7E6EF"/>
                </a:solidFill>
                <a:latin typeface="Segoe UI"/>
              </a:rPr>
              <a:t>03   </a:t>
            </a:r>
            <a:r>
              <a:rPr sz="1400" b="1">
                <a:solidFill>
                  <a:srgbClr val="FFFFFF"/>
                </a:solidFill>
                <a:latin typeface="Segoe UI"/>
              </a:rPr>
              <a:t>Drill into the database</a:t>
            </a:r>
          </a:p>
          <a:p>
            <a:pPr algn="l">
              <a:spcBef>
                <a:spcPts val="400"/>
              </a:spcBef>
            </a:pPr>
            <a:r>
              <a:rPr sz="1100" b="0">
                <a:solidFill>
                  <a:srgbClr val="FFFFFF"/>
                </a:solidFill>
                <a:latin typeface="Segoe UI"/>
              </a:rPr>
              <a:t>Go deeper into the database's own sessions and queries to find the specific statement responsible, connecting the high-level metric to a real, fixable cause.</a:t>
            </a:r>
          </a:p>
        </p:txBody>
      </p:sp>
      <p:sp>
        <p:nvSpPr>
          <p:cNvPr id="11" name="Rounded Rectangle 10"/>
          <p:cNvSpPr/>
          <p:nvPr/>
        </p:nvSpPr>
        <p:spPr>
          <a:xfrm>
            <a:off x="6240780" y="4206240"/>
            <a:ext cx="5417820" cy="1965960"/>
          </a:xfrm>
          <a:prstGeom prst="roundRect">
            <a:avLst/>
          </a:prstGeom>
          <a:solidFill>
            <a:srgbClr val="2A557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237744" tIns="146304"/>
          <a:lstStyle/>
          <a:p>
            <a:pPr algn="l"/>
            <a:r>
              <a:rPr sz="1800" b="1">
                <a:solidFill>
                  <a:srgbClr val="D7E6EF"/>
                </a:solidFill>
                <a:latin typeface="Segoe UI"/>
              </a:rPr>
              <a:t>04   </a:t>
            </a:r>
            <a:r>
              <a:rPr sz="1400" b="1">
                <a:solidFill>
                  <a:srgbClr val="FFFFFF"/>
                </a:solidFill>
                <a:latin typeface="Segoe UI"/>
              </a:rPr>
              <a:t>Root-cause report</a:t>
            </a:r>
          </a:p>
          <a:p>
            <a:pPr algn="l">
              <a:spcBef>
                <a:spcPts val="400"/>
              </a:spcBef>
            </a:pPr>
            <a:r>
              <a:rPr sz="1100" b="0">
                <a:solidFill>
                  <a:srgbClr val="FFFFFF"/>
                </a:solidFill>
                <a:latin typeface="Segoe UI"/>
              </a:rPr>
              <a:t>Actmon produces a report stating whether the database or an external process caused the spike, with a simple breakdown that always adds up to 100% (database + other processes + idle).</a:t>
            </a:r>
          </a:p>
        </p:txBody>
      </p:sp>
      <p:sp>
        <p:nvSpPr>
          <p:cNvPr id="12" name="TextBox 11"/>
          <p:cNvSpPr txBox="1"/>
          <p:nvPr/>
        </p:nvSpPr>
        <p:spPr>
          <a:xfrm>
            <a:off x="502920" y="6473952"/>
            <a:ext cx="8229600" cy="274320"/>
          </a:xfrm>
          <a:prstGeom prst="rect">
            <a:avLst/>
          </a:prstGeom>
          <a:noFill/>
        </p:spPr>
        <p:txBody>
          <a:bodyPr wrap="square">
            <a:spAutoFit/>
          </a:bodyPr>
          <a:lstStyle/>
          <a:p>
            <a:pPr algn="l"/>
            <a:r>
              <a:rPr sz="900" b="0">
                <a:solidFill>
                  <a:srgbClr val="5E6B76"/>
                </a:solidFill>
                <a:latin typeface="Segoe UI"/>
              </a:rPr>
              <a:t>Actmon  ·  PostgreSQL Monitoring</a:t>
            </a:r>
          </a:p>
        </p:txBody>
      </p:sp>
      <p:sp>
        <p:nvSpPr>
          <p:cNvPr id="13" name="TextBox 12"/>
          <p:cNvSpPr txBox="1"/>
          <p:nvPr/>
        </p:nvSpPr>
        <p:spPr>
          <a:xfrm>
            <a:off x="11155680" y="6473952"/>
            <a:ext cx="822960" cy="274320"/>
          </a:xfrm>
          <a:prstGeom prst="rect">
            <a:avLst/>
          </a:prstGeom>
          <a:noFill/>
        </p:spPr>
        <p:txBody>
          <a:bodyPr wrap="square">
            <a:spAutoFit/>
          </a:bodyPr>
          <a:lstStyle/>
          <a:p>
            <a:pPr algn="r"/>
            <a:r>
              <a:rPr sz="900" b="0">
                <a:solidFill>
                  <a:srgbClr val="5E6B76"/>
                </a:solidFill>
                <a:latin typeface="Segoe U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448495" y="-1554480"/>
            <a:ext cx="4206240" cy="4206240"/>
          </a:xfrm>
          <a:prstGeom prst="ellipse">
            <a:avLst/>
          </a:prstGeom>
          <a:solidFill>
            <a:srgbClr val="DC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297680"/>
            <a:ext cx="4023360" cy="4023360"/>
          </a:xfrm>
          <a:prstGeom prst="ellipse">
            <a:avLst/>
          </a:prstGeom>
          <a:solidFill>
            <a:srgbClr val="DC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1051560"/>
            <a:ext cx="4983480" cy="4846320"/>
          </a:xfrm>
          <a:prstGeom prst="roundRect">
            <a:avLst/>
          </a:prstGeom>
          <a:solidFill>
            <a:srgbClr val="B9D4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10896" rIns="274320"/>
          <a:lstStyle/>
          <a:p>
            <a:pPr algn="l"/>
            <a:r>
              <a:rPr sz="2700" b="1">
                <a:solidFill>
                  <a:srgbClr val="1C4966"/>
                </a:solidFill>
                <a:latin typeface="Segoe UI"/>
              </a:rPr>
              <a:t>BACKUP &amp; REPORTS</a:t>
            </a:r>
          </a:p>
          <a:p>
            <a:pPr algn="l">
              <a:spcBef>
                <a:spcPts val="1000"/>
              </a:spcBef>
            </a:pPr>
            <a:r>
              <a:rPr sz="1250" b="0">
                <a:solidFill>
                  <a:srgbClr val="1C4966"/>
                </a:solidFill>
                <a:latin typeface="Segoe UI"/>
              </a:rPr>
              <a:t>Protect your data and keep stakeholders informed, all from the same dashboard.</a:t>
            </a:r>
          </a:p>
        </p:txBody>
      </p:sp>
      <p:sp>
        <p:nvSpPr>
          <p:cNvPr id="6" name="Rectangle 5"/>
          <p:cNvSpPr/>
          <p:nvPr/>
        </p:nvSpPr>
        <p:spPr>
          <a:xfrm>
            <a:off x="6355080" y="1234440"/>
            <a:ext cx="27432" cy="4663440"/>
          </a:xfrm>
          <a:prstGeom prst="rect">
            <a:avLst/>
          </a:prstGeom>
          <a:solidFill>
            <a:srgbClr val="1C49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91072" y="1344168"/>
            <a:ext cx="155448" cy="155448"/>
          </a:xfrm>
          <a:prstGeom prst="ellipse">
            <a:avLst/>
          </a:prstGeom>
          <a:solidFill>
            <a:srgbClr val="1C49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47688" y="1252728"/>
            <a:ext cx="5349240" cy="411480"/>
          </a:xfrm>
          <a:prstGeom prst="rect">
            <a:avLst/>
          </a:prstGeom>
          <a:noFill/>
        </p:spPr>
        <p:txBody>
          <a:bodyPr wrap="square">
            <a:spAutoFit/>
          </a:bodyPr>
          <a:lstStyle/>
          <a:p>
            <a:pPr algn="l"/>
            <a:r>
              <a:rPr sz="1700" b="1">
                <a:solidFill>
                  <a:srgbClr val="1C4966"/>
                </a:solidFill>
                <a:latin typeface="Segoe UI"/>
              </a:rPr>
              <a:t>01  </a:t>
            </a:r>
            <a:r>
              <a:rPr sz="1400" b="1">
                <a:solidFill>
                  <a:srgbClr val="1C4966"/>
                </a:solidFill>
                <a:latin typeface="Segoe UI"/>
              </a:rPr>
              <a:t>Backups</a:t>
            </a:r>
          </a:p>
        </p:txBody>
      </p:sp>
      <p:sp>
        <p:nvSpPr>
          <p:cNvPr id="9" name="TextBox 8"/>
          <p:cNvSpPr txBox="1"/>
          <p:nvPr/>
        </p:nvSpPr>
        <p:spPr>
          <a:xfrm>
            <a:off x="6665976" y="1691640"/>
            <a:ext cx="5303520" cy="1097280"/>
          </a:xfrm>
          <a:prstGeom prst="rect">
            <a:avLst/>
          </a:prstGeom>
          <a:noFill/>
        </p:spPr>
        <p:txBody>
          <a:bodyPr wrap="square">
            <a:spAutoFit/>
          </a:bodyPr>
          <a:lstStyle/>
          <a:p>
            <a:pPr algn="l"/>
            <a:r>
              <a:rPr sz="1100" b="0">
                <a:solidFill>
                  <a:srgbClr val="2C3B47"/>
                </a:solidFill>
                <a:latin typeface="Segoe UI"/>
              </a:rPr>
              <a:t>Take PostgreSQL backups and track their status, so you always know a recent, usable copy of your data exists.</a:t>
            </a:r>
          </a:p>
        </p:txBody>
      </p:sp>
      <p:sp>
        <p:nvSpPr>
          <p:cNvPr id="10" name="Oval 9"/>
          <p:cNvSpPr/>
          <p:nvPr/>
        </p:nvSpPr>
        <p:spPr>
          <a:xfrm>
            <a:off x="6291072" y="2898648"/>
            <a:ext cx="155448" cy="155448"/>
          </a:xfrm>
          <a:prstGeom prst="ellipse">
            <a:avLst/>
          </a:prstGeom>
          <a:solidFill>
            <a:srgbClr val="1C49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47688" y="2807208"/>
            <a:ext cx="5349240" cy="411480"/>
          </a:xfrm>
          <a:prstGeom prst="rect">
            <a:avLst/>
          </a:prstGeom>
          <a:noFill/>
        </p:spPr>
        <p:txBody>
          <a:bodyPr wrap="square">
            <a:spAutoFit/>
          </a:bodyPr>
          <a:lstStyle/>
          <a:p>
            <a:pPr algn="l"/>
            <a:r>
              <a:rPr sz="1700" b="1">
                <a:solidFill>
                  <a:srgbClr val="1C4966"/>
                </a:solidFill>
                <a:latin typeface="Segoe UI"/>
              </a:rPr>
              <a:t>02  </a:t>
            </a:r>
            <a:r>
              <a:rPr sz="1400" b="1">
                <a:solidFill>
                  <a:srgbClr val="1C4966"/>
                </a:solidFill>
                <a:latin typeface="Segoe UI"/>
              </a:rPr>
              <a:t>Scheduled reports</a:t>
            </a:r>
          </a:p>
        </p:txBody>
      </p:sp>
      <p:sp>
        <p:nvSpPr>
          <p:cNvPr id="12" name="TextBox 11"/>
          <p:cNvSpPr txBox="1"/>
          <p:nvPr/>
        </p:nvSpPr>
        <p:spPr>
          <a:xfrm>
            <a:off x="6665976" y="3246120"/>
            <a:ext cx="5303520" cy="1097280"/>
          </a:xfrm>
          <a:prstGeom prst="rect">
            <a:avLst/>
          </a:prstGeom>
          <a:noFill/>
        </p:spPr>
        <p:txBody>
          <a:bodyPr wrap="square">
            <a:spAutoFit/>
          </a:bodyPr>
          <a:lstStyle/>
          <a:p>
            <a:pPr algn="l"/>
            <a:r>
              <a:rPr sz="1100" b="0">
                <a:solidFill>
                  <a:srgbClr val="2C3B47"/>
                </a:solidFill>
                <a:latin typeface="Segoe UI"/>
              </a:rPr>
              <a:t>Actmon generates reports and emails them automatically on a schedule you choose, so managers get regular updates without anyone preparing them by hand.</a:t>
            </a:r>
          </a:p>
        </p:txBody>
      </p:sp>
      <p:sp>
        <p:nvSpPr>
          <p:cNvPr id="13" name="Oval 12"/>
          <p:cNvSpPr/>
          <p:nvPr/>
        </p:nvSpPr>
        <p:spPr>
          <a:xfrm>
            <a:off x="6291072" y="4453128"/>
            <a:ext cx="155448" cy="155448"/>
          </a:xfrm>
          <a:prstGeom prst="ellipse">
            <a:avLst/>
          </a:prstGeom>
          <a:solidFill>
            <a:srgbClr val="1C49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47688" y="4361688"/>
            <a:ext cx="5349240" cy="411480"/>
          </a:xfrm>
          <a:prstGeom prst="rect">
            <a:avLst/>
          </a:prstGeom>
          <a:noFill/>
        </p:spPr>
        <p:txBody>
          <a:bodyPr wrap="square">
            <a:spAutoFit/>
          </a:bodyPr>
          <a:lstStyle/>
          <a:p>
            <a:pPr algn="l"/>
            <a:r>
              <a:rPr sz="1700" b="1">
                <a:solidFill>
                  <a:srgbClr val="1C4966"/>
                </a:solidFill>
                <a:latin typeface="Segoe UI"/>
              </a:rPr>
              <a:t>03  </a:t>
            </a:r>
            <a:r>
              <a:rPr sz="1400" b="1">
                <a:solidFill>
                  <a:srgbClr val="1C4966"/>
                </a:solidFill>
                <a:latin typeface="Segoe UI"/>
              </a:rPr>
              <a:t>Configuration view</a:t>
            </a:r>
          </a:p>
        </p:txBody>
      </p:sp>
      <p:sp>
        <p:nvSpPr>
          <p:cNvPr id="15" name="TextBox 14"/>
          <p:cNvSpPr txBox="1"/>
          <p:nvPr/>
        </p:nvSpPr>
        <p:spPr>
          <a:xfrm>
            <a:off x="6665976" y="4800600"/>
            <a:ext cx="5303520" cy="1097280"/>
          </a:xfrm>
          <a:prstGeom prst="rect">
            <a:avLst/>
          </a:prstGeom>
          <a:noFill/>
        </p:spPr>
        <p:txBody>
          <a:bodyPr wrap="square">
            <a:spAutoFit/>
          </a:bodyPr>
          <a:lstStyle/>
          <a:p>
            <a:pPr algn="l"/>
            <a:r>
              <a:rPr sz="1100" b="0">
                <a:solidFill>
                  <a:srgbClr val="2C3B47"/>
                </a:solidFill>
                <a:latin typeface="Segoe UI"/>
              </a:rPr>
              <a:t>The Config tab lets you review server settings in one place, useful when tuning or comparing environments.</a:t>
            </a:r>
          </a:p>
        </p:txBody>
      </p:sp>
      <p:sp>
        <p:nvSpPr>
          <p:cNvPr id="16" name="TextBox 15"/>
          <p:cNvSpPr txBox="1"/>
          <p:nvPr/>
        </p:nvSpPr>
        <p:spPr>
          <a:xfrm>
            <a:off x="502920" y="6473952"/>
            <a:ext cx="8229600" cy="274320"/>
          </a:xfrm>
          <a:prstGeom prst="rect">
            <a:avLst/>
          </a:prstGeom>
          <a:noFill/>
        </p:spPr>
        <p:txBody>
          <a:bodyPr wrap="square">
            <a:spAutoFit/>
          </a:bodyPr>
          <a:lstStyle/>
          <a:p>
            <a:pPr algn="l"/>
            <a:r>
              <a:rPr sz="900" b="0">
                <a:solidFill>
                  <a:srgbClr val="5E6B76"/>
                </a:solidFill>
                <a:latin typeface="Segoe UI"/>
              </a:rPr>
              <a:t>Actmon  ·  PostgreSQL Monitoring</a:t>
            </a:r>
          </a:p>
        </p:txBody>
      </p:sp>
      <p:sp>
        <p:nvSpPr>
          <p:cNvPr id="17" name="TextBox 16"/>
          <p:cNvSpPr txBox="1"/>
          <p:nvPr/>
        </p:nvSpPr>
        <p:spPr>
          <a:xfrm>
            <a:off x="11155680" y="6473952"/>
            <a:ext cx="822960" cy="274320"/>
          </a:xfrm>
          <a:prstGeom prst="rect">
            <a:avLst/>
          </a:prstGeom>
          <a:noFill/>
        </p:spPr>
        <p:txBody>
          <a:bodyPr wrap="square">
            <a:spAutoFit/>
          </a:bodyPr>
          <a:lstStyle/>
          <a:p>
            <a:pPr algn="r"/>
            <a:r>
              <a:rPr sz="900" b="0">
                <a:solidFill>
                  <a:srgbClr val="5E6B76"/>
                </a:solidFill>
                <a:latin typeface="Segoe U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448495" y="-1554480"/>
            <a:ext cx="4206240" cy="4206240"/>
          </a:xfrm>
          <a:prstGeom prst="ellipse">
            <a:avLst/>
          </a:prstGeom>
          <a:solidFill>
            <a:srgbClr val="DC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297680"/>
            <a:ext cx="4023360" cy="4023360"/>
          </a:xfrm>
          <a:prstGeom prst="ellipse">
            <a:avLst/>
          </a:prstGeom>
          <a:solidFill>
            <a:srgbClr val="DC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457200"/>
            <a:ext cx="10972800" cy="640080"/>
          </a:xfrm>
          <a:prstGeom prst="rect">
            <a:avLst/>
          </a:prstGeom>
          <a:noFill/>
        </p:spPr>
        <p:txBody>
          <a:bodyPr wrap="square">
            <a:spAutoFit/>
          </a:bodyPr>
          <a:lstStyle/>
          <a:p>
            <a:pPr algn="l"/>
            <a:r>
              <a:rPr sz="2800" b="1">
                <a:solidFill>
                  <a:srgbClr val="1C4966"/>
                </a:solidFill>
                <a:latin typeface="Segoe UI"/>
              </a:rPr>
              <a:t>KEY METRICS — QUICK REFERENCE</a:t>
            </a:r>
          </a:p>
        </p:txBody>
      </p:sp>
      <p:sp>
        <p:nvSpPr>
          <p:cNvPr id="6" name="Rectangle 5"/>
          <p:cNvSpPr/>
          <p:nvPr/>
        </p:nvSpPr>
        <p:spPr>
          <a:xfrm>
            <a:off x="603504" y="1188720"/>
            <a:ext cx="1463040" cy="54864"/>
          </a:xfrm>
          <a:prstGeom prst="rect">
            <a:avLst/>
          </a:prstGeom>
          <a:solidFill>
            <a:srgbClr val="1C49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1371600"/>
            <a:ext cx="10972800" cy="457200"/>
          </a:xfrm>
          <a:prstGeom prst="rect">
            <a:avLst/>
          </a:prstGeom>
          <a:noFill/>
        </p:spPr>
        <p:txBody>
          <a:bodyPr wrap="square">
            <a:spAutoFit/>
          </a:bodyPr>
          <a:lstStyle/>
          <a:p>
            <a:pPr algn="l"/>
            <a:r>
              <a:rPr sz="1300" b="0">
                <a:solidFill>
                  <a:srgbClr val="2C3B47"/>
                </a:solidFill>
                <a:latin typeface="Segoe UI"/>
              </a:rPr>
              <a:t>A simple cheat-sheet of what each metric means and where to find it.</a:t>
            </a:r>
          </a:p>
        </p:txBody>
      </p:sp>
      <p:graphicFrame>
        <p:nvGraphicFramePr>
          <p:cNvPr id="8" name="Table 7"/>
          <p:cNvGraphicFramePr>
            <a:graphicFrameLocks noGrp="1"/>
          </p:cNvGraphicFramePr>
          <p:nvPr/>
        </p:nvGraphicFramePr>
        <p:xfrm>
          <a:off x="548640" y="1920240"/>
          <a:ext cx="11064240" cy="3657600"/>
        </p:xfrm>
        <a:graphic>
          <a:graphicData uri="http://schemas.openxmlformats.org/drawingml/2006/table">
            <a:tbl>
              <a:tblPr firstRow="1" bandRow="1">
                <a:tableStyleId>{5C22544A-7EE6-4342-B048-85BDC9FD1C3A}</a:tableStyleId>
              </a:tblPr>
              <a:tblGrid>
                <a:gridCol w="3688080"/>
                <a:gridCol w="3688080"/>
                <a:gridCol w="3688080"/>
              </a:tblGrid>
              <a:tr h="457200">
                <a:tc>
                  <a:txBody>
                    <a:bodyPr/>
                    <a:lstStyle/>
                    <a:p>
                      <a:r>
                        <a:rPr sz="1200" b="1">
                          <a:solidFill>
                            <a:srgbClr val="FFFFFF"/>
                          </a:solidFill>
                          <a:latin typeface="Segoe UI"/>
                        </a:rPr>
                        <a:t>Metric</a:t>
                      </a:r>
                    </a:p>
                  </a:txBody>
                  <a:tcPr>
                    <a:solidFill>
                      <a:srgbClr val="1C4966"/>
                    </a:solidFill>
                  </a:tcPr>
                </a:tc>
                <a:tc>
                  <a:txBody>
                    <a:bodyPr/>
                    <a:lstStyle/>
                    <a:p>
                      <a:r>
                        <a:rPr sz="1200" b="1">
                          <a:solidFill>
                            <a:srgbClr val="FFFFFF"/>
                          </a:solidFill>
                          <a:latin typeface="Segoe UI"/>
                        </a:rPr>
                        <a:t>What it tells you</a:t>
                      </a:r>
                    </a:p>
                  </a:txBody>
                  <a:tcPr>
                    <a:solidFill>
                      <a:srgbClr val="1C4966"/>
                    </a:solidFill>
                  </a:tcPr>
                </a:tc>
                <a:tc>
                  <a:txBody>
                    <a:bodyPr/>
                    <a:lstStyle/>
                    <a:p>
                      <a:r>
                        <a:rPr sz="1200" b="1">
                          <a:solidFill>
                            <a:srgbClr val="FFFFFF"/>
                          </a:solidFill>
                          <a:latin typeface="Segoe UI"/>
                        </a:rPr>
                        <a:t>Where to see it</a:t>
                      </a:r>
                    </a:p>
                  </a:txBody>
                  <a:tcPr>
                    <a:solidFill>
                      <a:srgbClr val="1C4966"/>
                    </a:solidFill>
                  </a:tcPr>
                </a:tc>
              </a:tr>
              <a:tr h="457200">
                <a:tc>
                  <a:txBody>
                    <a:bodyPr/>
                    <a:lstStyle/>
                    <a:p>
                      <a:r>
                        <a:rPr sz="1100">
                          <a:solidFill>
                            <a:srgbClr val="2C3B47"/>
                          </a:solidFill>
                          <a:latin typeface="Segoe UI"/>
                        </a:rPr>
                        <a:t>Connections used</a:t>
                      </a:r>
                    </a:p>
                  </a:txBody>
                  <a:tcPr>
                    <a:solidFill>
                      <a:srgbClr val="FFFFFF"/>
                    </a:solidFill>
                  </a:tcPr>
                </a:tc>
                <a:tc>
                  <a:txBody>
                    <a:bodyPr/>
                    <a:lstStyle/>
                    <a:p>
                      <a:r>
                        <a:rPr sz="1100">
                          <a:solidFill>
                            <a:srgbClr val="2C3B47"/>
                          </a:solidFill>
                          <a:latin typeface="Segoe UI"/>
                        </a:rPr>
                        <a:t>client connections vs the maximum</a:t>
                      </a:r>
                    </a:p>
                  </a:txBody>
                  <a:tcPr>
                    <a:solidFill>
                      <a:srgbClr val="FFFFFF"/>
                    </a:solidFill>
                  </a:tcPr>
                </a:tc>
                <a:tc>
                  <a:txBody>
                    <a:bodyPr/>
                    <a:lstStyle/>
                    <a:p>
                      <a:r>
                        <a:rPr sz="1100">
                          <a:solidFill>
                            <a:srgbClr val="2C3B47"/>
                          </a:solidFill>
                          <a:latin typeface="Segoe UI"/>
                        </a:rPr>
                        <a:t>Overview</a:t>
                      </a:r>
                    </a:p>
                  </a:txBody>
                  <a:tcPr>
                    <a:solidFill>
                      <a:srgbClr val="FFFFFF"/>
                    </a:solidFill>
                  </a:tcPr>
                </a:tc>
              </a:tr>
              <a:tr h="457200">
                <a:tc>
                  <a:txBody>
                    <a:bodyPr/>
                    <a:lstStyle/>
                    <a:p>
                      <a:r>
                        <a:rPr sz="1100">
                          <a:solidFill>
                            <a:srgbClr val="2C3B47"/>
                          </a:solidFill>
                          <a:latin typeface="Segoe UI"/>
                        </a:rPr>
                        <a:t>Buffer cache hit %</a:t>
                      </a:r>
                    </a:p>
                  </a:txBody>
                  <a:tcPr>
                    <a:solidFill>
                      <a:srgbClr val="E6EFF4"/>
                    </a:solidFill>
                  </a:tcPr>
                </a:tc>
                <a:tc>
                  <a:txBody>
                    <a:bodyPr/>
                    <a:lstStyle/>
                    <a:p>
                      <a:r>
                        <a:rPr sz="1100">
                          <a:solidFill>
                            <a:srgbClr val="2C3B47"/>
                          </a:solidFill>
                          <a:latin typeface="Segoe UI"/>
                        </a:rPr>
                        <a:t>reads served from memory</a:t>
                      </a:r>
                    </a:p>
                  </a:txBody>
                  <a:tcPr>
                    <a:solidFill>
                      <a:srgbClr val="E6EFF4"/>
                    </a:solidFill>
                  </a:tcPr>
                </a:tc>
                <a:tc>
                  <a:txBody>
                    <a:bodyPr/>
                    <a:lstStyle/>
                    <a:p>
                      <a:r>
                        <a:rPr sz="1100">
                          <a:solidFill>
                            <a:srgbClr val="2C3B47"/>
                          </a:solidFill>
                          <a:latin typeface="Segoe UI"/>
                        </a:rPr>
                        <a:t>Overview / Performance</a:t>
                      </a:r>
                    </a:p>
                  </a:txBody>
                  <a:tcPr>
                    <a:solidFill>
                      <a:srgbClr val="E6EFF4"/>
                    </a:solidFill>
                  </a:tcPr>
                </a:tc>
              </a:tr>
              <a:tr h="457200">
                <a:tc>
                  <a:txBody>
                    <a:bodyPr/>
                    <a:lstStyle/>
                    <a:p>
                      <a:r>
                        <a:rPr sz="1100">
                          <a:solidFill>
                            <a:srgbClr val="2C3B47"/>
                          </a:solidFill>
                          <a:latin typeface="Segoe UI"/>
                        </a:rPr>
                        <a:t>Rollback rate</a:t>
                      </a:r>
                    </a:p>
                  </a:txBody>
                  <a:tcPr>
                    <a:solidFill>
                      <a:srgbClr val="FFFFFF"/>
                    </a:solidFill>
                  </a:tcPr>
                </a:tc>
                <a:tc>
                  <a:txBody>
                    <a:bodyPr/>
                    <a:lstStyle/>
                    <a:p>
                      <a:r>
                        <a:rPr sz="1100">
                          <a:solidFill>
                            <a:srgbClr val="2C3B47"/>
                          </a:solidFill>
                          <a:latin typeface="Segoe UI"/>
                        </a:rPr>
                        <a:t>share of transactions rolled back</a:t>
                      </a:r>
                    </a:p>
                  </a:txBody>
                  <a:tcPr>
                    <a:solidFill>
                      <a:srgbClr val="FFFFFF"/>
                    </a:solidFill>
                  </a:tcPr>
                </a:tc>
                <a:tc>
                  <a:txBody>
                    <a:bodyPr/>
                    <a:lstStyle/>
                    <a:p>
                      <a:r>
                        <a:rPr sz="1100">
                          <a:solidFill>
                            <a:srgbClr val="2C3B47"/>
                          </a:solidFill>
                          <a:latin typeface="Segoe UI"/>
                        </a:rPr>
                        <a:t>Overview</a:t>
                      </a:r>
                    </a:p>
                  </a:txBody>
                  <a:tcPr>
                    <a:solidFill>
                      <a:srgbClr val="FFFFFF"/>
                    </a:solidFill>
                  </a:tcPr>
                </a:tc>
              </a:tr>
              <a:tr h="457200">
                <a:tc>
                  <a:txBody>
                    <a:bodyPr/>
                    <a:lstStyle/>
                    <a:p>
                      <a:r>
                        <a:rPr sz="1100">
                          <a:solidFill>
                            <a:srgbClr val="2C3B47"/>
                          </a:solidFill>
                          <a:latin typeface="Segoe UI"/>
                        </a:rPr>
                        <a:t>Active sessions</a:t>
                      </a:r>
                    </a:p>
                  </a:txBody>
                  <a:tcPr>
                    <a:solidFill>
                      <a:srgbClr val="E6EFF4"/>
                    </a:solidFill>
                  </a:tcPr>
                </a:tc>
                <a:tc>
                  <a:txBody>
                    <a:bodyPr/>
                    <a:lstStyle/>
                    <a:p>
                      <a:r>
                        <a:rPr sz="1100">
                          <a:solidFill>
                            <a:srgbClr val="2C3B47"/>
                          </a:solidFill>
                          <a:latin typeface="Segoe UI"/>
                        </a:rPr>
                        <a:t>sessions active right now</a:t>
                      </a:r>
                    </a:p>
                  </a:txBody>
                  <a:tcPr>
                    <a:solidFill>
                      <a:srgbClr val="E6EFF4"/>
                    </a:solidFill>
                  </a:tcPr>
                </a:tc>
                <a:tc>
                  <a:txBody>
                    <a:bodyPr/>
                    <a:lstStyle/>
                    <a:p>
                      <a:r>
                        <a:rPr sz="1100">
                          <a:solidFill>
                            <a:srgbClr val="2C3B47"/>
                          </a:solidFill>
                          <a:latin typeface="Segoe UI"/>
                        </a:rPr>
                        <a:t>Overview</a:t>
                      </a:r>
                    </a:p>
                  </a:txBody>
                  <a:tcPr>
                    <a:solidFill>
                      <a:srgbClr val="E6EFF4"/>
                    </a:solidFill>
                  </a:tcPr>
                </a:tc>
              </a:tr>
              <a:tr h="457200">
                <a:tc>
                  <a:txBody>
                    <a:bodyPr/>
                    <a:lstStyle/>
                    <a:p>
                      <a:r>
                        <a:rPr sz="1100">
                          <a:solidFill>
                            <a:srgbClr val="2C3B47"/>
                          </a:solidFill>
                          <a:latin typeface="Segoe UI"/>
                        </a:rPr>
                        <a:t>Host CPU %</a:t>
                      </a:r>
                    </a:p>
                  </a:txBody>
                  <a:tcPr>
                    <a:solidFill>
                      <a:srgbClr val="FFFFFF"/>
                    </a:solidFill>
                  </a:tcPr>
                </a:tc>
                <a:tc>
                  <a:txBody>
                    <a:bodyPr/>
                    <a:lstStyle/>
                    <a:p>
                      <a:r>
                        <a:rPr sz="1100">
                          <a:solidFill>
                            <a:srgbClr val="2C3B47"/>
                          </a:solidFill>
                          <a:latin typeface="Segoe UI"/>
                        </a:rPr>
                        <a:t>server CPU usage</a:t>
                      </a:r>
                    </a:p>
                  </a:txBody>
                  <a:tcPr>
                    <a:solidFill>
                      <a:srgbClr val="FFFFFF"/>
                    </a:solidFill>
                  </a:tcPr>
                </a:tc>
                <a:tc>
                  <a:txBody>
                    <a:bodyPr/>
                    <a:lstStyle/>
                    <a:p>
                      <a:r>
                        <a:rPr sz="1100">
                          <a:solidFill>
                            <a:srgbClr val="2C3B47"/>
                          </a:solidFill>
                          <a:latin typeface="Segoe UI"/>
                        </a:rPr>
                        <a:t>Host Resources</a:t>
                      </a:r>
                    </a:p>
                  </a:txBody>
                  <a:tcPr>
                    <a:solidFill>
                      <a:srgbClr val="FFFFFF"/>
                    </a:solidFill>
                  </a:tcPr>
                </a:tc>
              </a:tr>
              <a:tr h="457200">
                <a:tc>
                  <a:txBody>
                    <a:bodyPr/>
                    <a:lstStyle/>
                    <a:p>
                      <a:r>
                        <a:rPr sz="1100">
                          <a:solidFill>
                            <a:srgbClr val="2C3B47"/>
                          </a:solidFill>
                          <a:latin typeface="Segoe UI"/>
                        </a:rPr>
                        <a:t>Dead tuples</a:t>
                      </a:r>
                    </a:p>
                  </a:txBody>
                  <a:tcPr>
                    <a:solidFill>
                      <a:srgbClr val="E6EFF4"/>
                    </a:solidFill>
                  </a:tcPr>
                </a:tc>
                <a:tc>
                  <a:txBody>
                    <a:bodyPr/>
                    <a:lstStyle/>
                    <a:p>
                      <a:r>
                        <a:rPr sz="1100">
                          <a:solidFill>
                            <a:srgbClr val="2C3B47"/>
                          </a:solidFill>
                          <a:latin typeface="Segoe UI"/>
                        </a:rPr>
                        <a:t>rows needing vacuum</a:t>
                      </a:r>
                    </a:p>
                  </a:txBody>
                  <a:tcPr>
                    <a:solidFill>
                      <a:srgbClr val="E6EFF4"/>
                    </a:solidFill>
                  </a:tcPr>
                </a:tc>
                <a:tc>
                  <a:txBody>
                    <a:bodyPr/>
                    <a:lstStyle/>
                    <a:p>
                      <a:r>
                        <a:rPr sz="1100">
                          <a:solidFill>
                            <a:srgbClr val="2C3B47"/>
                          </a:solidFill>
                          <a:latin typeface="Segoe UI"/>
                        </a:rPr>
                        <a:t>Tables</a:t>
                      </a:r>
                    </a:p>
                  </a:txBody>
                  <a:tcPr>
                    <a:solidFill>
                      <a:srgbClr val="E6EFF4"/>
                    </a:solidFill>
                  </a:tcPr>
                </a:tc>
              </a:tr>
              <a:tr h="457200">
                <a:tc>
                  <a:txBody>
                    <a:bodyPr/>
                    <a:lstStyle/>
                    <a:p>
                      <a:r>
                        <a:rPr sz="1100">
                          <a:solidFill>
                            <a:srgbClr val="2C3B47"/>
                          </a:solidFill>
                          <a:latin typeface="Segoe UI"/>
                        </a:rPr>
                        <a:t>Replication state</a:t>
                      </a:r>
                    </a:p>
                  </a:txBody>
                  <a:tcPr>
                    <a:solidFill>
                      <a:srgbClr val="FFFFFF"/>
                    </a:solidFill>
                  </a:tcPr>
                </a:tc>
                <a:tc>
                  <a:txBody>
                    <a:bodyPr/>
                    <a:lstStyle/>
                    <a:p>
                      <a:r>
                        <a:rPr sz="1100">
                          <a:solidFill>
                            <a:srgbClr val="2C3B47"/>
                          </a:solidFill>
                          <a:latin typeface="Segoe UI"/>
                        </a:rPr>
                        <a:t>replica or standalone</a:t>
                      </a:r>
                    </a:p>
                  </a:txBody>
                  <a:tcPr>
                    <a:solidFill>
                      <a:srgbClr val="FFFFFF"/>
                    </a:solidFill>
                  </a:tcPr>
                </a:tc>
                <a:tc>
                  <a:txBody>
                    <a:bodyPr/>
                    <a:lstStyle/>
                    <a:p>
                      <a:r>
                        <a:rPr sz="1100">
                          <a:solidFill>
                            <a:srgbClr val="2C3B47"/>
                          </a:solidFill>
                          <a:latin typeface="Segoe UI"/>
                        </a:rPr>
                        <a:t>Replication</a:t>
                      </a:r>
                    </a:p>
                  </a:txBody>
                  <a:tcPr>
                    <a:solidFill>
                      <a:srgbClr val="FFFFFF"/>
                    </a:solidFill>
                  </a:tcPr>
                </a:tc>
              </a:tr>
            </a:tbl>
          </a:graphicData>
        </a:graphic>
      </p:graphicFrame>
      <p:sp>
        <p:nvSpPr>
          <p:cNvPr id="9" name="TextBox 8"/>
          <p:cNvSpPr txBox="1"/>
          <p:nvPr/>
        </p:nvSpPr>
        <p:spPr>
          <a:xfrm>
            <a:off x="502920" y="6473952"/>
            <a:ext cx="8229600" cy="274320"/>
          </a:xfrm>
          <a:prstGeom prst="rect">
            <a:avLst/>
          </a:prstGeom>
          <a:noFill/>
        </p:spPr>
        <p:txBody>
          <a:bodyPr wrap="square">
            <a:spAutoFit/>
          </a:bodyPr>
          <a:lstStyle/>
          <a:p>
            <a:pPr algn="l"/>
            <a:r>
              <a:rPr sz="900" b="0">
                <a:solidFill>
                  <a:srgbClr val="5E6B76"/>
                </a:solidFill>
                <a:latin typeface="Segoe UI"/>
              </a:rPr>
              <a:t>Actmon  ·  PostgreSQL Monitoring</a:t>
            </a:r>
          </a:p>
        </p:txBody>
      </p:sp>
      <p:sp>
        <p:nvSpPr>
          <p:cNvPr id="10" name="TextBox 9"/>
          <p:cNvSpPr txBox="1"/>
          <p:nvPr/>
        </p:nvSpPr>
        <p:spPr>
          <a:xfrm>
            <a:off x="11155680" y="6473952"/>
            <a:ext cx="822960" cy="274320"/>
          </a:xfrm>
          <a:prstGeom prst="rect">
            <a:avLst/>
          </a:prstGeom>
          <a:noFill/>
        </p:spPr>
        <p:txBody>
          <a:bodyPr wrap="square">
            <a:spAutoFit/>
          </a:bodyPr>
          <a:lstStyle/>
          <a:p>
            <a:pPr algn="r"/>
            <a:r>
              <a:rPr sz="900" b="0">
                <a:solidFill>
                  <a:srgbClr val="5E6B76"/>
                </a:solidFill>
                <a:latin typeface="Segoe UI"/>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448495" y="-1554480"/>
            <a:ext cx="4206240" cy="4206240"/>
          </a:xfrm>
          <a:prstGeom prst="ellipse">
            <a:avLst/>
          </a:prstGeom>
          <a:solidFill>
            <a:srgbClr val="DC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297680"/>
            <a:ext cx="4023360" cy="4023360"/>
          </a:xfrm>
          <a:prstGeom prst="ellipse">
            <a:avLst/>
          </a:prstGeom>
          <a:solidFill>
            <a:srgbClr val="DC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457200"/>
            <a:ext cx="10972800" cy="640080"/>
          </a:xfrm>
          <a:prstGeom prst="rect">
            <a:avLst/>
          </a:prstGeom>
          <a:noFill/>
        </p:spPr>
        <p:txBody>
          <a:bodyPr wrap="square">
            <a:spAutoFit/>
          </a:bodyPr>
          <a:lstStyle/>
          <a:p>
            <a:pPr algn="l"/>
            <a:r>
              <a:rPr sz="2900" b="1">
                <a:solidFill>
                  <a:srgbClr val="1C4966"/>
                </a:solidFill>
                <a:latin typeface="Segoe UI"/>
              </a:rPr>
              <a:t>SUMMARY</a:t>
            </a:r>
          </a:p>
        </p:txBody>
      </p:sp>
      <p:sp>
        <p:nvSpPr>
          <p:cNvPr id="6" name="Rectangle 5"/>
          <p:cNvSpPr/>
          <p:nvPr/>
        </p:nvSpPr>
        <p:spPr>
          <a:xfrm>
            <a:off x="603504" y="1207008"/>
            <a:ext cx="1463040" cy="54864"/>
          </a:xfrm>
          <a:prstGeom prst="rect">
            <a:avLst/>
          </a:prstGeom>
          <a:solidFill>
            <a:srgbClr val="1C49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1371600"/>
            <a:ext cx="11064240" cy="457200"/>
          </a:xfrm>
          <a:prstGeom prst="rect">
            <a:avLst/>
          </a:prstGeom>
          <a:noFill/>
        </p:spPr>
        <p:txBody>
          <a:bodyPr wrap="square">
            <a:spAutoFit/>
          </a:bodyPr>
          <a:lstStyle/>
          <a:p>
            <a:pPr algn="l"/>
            <a:r>
              <a:rPr sz="1300" b="0">
                <a:solidFill>
                  <a:srgbClr val="2C3B47"/>
                </a:solidFill>
                <a:latin typeface="Segoe UI"/>
              </a:rPr>
              <a:t>One screen to monitor, detect, analyse and protect PostgreSQL.</a:t>
            </a:r>
          </a:p>
        </p:txBody>
      </p:sp>
      <p:sp>
        <p:nvSpPr>
          <p:cNvPr id="8" name="Rounded Rectangle 7"/>
          <p:cNvSpPr/>
          <p:nvPr/>
        </p:nvSpPr>
        <p:spPr>
          <a:xfrm>
            <a:off x="548640" y="1965960"/>
            <a:ext cx="5417820" cy="1965960"/>
          </a:xfrm>
          <a:prstGeom prst="roundRect">
            <a:avLst/>
          </a:prstGeom>
          <a:solidFill>
            <a:srgbClr val="6E98A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237744" tIns="146304"/>
          <a:lstStyle/>
          <a:p>
            <a:pPr algn="l"/>
            <a:r>
              <a:rPr sz="1800" b="1">
                <a:solidFill>
                  <a:srgbClr val="D7E6EF"/>
                </a:solidFill>
                <a:latin typeface="Segoe UI"/>
              </a:rPr>
              <a:t>01   </a:t>
            </a:r>
            <a:r>
              <a:rPr sz="1400" b="1">
                <a:solidFill>
                  <a:srgbClr val="FFFFFF"/>
                </a:solidFill>
                <a:latin typeface="Segoe UI"/>
              </a:rPr>
              <a:t>Monitor &amp; detect</a:t>
            </a:r>
          </a:p>
          <a:p>
            <a:pPr algn="l">
              <a:spcBef>
                <a:spcPts val="400"/>
              </a:spcBef>
            </a:pPr>
            <a:r>
              <a:rPr sz="1100" b="0">
                <a:solidFill>
                  <a:srgbClr val="FFFFFF"/>
                </a:solidFill>
                <a:latin typeface="Segoe UI"/>
              </a:rPr>
              <a:t>Actmon continuously watches the database and server, raising clear signals the moment connections, cache, queries or replication look wrong.</a:t>
            </a:r>
          </a:p>
        </p:txBody>
      </p:sp>
      <p:sp>
        <p:nvSpPr>
          <p:cNvPr id="9" name="Rounded Rectangle 8"/>
          <p:cNvSpPr/>
          <p:nvPr/>
        </p:nvSpPr>
        <p:spPr>
          <a:xfrm>
            <a:off x="6240780" y="1965960"/>
            <a:ext cx="5417820" cy="1965960"/>
          </a:xfrm>
          <a:prstGeom prst="roundRect">
            <a:avLst/>
          </a:prstGeom>
          <a:solidFill>
            <a:srgbClr val="4F809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237744" tIns="146304"/>
          <a:lstStyle/>
          <a:p>
            <a:pPr algn="l"/>
            <a:r>
              <a:rPr sz="1800" b="1">
                <a:solidFill>
                  <a:srgbClr val="D7E6EF"/>
                </a:solidFill>
                <a:latin typeface="Segoe UI"/>
              </a:rPr>
              <a:t>02   </a:t>
            </a:r>
            <a:r>
              <a:rPr sz="1400" b="1">
                <a:solidFill>
                  <a:srgbClr val="FFFFFF"/>
                </a:solidFill>
                <a:latin typeface="Segoe UI"/>
              </a:rPr>
              <a:t>Analyse with AI</a:t>
            </a:r>
          </a:p>
          <a:p>
            <a:pPr algn="l">
              <a:spcBef>
                <a:spcPts val="400"/>
              </a:spcBef>
            </a:pPr>
            <a:r>
              <a:rPr sz="1100" b="0">
                <a:solidFill>
                  <a:srgbClr val="FFFFFF"/>
                </a:solidFill>
                <a:latin typeface="Segoe UI"/>
              </a:rPr>
              <a:t>Slow queries from pg_stat_statements get an AI explanation and concrete index or rewrite suggestions, available to the whole team.</a:t>
            </a:r>
          </a:p>
        </p:txBody>
      </p:sp>
      <p:sp>
        <p:nvSpPr>
          <p:cNvPr id="10" name="Rounded Rectangle 9"/>
          <p:cNvSpPr/>
          <p:nvPr/>
        </p:nvSpPr>
        <p:spPr>
          <a:xfrm>
            <a:off x="548640" y="4206240"/>
            <a:ext cx="5417820" cy="1965960"/>
          </a:xfrm>
          <a:prstGeom prst="roundRect">
            <a:avLst/>
          </a:prstGeom>
          <a:solidFill>
            <a:srgbClr val="3A6A8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237744" tIns="146304"/>
          <a:lstStyle/>
          <a:p>
            <a:pPr algn="l"/>
            <a:r>
              <a:rPr sz="1800" b="1">
                <a:solidFill>
                  <a:srgbClr val="D7E6EF"/>
                </a:solidFill>
                <a:latin typeface="Segoe UI"/>
              </a:rPr>
              <a:t>03   </a:t>
            </a:r>
            <a:r>
              <a:rPr sz="1400" b="1">
                <a:solidFill>
                  <a:srgbClr val="FFFFFF"/>
                </a:solidFill>
                <a:latin typeface="Segoe UI"/>
              </a:rPr>
              <a:t>Tune &amp; maintain</a:t>
            </a:r>
          </a:p>
          <a:p>
            <a:pPr algn="l">
              <a:spcBef>
                <a:spcPts val="400"/>
              </a:spcBef>
            </a:pPr>
            <a:r>
              <a:rPr sz="1100" b="0">
                <a:solidFill>
                  <a:srgbClr val="FFFFFF"/>
                </a:solidFill>
                <a:latin typeface="Segoe UI"/>
              </a:rPr>
              <a:t>Dead-tuple and vacuum insight, index analysis and the Config view help keep the database lean and fast over time.</a:t>
            </a:r>
          </a:p>
        </p:txBody>
      </p:sp>
      <p:sp>
        <p:nvSpPr>
          <p:cNvPr id="11" name="Rounded Rectangle 10"/>
          <p:cNvSpPr/>
          <p:nvPr/>
        </p:nvSpPr>
        <p:spPr>
          <a:xfrm>
            <a:off x="6240780" y="4206240"/>
            <a:ext cx="5417820" cy="1965960"/>
          </a:xfrm>
          <a:prstGeom prst="roundRect">
            <a:avLst/>
          </a:prstGeom>
          <a:solidFill>
            <a:srgbClr val="2A557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237744" tIns="146304"/>
          <a:lstStyle/>
          <a:p>
            <a:pPr algn="l"/>
            <a:r>
              <a:rPr sz="1800" b="1">
                <a:solidFill>
                  <a:srgbClr val="D7E6EF"/>
                </a:solidFill>
                <a:latin typeface="Segoe UI"/>
              </a:rPr>
              <a:t>04   </a:t>
            </a:r>
            <a:r>
              <a:rPr sz="1400" b="1">
                <a:solidFill>
                  <a:srgbClr val="FFFFFF"/>
                </a:solidFill>
                <a:latin typeface="Segoe UI"/>
              </a:rPr>
              <a:t>Protect &amp; report</a:t>
            </a:r>
          </a:p>
          <a:p>
            <a:pPr algn="l">
              <a:spcBef>
                <a:spcPts val="400"/>
              </a:spcBef>
            </a:pPr>
            <a:r>
              <a:rPr sz="1100" b="0">
                <a:solidFill>
                  <a:srgbClr val="FFFFFF"/>
                </a:solidFill>
                <a:latin typeface="Segoe UI"/>
              </a:rPr>
              <a:t>Backups keep data safe, scheduled reports keep people informed, and role-based access controls who can see and do what.</a:t>
            </a:r>
          </a:p>
        </p:txBody>
      </p:sp>
      <p:sp>
        <p:nvSpPr>
          <p:cNvPr id="12" name="TextBox 11"/>
          <p:cNvSpPr txBox="1"/>
          <p:nvPr/>
        </p:nvSpPr>
        <p:spPr>
          <a:xfrm>
            <a:off x="502920" y="6473952"/>
            <a:ext cx="8229600" cy="274320"/>
          </a:xfrm>
          <a:prstGeom prst="rect">
            <a:avLst/>
          </a:prstGeom>
          <a:noFill/>
        </p:spPr>
        <p:txBody>
          <a:bodyPr wrap="square">
            <a:spAutoFit/>
          </a:bodyPr>
          <a:lstStyle/>
          <a:p>
            <a:pPr algn="l"/>
            <a:r>
              <a:rPr sz="900" b="0">
                <a:solidFill>
                  <a:srgbClr val="5E6B76"/>
                </a:solidFill>
                <a:latin typeface="Segoe UI"/>
              </a:rPr>
              <a:t>Actmon  ·  PostgreSQL Monitoring</a:t>
            </a:r>
          </a:p>
        </p:txBody>
      </p:sp>
      <p:sp>
        <p:nvSpPr>
          <p:cNvPr id="13" name="TextBox 12"/>
          <p:cNvSpPr txBox="1"/>
          <p:nvPr/>
        </p:nvSpPr>
        <p:spPr>
          <a:xfrm>
            <a:off x="11155680" y="6473952"/>
            <a:ext cx="822960" cy="274320"/>
          </a:xfrm>
          <a:prstGeom prst="rect">
            <a:avLst/>
          </a:prstGeom>
          <a:noFill/>
        </p:spPr>
        <p:txBody>
          <a:bodyPr wrap="square">
            <a:spAutoFit/>
          </a:bodyPr>
          <a:lstStyle/>
          <a:p>
            <a:pPr algn="r"/>
            <a:r>
              <a:rPr sz="900" b="0">
                <a:solidFill>
                  <a:srgbClr val="5E6B76"/>
                </a:solidFill>
                <a:latin typeface="Segoe UI"/>
              </a:rPr>
              <a:t>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