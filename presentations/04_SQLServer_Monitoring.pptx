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448495" y="-1554480"/>
            <a:ext cx="4206240" cy="420624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297680"/>
            <a:ext cx="4023360" cy="402336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502920"/>
            <a:ext cx="5486400" cy="365760"/>
          </a:xfrm>
          <a:prstGeom prst="rect">
            <a:avLst/>
          </a:prstGeom>
          <a:noFill/>
        </p:spPr>
        <p:txBody>
          <a:bodyPr wrap="square">
            <a:spAutoFit/>
          </a:bodyPr>
          <a:lstStyle/>
          <a:p>
            <a:pPr algn="l"/>
            <a:r>
              <a:rPr sz="1300" b="1">
                <a:solidFill>
                  <a:srgbClr val="1C4966"/>
                </a:solidFill>
                <a:latin typeface="Segoe UI"/>
              </a:rPr>
              <a:t>● ACTMON</a:t>
            </a:r>
          </a:p>
        </p:txBody>
      </p:sp>
      <p:sp>
        <p:nvSpPr>
          <p:cNvPr id="6" name="TextBox 5"/>
          <p:cNvSpPr txBox="1"/>
          <p:nvPr/>
        </p:nvSpPr>
        <p:spPr>
          <a:xfrm>
            <a:off x="548640" y="1737360"/>
            <a:ext cx="10058400" cy="2194560"/>
          </a:xfrm>
          <a:prstGeom prst="rect">
            <a:avLst/>
          </a:prstGeom>
          <a:noFill/>
        </p:spPr>
        <p:txBody>
          <a:bodyPr wrap="square">
            <a:spAutoFit/>
          </a:bodyPr>
          <a:lstStyle/>
          <a:p>
            <a:pPr algn="l"/>
            <a:r>
              <a:rPr sz="5000" b="1">
                <a:solidFill>
                  <a:srgbClr val="1C4966"/>
                </a:solidFill>
                <a:latin typeface="Segoe UI"/>
              </a:rPr>
              <a:t>SQL SERVER
MONITORING</a:t>
            </a:r>
          </a:p>
        </p:txBody>
      </p:sp>
      <p:sp>
        <p:nvSpPr>
          <p:cNvPr id="7" name="Rectangle 6"/>
          <p:cNvSpPr/>
          <p:nvPr/>
        </p:nvSpPr>
        <p:spPr>
          <a:xfrm>
            <a:off x="603504" y="4069080"/>
            <a:ext cx="2377440" cy="73152"/>
          </a:xfrm>
          <a:prstGeom prst="rect">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297680"/>
            <a:ext cx="10607040" cy="1828800"/>
          </a:xfrm>
          <a:prstGeom prst="rect">
            <a:avLst/>
          </a:prstGeom>
          <a:noFill/>
        </p:spPr>
        <p:txBody>
          <a:bodyPr wrap="square">
            <a:spAutoFit/>
          </a:bodyPr>
          <a:lstStyle/>
          <a:p>
            <a:pPr algn="l"/>
            <a:r>
              <a:rPr sz="1600" b="0">
                <a:solidFill>
                  <a:srgbClr val="2C3B47"/>
                </a:solidFill>
                <a:latin typeface="Segoe UI"/>
              </a:rPr>
              <a:t>Monitor SQL Server in real time — health, performance, tables and locks, host resources from DMVs, plus deep error analysis with guided, permission-gated self-healing.</a:t>
            </a:r>
          </a:p>
        </p:txBody>
      </p:sp>
      <p:sp>
        <p:nvSpPr>
          <p:cNvPr id="9" name="TextBox 8"/>
          <p:cNvSpPr txBox="1"/>
          <p:nvPr/>
        </p:nvSpPr>
        <p:spPr>
          <a:xfrm>
            <a:off x="502920" y="6473952"/>
            <a:ext cx="8229600" cy="274320"/>
          </a:xfrm>
          <a:prstGeom prst="rect">
            <a:avLst/>
          </a:prstGeom>
          <a:noFill/>
        </p:spPr>
        <p:txBody>
          <a:bodyPr wrap="square">
            <a:spAutoFit/>
          </a:bodyPr>
          <a:lstStyle/>
          <a:p>
            <a:pPr algn="l"/>
            <a:r>
              <a:rPr sz="900" b="0">
                <a:solidFill>
                  <a:srgbClr val="5E6B76"/>
                </a:solidFill>
                <a:latin typeface="Segoe UI"/>
              </a:rPr>
              <a:t>Actmon  ·  SQL Server Monitoring</a:t>
            </a:r>
          </a:p>
        </p:txBody>
      </p:sp>
      <p:sp>
        <p:nvSpPr>
          <p:cNvPr id="10" name="TextBox 9"/>
          <p:cNvSpPr txBox="1"/>
          <p:nvPr/>
        </p:nvSpPr>
        <p:spPr>
          <a:xfrm>
            <a:off x="11155680" y="6473952"/>
            <a:ext cx="822960" cy="274320"/>
          </a:xfrm>
          <a:prstGeom prst="rect">
            <a:avLst/>
          </a:prstGeom>
          <a:noFill/>
        </p:spPr>
        <p:txBody>
          <a:bodyPr wrap="square">
            <a:spAutoFit/>
          </a:bodyPr>
          <a:lstStyle/>
          <a:p>
            <a:pPr algn="r"/>
            <a:r>
              <a:rPr sz="900" b="0">
                <a:solidFill>
                  <a:srgbClr val="5E6B76"/>
                </a:solidFill>
                <a:latin typeface="Segoe UI"/>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448495" y="-1554480"/>
            <a:ext cx="4206240" cy="420624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297680"/>
            <a:ext cx="4023360" cy="402336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051560"/>
            <a:ext cx="4983480" cy="4846320"/>
          </a:xfrm>
          <a:prstGeom prst="roundRect">
            <a:avLst/>
          </a:prstGeom>
          <a:solidFill>
            <a:srgbClr val="B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10896" rIns="274320"/>
          <a:lstStyle/>
          <a:p>
            <a:pPr algn="l"/>
            <a:r>
              <a:rPr sz="2700" b="1">
                <a:solidFill>
                  <a:srgbClr val="1C4966"/>
                </a:solidFill>
                <a:latin typeface="Segoe UI"/>
              </a:rPr>
              <a:t>WHAT IS ACTMON?</a:t>
            </a:r>
          </a:p>
          <a:p>
            <a:pPr algn="l">
              <a:spcBef>
                <a:spcPts val="1000"/>
              </a:spcBef>
            </a:pPr>
            <a:r>
              <a:rPr sz="1250" b="0">
                <a:solidFill>
                  <a:srgbClr val="1C4966"/>
                </a:solidFill>
                <a:latin typeface="Segoe UI"/>
              </a:rPr>
              <a:t>Actmon is a real-time monitoring dashboard for SQL Server. Instead of logging into the server and running commands, your team sees the database's health, performance and the host machine in one place — in plain language anyone can follow.</a:t>
            </a:r>
          </a:p>
        </p:txBody>
      </p:sp>
      <p:sp>
        <p:nvSpPr>
          <p:cNvPr id="6" name="Rectangle 5"/>
          <p:cNvSpPr/>
          <p:nvPr/>
        </p:nvSpPr>
        <p:spPr>
          <a:xfrm>
            <a:off x="6355080" y="1234440"/>
            <a:ext cx="27432" cy="4663440"/>
          </a:xfrm>
          <a:prstGeom prst="rect">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91072" y="1344168"/>
            <a:ext cx="155448" cy="155448"/>
          </a:xfrm>
          <a:prstGeom prst="ellipse">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47688" y="1252728"/>
            <a:ext cx="5349240" cy="411480"/>
          </a:xfrm>
          <a:prstGeom prst="rect">
            <a:avLst/>
          </a:prstGeom>
          <a:noFill/>
        </p:spPr>
        <p:txBody>
          <a:bodyPr wrap="square">
            <a:spAutoFit/>
          </a:bodyPr>
          <a:lstStyle/>
          <a:p>
            <a:pPr algn="l"/>
            <a:r>
              <a:rPr sz="1700" b="1">
                <a:solidFill>
                  <a:srgbClr val="1C4966"/>
                </a:solidFill>
                <a:latin typeface="Segoe UI"/>
              </a:rPr>
              <a:t>01  </a:t>
            </a:r>
            <a:r>
              <a:rPr sz="1400" b="1">
                <a:solidFill>
                  <a:srgbClr val="1C4966"/>
                </a:solidFill>
                <a:latin typeface="Segoe UI"/>
              </a:rPr>
              <a:t>One place for everything</a:t>
            </a:r>
          </a:p>
        </p:txBody>
      </p:sp>
      <p:sp>
        <p:nvSpPr>
          <p:cNvPr id="9" name="TextBox 8"/>
          <p:cNvSpPr txBox="1"/>
          <p:nvPr/>
        </p:nvSpPr>
        <p:spPr>
          <a:xfrm>
            <a:off x="6665976" y="1691640"/>
            <a:ext cx="5303520" cy="1097280"/>
          </a:xfrm>
          <a:prstGeom prst="rect">
            <a:avLst/>
          </a:prstGeom>
          <a:noFill/>
        </p:spPr>
        <p:txBody>
          <a:bodyPr wrap="square">
            <a:spAutoFit/>
          </a:bodyPr>
          <a:lstStyle/>
          <a:p>
            <a:pPr algn="l"/>
            <a:r>
              <a:rPr sz="1100" b="0">
                <a:solidFill>
                  <a:srgbClr val="2C3B47"/>
                </a:solidFill>
                <a:latin typeface="Segoe UI"/>
              </a:rPr>
              <a:t>No separate tools for the database, queries, logs and server — Actmon brings them together on one screen, so you switch windows less and understand SQL Server more.</a:t>
            </a:r>
          </a:p>
        </p:txBody>
      </p:sp>
      <p:sp>
        <p:nvSpPr>
          <p:cNvPr id="10" name="Oval 9"/>
          <p:cNvSpPr/>
          <p:nvPr/>
        </p:nvSpPr>
        <p:spPr>
          <a:xfrm>
            <a:off x="6291072" y="2898648"/>
            <a:ext cx="155448" cy="155448"/>
          </a:xfrm>
          <a:prstGeom prst="ellipse">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47688" y="2807208"/>
            <a:ext cx="5349240" cy="411480"/>
          </a:xfrm>
          <a:prstGeom prst="rect">
            <a:avLst/>
          </a:prstGeom>
          <a:noFill/>
        </p:spPr>
        <p:txBody>
          <a:bodyPr wrap="square">
            <a:spAutoFit/>
          </a:bodyPr>
          <a:lstStyle/>
          <a:p>
            <a:pPr algn="l"/>
            <a:r>
              <a:rPr sz="1700" b="1">
                <a:solidFill>
                  <a:srgbClr val="1C4966"/>
                </a:solidFill>
                <a:latin typeface="Segoe UI"/>
              </a:rPr>
              <a:t>02  </a:t>
            </a:r>
            <a:r>
              <a:rPr sz="1400" b="1">
                <a:solidFill>
                  <a:srgbClr val="1C4966"/>
                </a:solidFill>
                <a:latin typeface="Segoe UI"/>
              </a:rPr>
              <a:t>Always up to date</a:t>
            </a:r>
          </a:p>
        </p:txBody>
      </p:sp>
      <p:sp>
        <p:nvSpPr>
          <p:cNvPr id="12" name="TextBox 11"/>
          <p:cNvSpPr txBox="1"/>
          <p:nvPr/>
        </p:nvSpPr>
        <p:spPr>
          <a:xfrm>
            <a:off x="6665976" y="3246120"/>
            <a:ext cx="5303520" cy="1097280"/>
          </a:xfrm>
          <a:prstGeom prst="rect">
            <a:avLst/>
          </a:prstGeom>
          <a:noFill/>
        </p:spPr>
        <p:txBody>
          <a:bodyPr wrap="square">
            <a:spAutoFit/>
          </a:bodyPr>
          <a:lstStyle/>
          <a:p>
            <a:pPr algn="l"/>
            <a:r>
              <a:rPr sz="1100" b="0">
                <a:solidFill>
                  <a:srgbClr val="2C3B47"/>
                </a:solidFill>
                <a:latin typeface="Segoe UI"/>
              </a:rPr>
              <a:t>Every number refreshes by itself every few seconds, so you always see the live state of the database, not an old snapshot, and notice changes the moment they happen.</a:t>
            </a:r>
          </a:p>
        </p:txBody>
      </p:sp>
      <p:sp>
        <p:nvSpPr>
          <p:cNvPr id="13" name="Oval 12"/>
          <p:cNvSpPr/>
          <p:nvPr/>
        </p:nvSpPr>
        <p:spPr>
          <a:xfrm>
            <a:off x="6291072" y="4453128"/>
            <a:ext cx="155448" cy="155448"/>
          </a:xfrm>
          <a:prstGeom prst="ellipse">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47688" y="4361688"/>
            <a:ext cx="5349240" cy="411480"/>
          </a:xfrm>
          <a:prstGeom prst="rect">
            <a:avLst/>
          </a:prstGeom>
          <a:noFill/>
        </p:spPr>
        <p:txBody>
          <a:bodyPr wrap="square">
            <a:spAutoFit/>
          </a:bodyPr>
          <a:lstStyle/>
          <a:p>
            <a:pPr algn="l"/>
            <a:r>
              <a:rPr sz="1700" b="1">
                <a:solidFill>
                  <a:srgbClr val="1C4966"/>
                </a:solidFill>
                <a:latin typeface="Segoe UI"/>
              </a:rPr>
              <a:t>03  </a:t>
            </a:r>
            <a:r>
              <a:rPr sz="1400" b="1">
                <a:solidFill>
                  <a:srgbClr val="1C4966"/>
                </a:solidFill>
                <a:latin typeface="Segoe UI"/>
              </a:rPr>
              <a:t>From symptom to cause</a:t>
            </a:r>
          </a:p>
        </p:txBody>
      </p:sp>
      <p:sp>
        <p:nvSpPr>
          <p:cNvPr id="15" name="TextBox 14"/>
          <p:cNvSpPr txBox="1"/>
          <p:nvPr/>
        </p:nvSpPr>
        <p:spPr>
          <a:xfrm>
            <a:off x="6665976" y="4800600"/>
            <a:ext cx="5303520" cy="1097280"/>
          </a:xfrm>
          <a:prstGeom prst="rect">
            <a:avLst/>
          </a:prstGeom>
          <a:noFill/>
        </p:spPr>
        <p:txBody>
          <a:bodyPr wrap="square">
            <a:spAutoFit/>
          </a:bodyPr>
          <a:lstStyle/>
          <a:p>
            <a:pPr algn="l"/>
            <a:r>
              <a:rPr sz="1100" b="0">
                <a:solidFill>
                  <a:srgbClr val="2C3B47"/>
                </a:solidFill>
                <a:latin typeface="Segoe UI"/>
              </a:rPr>
              <a:t>When something looks wrong, click from a high-level number straight down to the exact query, session or process behind it, then act on it.</a:t>
            </a:r>
          </a:p>
        </p:txBody>
      </p:sp>
      <p:sp>
        <p:nvSpPr>
          <p:cNvPr id="16" name="TextBox 15"/>
          <p:cNvSpPr txBox="1"/>
          <p:nvPr/>
        </p:nvSpPr>
        <p:spPr>
          <a:xfrm>
            <a:off x="502920" y="6473952"/>
            <a:ext cx="8229600" cy="274320"/>
          </a:xfrm>
          <a:prstGeom prst="rect">
            <a:avLst/>
          </a:prstGeom>
          <a:noFill/>
        </p:spPr>
        <p:txBody>
          <a:bodyPr wrap="square">
            <a:spAutoFit/>
          </a:bodyPr>
          <a:lstStyle/>
          <a:p>
            <a:pPr algn="l"/>
            <a:r>
              <a:rPr sz="900" b="0">
                <a:solidFill>
                  <a:srgbClr val="5E6B76"/>
                </a:solidFill>
                <a:latin typeface="Segoe UI"/>
              </a:rPr>
              <a:t>Actmon  ·  SQL Server Monitoring</a:t>
            </a:r>
          </a:p>
        </p:txBody>
      </p:sp>
      <p:sp>
        <p:nvSpPr>
          <p:cNvPr id="17" name="TextBox 16"/>
          <p:cNvSpPr txBox="1"/>
          <p:nvPr/>
        </p:nvSpPr>
        <p:spPr>
          <a:xfrm>
            <a:off x="11155680" y="6473952"/>
            <a:ext cx="822960" cy="274320"/>
          </a:xfrm>
          <a:prstGeom prst="rect">
            <a:avLst/>
          </a:prstGeom>
          <a:noFill/>
        </p:spPr>
        <p:txBody>
          <a:bodyPr wrap="square">
            <a:spAutoFit/>
          </a:bodyPr>
          <a:lstStyle/>
          <a:p>
            <a:pPr algn="r"/>
            <a:r>
              <a:rPr sz="900" b="0">
                <a:solidFill>
                  <a:srgbClr val="5E6B76"/>
                </a:solidFill>
                <a:latin typeface="Segoe U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448495" y="-1554480"/>
            <a:ext cx="4206240" cy="420624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297680"/>
            <a:ext cx="4023360" cy="402336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457200"/>
            <a:ext cx="10972800" cy="640080"/>
          </a:xfrm>
          <a:prstGeom prst="rect">
            <a:avLst/>
          </a:prstGeom>
          <a:noFill/>
        </p:spPr>
        <p:txBody>
          <a:bodyPr wrap="square">
            <a:spAutoFit/>
          </a:bodyPr>
          <a:lstStyle/>
          <a:p>
            <a:pPr algn="l"/>
            <a:r>
              <a:rPr sz="2900" b="1">
                <a:solidFill>
                  <a:srgbClr val="1C4966"/>
                </a:solidFill>
                <a:latin typeface="Segoe UI"/>
              </a:rPr>
              <a:t>BUSINESS BENEFITS</a:t>
            </a:r>
          </a:p>
        </p:txBody>
      </p:sp>
      <p:sp>
        <p:nvSpPr>
          <p:cNvPr id="6" name="Rectangle 5"/>
          <p:cNvSpPr/>
          <p:nvPr/>
        </p:nvSpPr>
        <p:spPr>
          <a:xfrm>
            <a:off x="603504" y="1207008"/>
            <a:ext cx="1463040" cy="54864"/>
          </a:xfrm>
          <a:prstGeom prst="rect">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371600"/>
            <a:ext cx="11064240" cy="457200"/>
          </a:xfrm>
          <a:prstGeom prst="rect">
            <a:avLst/>
          </a:prstGeom>
          <a:noFill/>
        </p:spPr>
        <p:txBody>
          <a:bodyPr wrap="square">
            <a:spAutoFit/>
          </a:bodyPr>
          <a:lstStyle/>
          <a:p>
            <a:pPr algn="l"/>
            <a:r>
              <a:rPr sz="1300" b="0">
                <a:solidFill>
                  <a:srgbClr val="2C3B47"/>
                </a:solidFill>
                <a:latin typeface="Segoe UI"/>
              </a:rPr>
              <a:t>Clear value for managers and engineers alike.</a:t>
            </a:r>
          </a:p>
        </p:txBody>
      </p:sp>
      <p:sp>
        <p:nvSpPr>
          <p:cNvPr id="8" name="Rounded Rectangle 7"/>
          <p:cNvSpPr/>
          <p:nvPr/>
        </p:nvSpPr>
        <p:spPr>
          <a:xfrm>
            <a:off x="548640" y="1965960"/>
            <a:ext cx="5417820" cy="1965960"/>
          </a:xfrm>
          <a:prstGeom prst="roundRect">
            <a:avLst/>
          </a:prstGeom>
          <a:solidFill>
            <a:srgbClr val="6E98A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01   </a:t>
            </a:r>
            <a:r>
              <a:rPr sz="1400" b="1">
                <a:solidFill>
                  <a:srgbClr val="FFFFFF"/>
                </a:solidFill>
                <a:latin typeface="Segoe UI"/>
              </a:rPr>
              <a:t>Less downtime</a:t>
            </a:r>
          </a:p>
          <a:p>
            <a:pPr algn="l">
              <a:spcBef>
                <a:spcPts val="400"/>
              </a:spcBef>
            </a:pPr>
            <a:r>
              <a:rPr sz="1100" b="0">
                <a:solidFill>
                  <a:srgbClr val="FFFFFF"/>
                </a:solidFill>
                <a:latin typeface="Segoe UI"/>
              </a:rPr>
              <a:t>Problems show up early as clear red signals, so the team reacts before users notice a slowdown or outage in SQL Server. Catching issues early is far cheaper and calmer than fixing them during a full outage.</a:t>
            </a:r>
          </a:p>
        </p:txBody>
      </p:sp>
      <p:sp>
        <p:nvSpPr>
          <p:cNvPr id="9" name="Rounded Rectangle 8"/>
          <p:cNvSpPr/>
          <p:nvPr/>
        </p:nvSpPr>
        <p:spPr>
          <a:xfrm>
            <a:off x="6240780" y="1965960"/>
            <a:ext cx="5417820" cy="1965960"/>
          </a:xfrm>
          <a:prstGeom prst="roundRect">
            <a:avLst/>
          </a:prstGeom>
          <a:solidFill>
            <a:srgbClr val="4F809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02   </a:t>
            </a:r>
            <a:r>
              <a:rPr sz="1400" b="1">
                <a:solidFill>
                  <a:srgbClr val="FFFFFF"/>
                </a:solidFill>
                <a:latin typeface="Segoe UI"/>
              </a:rPr>
              <a:t>Faster troubleshooting</a:t>
            </a:r>
          </a:p>
          <a:p>
            <a:pPr algn="l">
              <a:spcBef>
                <a:spcPts val="400"/>
              </a:spcBef>
            </a:pPr>
            <a:r>
              <a:rPr sz="1100" b="0">
                <a:solidFill>
                  <a:srgbClr val="FFFFFF"/>
                </a:solidFill>
                <a:latin typeface="Segoe UI"/>
              </a:rPr>
              <a:t>Actmon points to the slow query or busy process in seconds instead of hours of manual digging, so incidents are resolved quickly and engineers stay focused on building, not firefighting.</a:t>
            </a:r>
          </a:p>
        </p:txBody>
      </p:sp>
      <p:sp>
        <p:nvSpPr>
          <p:cNvPr id="10" name="Rounded Rectangle 9"/>
          <p:cNvSpPr/>
          <p:nvPr/>
        </p:nvSpPr>
        <p:spPr>
          <a:xfrm>
            <a:off x="548640" y="4206240"/>
            <a:ext cx="5417820" cy="1965960"/>
          </a:xfrm>
          <a:prstGeom prst="roundRect">
            <a:avLst/>
          </a:prstGeom>
          <a:solidFill>
            <a:srgbClr val="3A6A8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03   </a:t>
            </a:r>
            <a:r>
              <a:rPr sz="1400" b="1">
                <a:solidFill>
                  <a:srgbClr val="FFFFFF"/>
                </a:solidFill>
                <a:latin typeface="Segoe UI"/>
              </a:rPr>
              <a:t>The real root cause</a:t>
            </a:r>
          </a:p>
          <a:p>
            <a:pPr algn="l">
              <a:spcBef>
                <a:spcPts val="400"/>
              </a:spcBef>
            </a:pPr>
            <a:r>
              <a:rPr sz="1100" b="0">
                <a:solidFill>
                  <a:srgbClr val="FFFFFF"/>
                </a:solidFill>
                <a:latin typeface="Segoe UI"/>
              </a:rPr>
              <a:t>A CPU or memory spike is not always the database. Actmon shows whether the database or another program on the server is responsible, so you fix the right thing the first time.</a:t>
            </a:r>
          </a:p>
        </p:txBody>
      </p:sp>
      <p:sp>
        <p:nvSpPr>
          <p:cNvPr id="11" name="Rounded Rectangle 10"/>
          <p:cNvSpPr/>
          <p:nvPr/>
        </p:nvSpPr>
        <p:spPr>
          <a:xfrm>
            <a:off x="6240780" y="4206240"/>
            <a:ext cx="5417820" cy="1965960"/>
          </a:xfrm>
          <a:prstGeom prst="roundRect">
            <a:avLst/>
          </a:prstGeom>
          <a:solidFill>
            <a:srgbClr val="2A557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04   </a:t>
            </a:r>
            <a:r>
              <a:rPr sz="1400" b="1">
                <a:solidFill>
                  <a:srgbClr val="FFFFFF"/>
                </a:solidFill>
                <a:latin typeface="Segoe UI"/>
              </a:rPr>
              <a:t>One affordable tool</a:t>
            </a:r>
          </a:p>
          <a:p>
            <a:pPr algn="l">
              <a:spcBef>
                <a:spcPts val="400"/>
              </a:spcBef>
            </a:pPr>
            <a:r>
              <a:rPr sz="1100" b="0">
                <a:solidFill>
                  <a:srgbClr val="FFFFFF"/>
                </a:solidFill>
                <a:latin typeface="Segoe UI"/>
              </a:rPr>
              <a:t>Health checks, query analysis, error logs and reports are in one platform that replaces several products, lowering cost, simplifying training, and giving everyone a single source of truth.</a:t>
            </a:r>
          </a:p>
        </p:txBody>
      </p:sp>
      <p:sp>
        <p:nvSpPr>
          <p:cNvPr id="12" name="TextBox 11"/>
          <p:cNvSpPr txBox="1"/>
          <p:nvPr/>
        </p:nvSpPr>
        <p:spPr>
          <a:xfrm>
            <a:off x="502920" y="6473952"/>
            <a:ext cx="8229600" cy="274320"/>
          </a:xfrm>
          <a:prstGeom prst="rect">
            <a:avLst/>
          </a:prstGeom>
          <a:noFill/>
        </p:spPr>
        <p:txBody>
          <a:bodyPr wrap="square">
            <a:spAutoFit/>
          </a:bodyPr>
          <a:lstStyle/>
          <a:p>
            <a:pPr algn="l"/>
            <a:r>
              <a:rPr sz="900" b="0">
                <a:solidFill>
                  <a:srgbClr val="5E6B76"/>
                </a:solidFill>
                <a:latin typeface="Segoe UI"/>
              </a:rPr>
              <a:t>Actmon  ·  SQL Server Monitoring</a:t>
            </a:r>
          </a:p>
        </p:txBody>
      </p:sp>
      <p:sp>
        <p:nvSpPr>
          <p:cNvPr id="13" name="TextBox 12"/>
          <p:cNvSpPr txBox="1"/>
          <p:nvPr/>
        </p:nvSpPr>
        <p:spPr>
          <a:xfrm>
            <a:off x="11155680" y="6473952"/>
            <a:ext cx="822960" cy="274320"/>
          </a:xfrm>
          <a:prstGeom prst="rect">
            <a:avLst/>
          </a:prstGeom>
          <a:noFill/>
        </p:spPr>
        <p:txBody>
          <a:bodyPr wrap="square">
            <a:spAutoFit/>
          </a:bodyPr>
          <a:lstStyle/>
          <a:p>
            <a:pPr algn="r"/>
            <a:r>
              <a:rPr sz="900" b="0">
                <a:solidFill>
                  <a:srgbClr val="5E6B76"/>
                </a:solidFill>
                <a:latin typeface="Segoe U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448495" y="-1554480"/>
            <a:ext cx="4206240" cy="420624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297680"/>
            <a:ext cx="4023360" cy="402336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051560"/>
            <a:ext cx="4983480" cy="4846320"/>
          </a:xfrm>
          <a:prstGeom prst="roundRect">
            <a:avLst/>
          </a:prstGeom>
          <a:solidFill>
            <a:srgbClr val="B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10896" rIns="274320"/>
          <a:lstStyle/>
          <a:p>
            <a:pPr algn="l"/>
            <a:r>
              <a:rPr sz="2700" b="1">
                <a:solidFill>
                  <a:srgbClr val="1C4966"/>
                </a:solidFill>
                <a:latin typeface="Segoe UI"/>
              </a:rPr>
              <a:t>HOW ACTMON CONNECTS</a:t>
            </a:r>
          </a:p>
          <a:p>
            <a:pPr algn="l">
              <a:spcBef>
                <a:spcPts val="1000"/>
              </a:spcBef>
            </a:pPr>
            <a:r>
              <a:rPr sz="1250" b="0">
                <a:solidFill>
                  <a:srgbClr val="1C4966"/>
                </a:solidFill>
                <a:latin typeface="Segoe UI"/>
              </a:rPr>
              <a:t>Actmon connects to SQL Server and reads its Dynamic Management Views (DMVs). It only reads — it never changes the database on its own.</a:t>
            </a:r>
          </a:p>
        </p:txBody>
      </p:sp>
      <p:sp>
        <p:nvSpPr>
          <p:cNvPr id="6" name="Rectangle 5"/>
          <p:cNvSpPr/>
          <p:nvPr/>
        </p:nvSpPr>
        <p:spPr>
          <a:xfrm>
            <a:off x="6355080" y="1234440"/>
            <a:ext cx="27432" cy="4663440"/>
          </a:xfrm>
          <a:prstGeom prst="rect">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91072" y="1344168"/>
            <a:ext cx="155448" cy="155448"/>
          </a:xfrm>
          <a:prstGeom prst="ellipse">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47688" y="1252728"/>
            <a:ext cx="5349240" cy="411480"/>
          </a:xfrm>
          <a:prstGeom prst="rect">
            <a:avLst/>
          </a:prstGeom>
          <a:noFill/>
        </p:spPr>
        <p:txBody>
          <a:bodyPr wrap="square">
            <a:spAutoFit/>
          </a:bodyPr>
          <a:lstStyle/>
          <a:p>
            <a:pPr algn="l"/>
            <a:r>
              <a:rPr sz="1700" b="1">
                <a:solidFill>
                  <a:srgbClr val="1C4966"/>
                </a:solidFill>
                <a:latin typeface="Segoe UI"/>
              </a:rPr>
              <a:t>01  </a:t>
            </a:r>
            <a:r>
              <a:rPr sz="1400" b="1">
                <a:solidFill>
                  <a:srgbClr val="1C4966"/>
                </a:solidFill>
                <a:latin typeface="Segoe UI"/>
              </a:rPr>
              <a:t>Secure connection</a:t>
            </a:r>
          </a:p>
        </p:txBody>
      </p:sp>
      <p:sp>
        <p:nvSpPr>
          <p:cNvPr id="9" name="TextBox 8"/>
          <p:cNvSpPr txBox="1"/>
          <p:nvPr/>
        </p:nvSpPr>
        <p:spPr>
          <a:xfrm>
            <a:off x="6665976" y="1691640"/>
            <a:ext cx="5303520" cy="1097280"/>
          </a:xfrm>
          <a:prstGeom prst="rect">
            <a:avLst/>
          </a:prstGeom>
          <a:noFill/>
        </p:spPr>
        <p:txBody>
          <a:bodyPr wrap="square">
            <a:spAutoFit/>
          </a:bodyPr>
          <a:lstStyle/>
          <a:p>
            <a:pPr algn="l"/>
            <a:r>
              <a:rPr sz="1100" b="0">
                <a:solidFill>
                  <a:srgbClr val="2C3B47"/>
                </a:solidFill>
                <a:latin typeface="Segoe UI"/>
              </a:rPr>
              <a:t>Signs in with your connection details and reads SQL Server's DMVs, the same trusted source SQL Server uses internally for monitoring.</a:t>
            </a:r>
          </a:p>
        </p:txBody>
      </p:sp>
      <p:sp>
        <p:nvSpPr>
          <p:cNvPr id="10" name="Oval 9"/>
          <p:cNvSpPr/>
          <p:nvPr/>
        </p:nvSpPr>
        <p:spPr>
          <a:xfrm>
            <a:off x="6291072" y="2898648"/>
            <a:ext cx="155448" cy="155448"/>
          </a:xfrm>
          <a:prstGeom prst="ellipse">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47688" y="2807208"/>
            <a:ext cx="5349240" cy="411480"/>
          </a:xfrm>
          <a:prstGeom prst="rect">
            <a:avLst/>
          </a:prstGeom>
          <a:noFill/>
        </p:spPr>
        <p:txBody>
          <a:bodyPr wrap="square">
            <a:spAutoFit/>
          </a:bodyPr>
          <a:lstStyle/>
          <a:p>
            <a:pPr algn="l"/>
            <a:r>
              <a:rPr sz="1700" b="1">
                <a:solidFill>
                  <a:srgbClr val="1C4966"/>
                </a:solidFill>
                <a:latin typeface="Segoe UI"/>
              </a:rPr>
              <a:t>02  </a:t>
            </a:r>
            <a:r>
              <a:rPr sz="1400" b="1">
                <a:solidFill>
                  <a:srgbClr val="1C4966"/>
                </a:solidFill>
                <a:latin typeface="Segoe UI"/>
              </a:rPr>
              <a:t>Host metrics from DMVs</a:t>
            </a:r>
          </a:p>
        </p:txBody>
      </p:sp>
      <p:sp>
        <p:nvSpPr>
          <p:cNvPr id="12" name="TextBox 11"/>
          <p:cNvSpPr txBox="1"/>
          <p:nvPr/>
        </p:nvSpPr>
        <p:spPr>
          <a:xfrm>
            <a:off x="6665976" y="3246120"/>
            <a:ext cx="5303520" cy="1097280"/>
          </a:xfrm>
          <a:prstGeom prst="rect">
            <a:avLst/>
          </a:prstGeom>
          <a:noFill/>
        </p:spPr>
        <p:txBody>
          <a:bodyPr wrap="square">
            <a:spAutoFit/>
          </a:bodyPr>
          <a:lstStyle/>
          <a:p>
            <a:pPr algn="l"/>
            <a:r>
              <a:rPr sz="1100" b="0">
                <a:solidFill>
                  <a:srgbClr val="2C3B47"/>
                </a:solidFill>
                <a:latin typeface="Segoe UI"/>
              </a:rPr>
              <a:t>On Windows there is no SSH, so host CPU, memory, disk and CPU cores are read from DMVs — no extra agent is needed on the server.</a:t>
            </a:r>
          </a:p>
        </p:txBody>
      </p:sp>
      <p:sp>
        <p:nvSpPr>
          <p:cNvPr id="13" name="Oval 12"/>
          <p:cNvSpPr/>
          <p:nvPr/>
        </p:nvSpPr>
        <p:spPr>
          <a:xfrm>
            <a:off x="6291072" y="4453128"/>
            <a:ext cx="155448" cy="155448"/>
          </a:xfrm>
          <a:prstGeom prst="ellipse">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47688" y="4361688"/>
            <a:ext cx="5349240" cy="411480"/>
          </a:xfrm>
          <a:prstGeom prst="rect">
            <a:avLst/>
          </a:prstGeom>
          <a:noFill/>
        </p:spPr>
        <p:txBody>
          <a:bodyPr wrap="square">
            <a:spAutoFit/>
          </a:bodyPr>
          <a:lstStyle/>
          <a:p>
            <a:pPr algn="l"/>
            <a:r>
              <a:rPr sz="1700" b="1">
                <a:solidFill>
                  <a:srgbClr val="1C4966"/>
                </a:solidFill>
                <a:latin typeface="Segoe UI"/>
              </a:rPr>
              <a:t>03  </a:t>
            </a:r>
            <a:r>
              <a:rPr sz="1400" b="1">
                <a:solidFill>
                  <a:srgbClr val="1C4966"/>
                </a:solidFill>
                <a:latin typeface="Segoe UI"/>
              </a:rPr>
              <a:t>Safe by design</a:t>
            </a:r>
          </a:p>
        </p:txBody>
      </p:sp>
      <p:sp>
        <p:nvSpPr>
          <p:cNvPr id="15" name="TextBox 14"/>
          <p:cNvSpPr txBox="1"/>
          <p:nvPr/>
        </p:nvSpPr>
        <p:spPr>
          <a:xfrm>
            <a:off x="6665976" y="4800600"/>
            <a:ext cx="5303520" cy="1097280"/>
          </a:xfrm>
          <a:prstGeom prst="rect">
            <a:avLst/>
          </a:prstGeom>
          <a:noFill/>
        </p:spPr>
        <p:txBody>
          <a:bodyPr wrap="square">
            <a:spAutoFit/>
          </a:bodyPr>
          <a:lstStyle/>
          <a:p>
            <a:pPr algn="l"/>
            <a:r>
              <a:rPr sz="1100" b="0">
                <a:solidFill>
                  <a:srgbClr val="2C3B47"/>
                </a:solidFill>
                <a:latin typeface="Segoe UI"/>
              </a:rPr>
              <a:t>Monitoring is read-only. Repair actions run only when you start them, and write actions are gated by permission checks.</a:t>
            </a:r>
          </a:p>
        </p:txBody>
      </p:sp>
      <p:sp>
        <p:nvSpPr>
          <p:cNvPr id="16" name="TextBox 15"/>
          <p:cNvSpPr txBox="1"/>
          <p:nvPr/>
        </p:nvSpPr>
        <p:spPr>
          <a:xfrm>
            <a:off x="502920" y="6473952"/>
            <a:ext cx="8229600" cy="274320"/>
          </a:xfrm>
          <a:prstGeom prst="rect">
            <a:avLst/>
          </a:prstGeom>
          <a:noFill/>
        </p:spPr>
        <p:txBody>
          <a:bodyPr wrap="square">
            <a:spAutoFit/>
          </a:bodyPr>
          <a:lstStyle/>
          <a:p>
            <a:pPr algn="l"/>
            <a:r>
              <a:rPr sz="900" b="0">
                <a:solidFill>
                  <a:srgbClr val="5E6B76"/>
                </a:solidFill>
                <a:latin typeface="Segoe UI"/>
              </a:rPr>
              <a:t>Actmon  ·  SQL Server Monitoring</a:t>
            </a:r>
          </a:p>
        </p:txBody>
      </p:sp>
      <p:sp>
        <p:nvSpPr>
          <p:cNvPr id="17" name="TextBox 16"/>
          <p:cNvSpPr txBox="1"/>
          <p:nvPr/>
        </p:nvSpPr>
        <p:spPr>
          <a:xfrm>
            <a:off x="11155680" y="6473952"/>
            <a:ext cx="822960" cy="274320"/>
          </a:xfrm>
          <a:prstGeom prst="rect">
            <a:avLst/>
          </a:prstGeom>
          <a:noFill/>
        </p:spPr>
        <p:txBody>
          <a:bodyPr wrap="square">
            <a:spAutoFit/>
          </a:bodyPr>
          <a:lstStyle/>
          <a:p>
            <a:pPr algn="r"/>
            <a:r>
              <a:rPr sz="900" b="0">
                <a:solidFill>
                  <a:srgbClr val="5E6B76"/>
                </a:solidFill>
                <a:latin typeface="Segoe U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448495" y="-1554480"/>
            <a:ext cx="4206240" cy="420624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297680"/>
            <a:ext cx="4023360" cy="402336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457200"/>
            <a:ext cx="10972800" cy="640080"/>
          </a:xfrm>
          <a:prstGeom prst="rect">
            <a:avLst/>
          </a:prstGeom>
          <a:noFill/>
        </p:spPr>
        <p:txBody>
          <a:bodyPr wrap="square">
            <a:spAutoFit/>
          </a:bodyPr>
          <a:lstStyle/>
          <a:p>
            <a:pPr algn="l"/>
            <a:r>
              <a:rPr sz="2900" b="1">
                <a:solidFill>
                  <a:srgbClr val="1C4966"/>
                </a:solidFill>
                <a:latin typeface="Segoe UI"/>
              </a:rPr>
              <a:t>WHAT ACTMON MONITORS</a:t>
            </a:r>
          </a:p>
        </p:txBody>
      </p:sp>
      <p:sp>
        <p:nvSpPr>
          <p:cNvPr id="6" name="Rectangle 5"/>
          <p:cNvSpPr/>
          <p:nvPr/>
        </p:nvSpPr>
        <p:spPr>
          <a:xfrm>
            <a:off x="603504" y="1207008"/>
            <a:ext cx="1463040" cy="54864"/>
          </a:xfrm>
          <a:prstGeom prst="rect">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371600"/>
            <a:ext cx="11064240" cy="457200"/>
          </a:xfrm>
          <a:prstGeom prst="rect">
            <a:avLst/>
          </a:prstGeom>
          <a:noFill/>
        </p:spPr>
        <p:txBody>
          <a:bodyPr wrap="square">
            <a:spAutoFit/>
          </a:bodyPr>
          <a:lstStyle/>
          <a:p>
            <a:pPr algn="l"/>
            <a:r>
              <a:rPr sz="1300" b="0">
                <a:solidFill>
                  <a:srgbClr val="2C3B47"/>
                </a:solidFill>
                <a:latin typeface="Segoe UI"/>
              </a:rPr>
              <a:t>Full coverage of the instance, its data and its server.</a:t>
            </a:r>
          </a:p>
        </p:txBody>
      </p:sp>
      <p:sp>
        <p:nvSpPr>
          <p:cNvPr id="8" name="Rounded Rectangle 7"/>
          <p:cNvSpPr/>
          <p:nvPr/>
        </p:nvSpPr>
        <p:spPr>
          <a:xfrm>
            <a:off x="548640" y="1965960"/>
            <a:ext cx="5417820" cy="1965960"/>
          </a:xfrm>
          <a:prstGeom prst="roundRect">
            <a:avLst/>
          </a:prstGeom>
          <a:solidFill>
            <a:srgbClr val="6E98A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01   </a:t>
            </a:r>
            <a:r>
              <a:rPr sz="1400" b="1">
                <a:solidFill>
                  <a:srgbClr val="FFFFFF"/>
                </a:solidFill>
                <a:latin typeface="Segoe UI"/>
              </a:rPr>
              <a:t>Health &amp; performance</a:t>
            </a:r>
          </a:p>
          <a:p>
            <a:pPr algn="l">
              <a:spcBef>
                <a:spcPts val="400"/>
              </a:spcBef>
            </a:pPr>
            <a:r>
              <a:rPr sz="1100" b="0">
                <a:solidFill>
                  <a:srgbClr val="FFFFFF"/>
                </a:solidFill>
                <a:latin typeface="Segoe UI"/>
              </a:rPr>
              <a:t>Version, edition and uptime plus buffer cache hit, compilations and batch requests — a clear view of whether the instance is healthy and keeping up.</a:t>
            </a:r>
          </a:p>
        </p:txBody>
      </p:sp>
      <p:sp>
        <p:nvSpPr>
          <p:cNvPr id="9" name="Rounded Rectangle 8"/>
          <p:cNvSpPr/>
          <p:nvPr/>
        </p:nvSpPr>
        <p:spPr>
          <a:xfrm>
            <a:off x="6240780" y="1965960"/>
            <a:ext cx="5417820" cy="1965960"/>
          </a:xfrm>
          <a:prstGeom prst="roundRect">
            <a:avLst/>
          </a:prstGeom>
          <a:solidFill>
            <a:srgbClr val="4F809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02   </a:t>
            </a:r>
            <a:r>
              <a:rPr sz="1400" b="1">
                <a:solidFill>
                  <a:srgbClr val="FFFFFF"/>
                </a:solidFill>
                <a:latin typeface="Segoe UI"/>
              </a:rPr>
              <a:t>Queries &amp; tables</a:t>
            </a:r>
          </a:p>
          <a:p>
            <a:pPr algn="l">
              <a:spcBef>
                <a:spcPts val="400"/>
              </a:spcBef>
            </a:pPr>
            <a:r>
              <a:rPr sz="1100" b="0">
                <a:solidFill>
                  <a:srgbClr val="FFFFFF"/>
                </a:solidFill>
                <a:latin typeface="Segoe UI"/>
              </a:rPr>
              <a:t>Active queries and the top CPU queries, plus every table across user databases with its size, rows, indexes, missing-index suggestions and partitioning.</a:t>
            </a:r>
          </a:p>
        </p:txBody>
      </p:sp>
      <p:sp>
        <p:nvSpPr>
          <p:cNvPr id="10" name="Rounded Rectangle 9"/>
          <p:cNvSpPr/>
          <p:nvPr/>
        </p:nvSpPr>
        <p:spPr>
          <a:xfrm>
            <a:off x="548640" y="4206240"/>
            <a:ext cx="5417820" cy="1965960"/>
          </a:xfrm>
          <a:prstGeom prst="roundRect">
            <a:avLst/>
          </a:prstGeom>
          <a:solidFill>
            <a:srgbClr val="3A6A8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03   </a:t>
            </a:r>
            <a:r>
              <a:rPr sz="1400" b="1">
                <a:solidFill>
                  <a:srgbClr val="FFFFFF"/>
                </a:solidFill>
                <a:latin typeface="Segoe UI"/>
              </a:rPr>
              <a:t>Concurrency &amp; availability</a:t>
            </a:r>
          </a:p>
          <a:p>
            <a:pPr algn="l">
              <a:spcBef>
                <a:spcPts val="400"/>
              </a:spcBef>
            </a:pPr>
            <a:r>
              <a:rPr sz="1100" b="0">
                <a:solidFill>
                  <a:srgbClr val="FFFFFF"/>
                </a:solidFill>
                <a:latin typeface="Segoe UI"/>
              </a:rPr>
              <a:t>Blocking sessions, lock statistics and wait stats show contention, while AlwaysOn / replication status shows the high-availability picture.</a:t>
            </a:r>
          </a:p>
        </p:txBody>
      </p:sp>
      <p:sp>
        <p:nvSpPr>
          <p:cNvPr id="11" name="Rounded Rectangle 10"/>
          <p:cNvSpPr/>
          <p:nvPr/>
        </p:nvSpPr>
        <p:spPr>
          <a:xfrm>
            <a:off x="6240780" y="4206240"/>
            <a:ext cx="5417820" cy="1965960"/>
          </a:xfrm>
          <a:prstGeom prst="roundRect">
            <a:avLst/>
          </a:prstGeom>
          <a:solidFill>
            <a:srgbClr val="2A557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04   </a:t>
            </a:r>
            <a:r>
              <a:rPr sz="1400" b="1">
                <a:solidFill>
                  <a:srgbClr val="FFFFFF"/>
                </a:solidFill>
                <a:latin typeface="Segoe UI"/>
              </a:rPr>
              <a:t>Storage &amp; backup</a:t>
            </a:r>
          </a:p>
          <a:p>
            <a:pPr algn="l">
              <a:spcBef>
                <a:spcPts val="400"/>
              </a:spcBef>
            </a:pPr>
            <a:r>
              <a:rPr sz="1100" b="0">
                <a:solidFill>
                  <a:srgbClr val="FFFFFF"/>
                </a:solidFill>
                <a:latin typeface="Segoe UI"/>
              </a:rPr>
              <a:t>Storage usage and database sizes, plus backups — so you can see where space goes and confirm your data is protected.</a:t>
            </a:r>
          </a:p>
        </p:txBody>
      </p:sp>
      <p:sp>
        <p:nvSpPr>
          <p:cNvPr id="12" name="TextBox 11"/>
          <p:cNvSpPr txBox="1"/>
          <p:nvPr/>
        </p:nvSpPr>
        <p:spPr>
          <a:xfrm>
            <a:off x="502920" y="6473952"/>
            <a:ext cx="8229600" cy="274320"/>
          </a:xfrm>
          <a:prstGeom prst="rect">
            <a:avLst/>
          </a:prstGeom>
          <a:noFill/>
        </p:spPr>
        <p:txBody>
          <a:bodyPr wrap="square">
            <a:spAutoFit/>
          </a:bodyPr>
          <a:lstStyle/>
          <a:p>
            <a:pPr algn="l"/>
            <a:r>
              <a:rPr sz="900" b="0">
                <a:solidFill>
                  <a:srgbClr val="5E6B76"/>
                </a:solidFill>
                <a:latin typeface="Segoe UI"/>
              </a:rPr>
              <a:t>Actmon  ·  SQL Server Monitoring</a:t>
            </a:r>
          </a:p>
        </p:txBody>
      </p:sp>
      <p:sp>
        <p:nvSpPr>
          <p:cNvPr id="13" name="TextBox 12"/>
          <p:cNvSpPr txBox="1"/>
          <p:nvPr/>
        </p:nvSpPr>
        <p:spPr>
          <a:xfrm>
            <a:off x="11155680" y="6473952"/>
            <a:ext cx="822960" cy="274320"/>
          </a:xfrm>
          <a:prstGeom prst="rect">
            <a:avLst/>
          </a:prstGeom>
          <a:noFill/>
        </p:spPr>
        <p:txBody>
          <a:bodyPr wrap="square">
            <a:spAutoFit/>
          </a:bodyPr>
          <a:lstStyle/>
          <a:p>
            <a:pPr algn="r"/>
            <a:r>
              <a:rPr sz="900" b="0">
                <a:solidFill>
                  <a:srgbClr val="5E6B76"/>
                </a:solidFill>
                <a:latin typeface="Segoe U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448495" y="-1554480"/>
            <a:ext cx="4206240" cy="420624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297680"/>
            <a:ext cx="4023360" cy="402336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457200"/>
            <a:ext cx="10972800" cy="640080"/>
          </a:xfrm>
          <a:prstGeom prst="rect">
            <a:avLst/>
          </a:prstGeom>
          <a:noFill/>
        </p:spPr>
        <p:txBody>
          <a:bodyPr wrap="square">
            <a:spAutoFit/>
          </a:bodyPr>
          <a:lstStyle/>
          <a:p>
            <a:pPr algn="l"/>
            <a:r>
              <a:rPr sz="2900" b="1">
                <a:solidFill>
                  <a:srgbClr val="1C4966"/>
                </a:solidFill>
                <a:latin typeface="Segoe UI"/>
              </a:rPr>
              <a:t>OVERVIEW METRICS</a:t>
            </a:r>
          </a:p>
        </p:txBody>
      </p:sp>
      <p:sp>
        <p:nvSpPr>
          <p:cNvPr id="6" name="Rectangle 5"/>
          <p:cNvSpPr/>
          <p:nvPr/>
        </p:nvSpPr>
        <p:spPr>
          <a:xfrm>
            <a:off x="603504" y="1207008"/>
            <a:ext cx="1463040" cy="54864"/>
          </a:xfrm>
          <a:prstGeom prst="rect">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371600"/>
            <a:ext cx="11064240" cy="457200"/>
          </a:xfrm>
          <a:prstGeom prst="rect">
            <a:avLst/>
          </a:prstGeom>
          <a:noFill/>
        </p:spPr>
        <p:txBody>
          <a:bodyPr wrap="square">
            <a:spAutoFit/>
          </a:bodyPr>
          <a:lstStyle/>
          <a:p>
            <a:pPr algn="l"/>
            <a:r>
              <a:rPr sz="1300" b="0">
                <a:solidFill>
                  <a:srgbClr val="2C3B47"/>
                </a:solidFill>
                <a:latin typeface="Segoe UI"/>
              </a:rPr>
              <a:t>The most important numbers, explained in plain language.</a:t>
            </a:r>
          </a:p>
        </p:txBody>
      </p:sp>
      <p:sp>
        <p:nvSpPr>
          <p:cNvPr id="8" name="Rounded Rectangle 7"/>
          <p:cNvSpPr/>
          <p:nvPr/>
        </p:nvSpPr>
        <p:spPr>
          <a:xfrm>
            <a:off x="548640" y="1965960"/>
            <a:ext cx="5417820" cy="1965960"/>
          </a:xfrm>
          <a:prstGeom prst="roundRect">
            <a:avLst/>
          </a:prstGeom>
          <a:solidFill>
            <a:srgbClr val="6E98A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01   </a:t>
            </a:r>
            <a:r>
              <a:rPr sz="1400" b="1">
                <a:solidFill>
                  <a:srgbClr val="FFFFFF"/>
                </a:solidFill>
                <a:latin typeface="Segoe UI"/>
              </a:rPr>
              <a:t>Version &amp; uptime</a:t>
            </a:r>
          </a:p>
          <a:p>
            <a:pPr algn="l">
              <a:spcBef>
                <a:spcPts val="400"/>
              </a:spcBef>
            </a:pPr>
            <a:r>
              <a:rPr sz="1100" b="0">
                <a:solidFill>
                  <a:srgbClr val="FFFFFF"/>
                </a:solidFill>
                <a:latin typeface="Segoe UI"/>
              </a:rPr>
              <a:t>The SQL Server version and edition and how long it has been running — the first things to confirm the instance is up and which features are available.</a:t>
            </a:r>
          </a:p>
        </p:txBody>
      </p:sp>
      <p:sp>
        <p:nvSpPr>
          <p:cNvPr id="9" name="Rounded Rectangle 8"/>
          <p:cNvSpPr/>
          <p:nvPr/>
        </p:nvSpPr>
        <p:spPr>
          <a:xfrm>
            <a:off x="6240780" y="1965960"/>
            <a:ext cx="5417820" cy="1965960"/>
          </a:xfrm>
          <a:prstGeom prst="roundRect">
            <a:avLst/>
          </a:prstGeom>
          <a:solidFill>
            <a:srgbClr val="4F809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02   </a:t>
            </a:r>
            <a:r>
              <a:rPr sz="1400" b="1">
                <a:solidFill>
                  <a:srgbClr val="FFFFFF"/>
                </a:solidFill>
                <a:latin typeface="Segoe UI"/>
              </a:rPr>
              <a:t>Active sessions &amp; pool</a:t>
            </a:r>
          </a:p>
          <a:p>
            <a:pPr algn="l">
              <a:spcBef>
                <a:spcPts val="400"/>
              </a:spcBef>
            </a:pPr>
            <a:r>
              <a:rPr sz="1100" b="0">
                <a:solidFill>
                  <a:srgbClr val="FFFFFF"/>
                </a:solidFill>
                <a:latin typeface="Segoe UI"/>
              </a:rPr>
              <a:t>How many sessions are active and how full the connection pool is, so you can see if the instance is unusually busy or near its limits.</a:t>
            </a:r>
          </a:p>
        </p:txBody>
      </p:sp>
      <p:sp>
        <p:nvSpPr>
          <p:cNvPr id="10" name="Rounded Rectangle 9"/>
          <p:cNvSpPr/>
          <p:nvPr/>
        </p:nvSpPr>
        <p:spPr>
          <a:xfrm>
            <a:off x="548640" y="4206240"/>
            <a:ext cx="5417820" cy="1965960"/>
          </a:xfrm>
          <a:prstGeom prst="roundRect">
            <a:avLst/>
          </a:prstGeom>
          <a:solidFill>
            <a:srgbClr val="3A6A8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03   </a:t>
            </a:r>
            <a:r>
              <a:rPr sz="1400" b="1">
                <a:solidFill>
                  <a:srgbClr val="FFFFFF"/>
                </a:solidFill>
                <a:latin typeface="Segoe UI"/>
              </a:rPr>
              <a:t>CPU breakdown</a:t>
            </a:r>
          </a:p>
          <a:p>
            <a:pPr algn="l">
              <a:spcBef>
                <a:spcPts val="400"/>
              </a:spcBef>
            </a:pPr>
            <a:r>
              <a:rPr sz="1100" b="0">
                <a:solidFill>
                  <a:srgbClr val="FFFFFF"/>
                </a:solidFill>
                <a:latin typeface="Segoe UI"/>
              </a:rPr>
              <a:t>CPU is shown as host total, the part used by SQL Server, and the part used by other Windows processes — so you instantly see if SQL Server is really the cause.</a:t>
            </a:r>
          </a:p>
        </p:txBody>
      </p:sp>
      <p:sp>
        <p:nvSpPr>
          <p:cNvPr id="11" name="Rounded Rectangle 10"/>
          <p:cNvSpPr/>
          <p:nvPr/>
        </p:nvSpPr>
        <p:spPr>
          <a:xfrm>
            <a:off x="6240780" y="4206240"/>
            <a:ext cx="5417820" cy="1965960"/>
          </a:xfrm>
          <a:prstGeom prst="roundRect">
            <a:avLst/>
          </a:prstGeom>
          <a:solidFill>
            <a:srgbClr val="2A557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04   </a:t>
            </a:r>
            <a:r>
              <a:rPr sz="1400" b="1">
                <a:solidFill>
                  <a:srgbClr val="FFFFFF"/>
                </a:solidFill>
                <a:latin typeface="Segoe UI"/>
              </a:rPr>
              <a:t>Buffer cache &amp; memory</a:t>
            </a:r>
          </a:p>
          <a:p>
            <a:pPr algn="l">
              <a:spcBef>
                <a:spcPts val="400"/>
              </a:spcBef>
            </a:pPr>
            <a:r>
              <a:rPr sz="1100" b="0">
                <a:solidFill>
                  <a:srgbClr val="FFFFFF"/>
                </a:solidFill>
                <a:latin typeface="Segoe UI"/>
              </a:rPr>
              <a:t>Buffer cache hit shows how often reads come from memory, and memory usage is shown against the host's total RAM, revealing memory pressure early.</a:t>
            </a:r>
          </a:p>
        </p:txBody>
      </p:sp>
      <p:sp>
        <p:nvSpPr>
          <p:cNvPr id="12" name="TextBox 11"/>
          <p:cNvSpPr txBox="1"/>
          <p:nvPr/>
        </p:nvSpPr>
        <p:spPr>
          <a:xfrm>
            <a:off x="502920" y="6473952"/>
            <a:ext cx="8229600" cy="274320"/>
          </a:xfrm>
          <a:prstGeom prst="rect">
            <a:avLst/>
          </a:prstGeom>
          <a:noFill/>
        </p:spPr>
        <p:txBody>
          <a:bodyPr wrap="square">
            <a:spAutoFit/>
          </a:bodyPr>
          <a:lstStyle/>
          <a:p>
            <a:pPr algn="l"/>
            <a:r>
              <a:rPr sz="900" b="0">
                <a:solidFill>
                  <a:srgbClr val="5E6B76"/>
                </a:solidFill>
                <a:latin typeface="Segoe UI"/>
              </a:rPr>
              <a:t>Actmon  ·  SQL Server Monitoring</a:t>
            </a:r>
          </a:p>
        </p:txBody>
      </p:sp>
      <p:sp>
        <p:nvSpPr>
          <p:cNvPr id="13" name="TextBox 12"/>
          <p:cNvSpPr txBox="1"/>
          <p:nvPr/>
        </p:nvSpPr>
        <p:spPr>
          <a:xfrm>
            <a:off x="11155680" y="6473952"/>
            <a:ext cx="822960" cy="274320"/>
          </a:xfrm>
          <a:prstGeom prst="rect">
            <a:avLst/>
          </a:prstGeom>
          <a:noFill/>
        </p:spPr>
        <p:txBody>
          <a:bodyPr wrap="square">
            <a:spAutoFit/>
          </a:bodyPr>
          <a:lstStyle/>
          <a:p>
            <a:pPr algn="r"/>
            <a:r>
              <a:rPr sz="900" b="0">
                <a:solidFill>
                  <a:srgbClr val="5E6B76"/>
                </a:solidFill>
                <a:latin typeface="Segoe U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448495" y="-1554480"/>
            <a:ext cx="4206240" cy="420624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297680"/>
            <a:ext cx="4023360" cy="402336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60120" y="5059680"/>
            <a:ext cx="749808" cy="426719"/>
          </a:xfrm>
          <a:prstGeom prst="rect">
            <a:avLst/>
          </a:prstGeom>
          <a:solidFill>
            <a:srgbClr val="A9C7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60120" y="4632960"/>
            <a:ext cx="749808" cy="426719"/>
          </a:xfrm>
          <a:prstGeom prst="rect">
            <a:avLst/>
          </a:prstGeom>
          <a:solidFill>
            <a:srgbClr val="6E98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60120" y="4206240"/>
            <a:ext cx="749808" cy="426719"/>
          </a:xfrm>
          <a:prstGeom prst="rect">
            <a:avLst/>
          </a:prstGeom>
          <a:solidFill>
            <a:srgbClr val="3A6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093976" y="4846320"/>
            <a:ext cx="749808" cy="640080"/>
          </a:xfrm>
          <a:prstGeom prst="rect">
            <a:avLst/>
          </a:prstGeom>
          <a:solidFill>
            <a:srgbClr val="A9C7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093976" y="4206240"/>
            <a:ext cx="749808" cy="640080"/>
          </a:xfrm>
          <a:prstGeom prst="rect">
            <a:avLst/>
          </a:prstGeom>
          <a:solidFill>
            <a:srgbClr val="6E98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093976" y="3566160"/>
            <a:ext cx="749808" cy="640080"/>
          </a:xfrm>
          <a:prstGeom prst="rect">
            <a:avLst/>
          </a:prstGeom>
          <a:solidFill>
            <a:srgbClr val="3A6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227832" y="4602480"/>
            <a:ext cx="749808" cy="883920"/>
          </a:xfrm>
          <a:prstGeom prst="rect">
            <a:avLst/>
          </a:prstGeom>
          <a:solidFill>
            <a:srgbClr val="A9C7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27832" y="3718560"/>
            <a:ext cx="749808" cy="883920"/>
          </a:xfrm>
          <a:prstGeom prst="rect">
            <a:avLst/>
          </a:prstGeom>
          <a:solidFill>
            <a:srgbClr val="6E98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227832" y="2834640"/>
            <a:ext cx="749808" cy="883920"/>
          </a:xfrm>
          <a:prstGeom prst="rect">
            <a:avLst/>
          </a:prstGeom>
          <a:solidFill>
            <a:srgbClr val="3A6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61688" y="4358640"/>
            <a:ext cx="749808" cy="1127760"/>
          </a:xfrm>
          <a:prstGeom prst="rect">
            <a:avLst/>
          </a:prstGeom>
          <a:solidFill>
            <a:srgbClr val="A9C7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61688" y="3230880"/>
            <a:ext cx="749808" cy="1127760"/>
          </a:xfrm>
          <a:prstGeom prst="rect">
            <a:avLst/>
          </a:prstGeom>
          <a:solidFill>
            <a:srgbClr val="6E98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61688" y="2103120"/>
            <a:ext cx="749808" cy="1127760"/>
          </a:xfrm>
          <a:prstGeom prst="rect">
            <a:avLst/>
          </a:prstGeom>
          <a:solidFill>
            <a:srgbClr val="3A6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26480" y="1371600"/>
            <a:ext cx="5577840" cy="1371600"/>
          </a:xfrm>
          <a:prstGeom prst="rect">
            <a:avLst/>
          </a:prstGeom>
          <a:noFill/>
        </p:spPr>
        <p:txBody>
          <a:bodyPr wrap="square">
            <a:spAutoFit/>
          </a:bodyPr>
          <a:lstStyle/>
          <a:p>
            <a:pPr algn="l"/>
            <a:r>
              <a:rPr sz="3000" b="1">
                <a:solidFill>
                  <a:srgbClr val="1C4966"/>
                </a:solidFill>
                <a:latin typeface="Segoe UI"/>
              </a:rPr>
              <a:t>PERFORMANCE &amp; ENGINE</a:t>
            </a:r>
          </a:p>
        </p:txBody>
      </p:sp>
      <p:sp>
        <p:nvSpPr>
          <p:cNvPr id="18" name="Rectangle 17"/>
          <p:cNvSpPr/>
          <p:nvPr/>
        </p:nvSpPr>
        <p:spPr>
          <a:xfrm>
            <a:off x="6181344" y="2606040"/>
            <a:ext cx="1463040" cy="54864"/>
          </a:xfrm>
          <a:prstGeom prst="rect">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44768" y="2834640"/>
            <a:ext cx="5623560" cy="3108960"/>
          </a:xfrm>
          <a:prstGeom prst="rect">
            <a:avLst/>
          </a:prstGeom>
          <a:noFill/>
        </p:spPr>
        <p:txBody>
          <a:bodyPr wrap="square">
            <a:spAutoFit/>
          </a:bodyPr>
          <a:lstStyle/>
          <a:p>
            <a:pPr algn="l"/>
            <a:r>
              <a:rPr sz="1300" b="0">
                <a:solidFill>
                  <a:srgbClr val="2C3B47"/>
                </a:solidFill>
                <a:latin typeface="Segoe UI"/>
              </a:rPr>
              <a:t>This view shows how efficiently SQL Server serves your workload. Buffer cache hit tells you how often pages are found in memory instead of read from disk, while page life expectancy shows how long pages stay cached — both early indicators of memory pressure. Alongside them you see SQL compilations and re-compilations and batch requests per second, which reveal how much work the engine is doing. Together they make it easy to tell whether the engine is comfortable or under strain.</a:t>
            </a:r>
          </a:p>
        </p:txBody>
      </p:sp>
      <p:sp>
        <p:nvSpPr>
          <p:cNvPr id="20" name="TextBox 19"/>
          <p:cNvSpPr txBox="1"/>
          <p:nvPr/>
        </p:nvSpPr>
        <p:spPr>
          <a:xfrm>
            <a:off x="502920" y="6473952"/>
            <a:ext cx="8229600" cy="274320"/>
          </a:xfrm>
          <a:prstGeom prst="rect">
            <a:avLst/>
          </a:prstGeom>
          <a:noFill/>
        </p:spPr>
        <p:txBody>
          <a:bodyPr wrap="square">
            <a:spAutoFit/>
          </a:bodyPr>
          <a:lstStyle/>
          <a:p>
            <a:pPr algn="l"/>
            <a:r>
              <a:rPr sz="900" b="0">
                <a:solidFill>
                  <a:srgbClr val="5E6B76"/>
                </a:solidFill>
                <a:latin typeface="Segoe UI"/>
              </a:rPr>
              <a:t>Actmon  ·  SQL Server Monitoring</a:t>
            </a:r>
          </a:p>
        </p:txBody>
      </p:sp>
      <p:sp>
        <p:nvSpPr>
          <p:cNvPr id="21" name="TextBox 20"/>
          <p:cNvSpPr txBox="1"/>
          <p:nvPr/>
        </p:nvSpPr>
        <p:spPr>
          <a:xfrm>
            <a:off x="11155680" y="6473952"/>
            <a:ext cx="822960" cy="274320"/>
          </a:xfrm>
          <a:prstGeom prst="rect">
            <a:avLst/>
          </a:prstGeom>
          <a:noFill/>
        </p:spPr>
        <p:txBody>
          <a:bodyPr wrap="square">
            <a:spAutoFit/>
          </a:bodyPr>
          <a:lstStyle/>
          <a:p>
            <a:pPr algn="r"/>
            <a:r>
              <a:rPr sz="900" b="0">
                <a:solidFill>
                  <a:srgbClr val="5E6B76"/>
                </a:solidFill>
                <a:latin typeface="Segoe U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448495" y="-1554480"/>
            <a:ext cx="4206240" cy="420624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297680"/>
            <a:ext cx="4023360" cy="402336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051560"/>
            <a:ext cx="4983480" cy="4846320"/>
          </a:xfrm>
          <a:prstGeom prst="roundRect">
            <a:avLst/>
          </a:prstGeom>
          <a:solidFill>
            <a:srgbClr val="B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10896" rIns="274320"/>
          <a:lstStyle/>
          <a:p>
            <a:pPr algn="l"/>
            <a:r>
              <a:rPr sz="2700" b="1">
                <a:solidFill>
                  <a:srgbClr val="1C4966"/>
                </a:solidFill>
                <a:latin typeface="Segoe UI"/>
              </a:rPr>
              <a:t>HOST RESOURCES</a:t>
            </a:r>
          </a:p>
          <a:p>
            <a:pPr algn="l">
              <a:spcBef>
                <a:spcPts val="1000"/>
              </a:spcBef>
            </a:pPr>
            <a:r>
              <a:rPr sz="1250" b="0">
                <a:solidFill>
                  <a:srgbClr val="1C4966"/>
                </a:solidFill>
                <a:latin typeface="Segoe UI"/>
              </a:rPr>
              <a:t>Actmon watches the machine SQL Server runs on, not just the database — so you can tell a real database problem apart from an overloaded server.</a:t>
            </a:r>
          </a:p>
        </p:txBody>
      </p:sp>
      <p:sp>
        <p:nvSpPr>
          <p:cNvPr id="6" name="Rectangle 5"/>
          <p:cNvSpPr/>
          <p:nvPr/>
        </p:nvSpPr>
        <p:spPr>
          <a:xfrm>
            <a:off x="6355080" y="1234440"/>
            <a:ext cx="27432" cy="4663440"/>
          </a:xfrm>
          <a:prstGeom prst="rect">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91072" y="1344168"/>
            <a:ext cx="155448" cy="155448"/>
          </a:xfrm>
          <a:prstGeom prst="ellipse">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47688" y="1252728"/>
            <a:ext cx="5349240" cy="411480"/>
          </a:xfrm>
          <a:prstGeom prst="rect">
            <a:avLst/>
          </a:prstGeom>
          <a:noFill/>
        </p:spPr>
        <p:txBody>
          <a:bodyPr wrap="square">
            <a:spAutoFit/>
          </a:bodyPr>
          <a:lstStyle/>
          <a:p>
            <a:pPr algn="l"/>
            <a:r>
              <a:rPr sz="1700" b="1">
                <a:solidFill>
                  <a:srgbClr val="1C4966"/>
                </a:solidFill>
                <a:latin typeface="Segoe UI"/>
              </a:rPr>
              <a:t>01  </a:t>
            </a:r>
            <a:r>
              <a:rPr sz="1400" b="1">
                <a:solidFill>
                  <a:srgbClr val="1C4966"/>
                </a:solidFill>
                <a:latin typeface="Segoe UI"/>
              </a:rPr>
              <a:t>CPU, memory and disk</a:t>
            </a:r>
          </a:p>
        </p:txBody>
      </p:sp>
      <p:sp>
        <p:nvSpPr>
          <p:cNvPr id="9" name="TextBox 8"/>
          <p:cNvSpPr txBox="1"/>
          <p:nvPr/>
        </p:nvSpPr>
        <p:spPr>
          <a:xfrm>
            <a:off x="6665976" y="1691640"/>
            <a:ext cx="5303520" cy="1097280"/>
          </a:xfrm>
          <a:prstGeom prst="rect">
            <a:avLst/>
          </a:prstGeom>
          <a:noFill/>
        </p:spPr>
        <p:txBody>
          <a:bodyPr wrap="square">
            <a:spAutoFit/>
          </a:bodyPr>
          <a:lstStyle/>
          <a:p>
            <a:pPr algn="l"/>
            <a:r>
              <a:rPr sz="1100" b="0">
                <a:solidFill>
                  <a:srgbClr val="2C3B47"/>
                </a:solidFill>
                <a:latin typeface="Segoe UI"/>
              </a:rPr>
              <a:t>On Windows these are read from DMVs, so no SSH or extra agent is needed. You see CPU usage out of 100 with the core count, RAM used versus total, and how full the disk is.</a:t>
            </a:r>
          </a:p>
        </p:txBody>
      </p:sp>
      <p:sp>
        <p:nvSpPr>
          <p:cNvPr id="10" name="Oval 9"/>
          <p:cNvSpPr/>
          <p:nvPr/>
        </p:nvSpPr>
        <p:spPr>
          <a:xfrm>
            <a:off x="6291072" y="2898648"/>
            <a:ext cx="155448" cy="155448"/>
          </a:xfrm>
          <a:prstGeom prst="ellipse">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47688" y="2807208"/>
            <a:ext cx="5349240" cy="411480"/>
          </a:xfrm>
          <a:prstGeom prst="rect">
            <a:avLst/>
          </a:prstGeom>
          <a:noFill/>
        </p:spPr>
        <p:txBody>
          <a:bodyPr wrap="square">
            <a:spAutoFit/>
          </a:bodyPr>
          <a:lstStyle/>
          <a:p>
            <a:pPr algn="l"/>
            <a:r>
              <a:rPr sz="1700" b="1">
                <a:solidFill>
                  <a:srgbClr val="1C4966"/>
                </a:solidFill>
                <a:latin typeface="Segoe UI"/>
              </a:rPr>
              <a:t>02  </a:t>
            </a:r>
            <a:r>
              <a:rPr sz="1400" b="1">
                <a:solidFill>
                  <a:srgbClr val="1C4966"/>
                </a:solidFill>
                <a:latin typeface="Segoe UI"/>
              </a:rPr>
              <a:t>Top processes on demand</a:t>
            </a:r>
          </a:p>
        </p:txBody>
      </p:sp>
      <p:sp>
        <p:nvSpPr>
          <p:cNvPr id="12" name="TextBox 11"/>
          <p:cNvSpPr txBox="1"/>
          <p:nvPr/>
        </p:nvSpPr>
        <p:spPr>
          <a:xfrm>
            <a:off x="6665976" y="3246120"/>
            <a:ext cx="5303520" cy="1097280"/>
          </a:xfrm>
          <a:prstGeom prst="rect">
            <a:avLst/>
          </a:prstGeom>
          <a:noFill/>
        </p:spPr>
        <p:txBody>
          <a:bodyPr wrap="square">
            <a:spAutoFit/>
          </a:bodyPr>
          <a:lstStyle/>
          <a:p>
            <a:pPr algn="l"/>
            <a:r>
              <a:rPr sz="1100" b="0">
                <a:solidFill>
                  <a:srgbClr val="2C3B47"/>
                </a:solidFill>
                <a:latin typeface="Segoe UI"/>
              </a:rPr>
              <a:t>Click a CPU or memory gauge to list the processes using the most resources, with the database clearly marked, answering 'is it the database or something else?' instantly.</a:t>
            </a:r>
          </a:p>
        </p:txBody>
      </p:sp>
      <p:sp>
        <p:nvSpPr>
          <p:cNvPr id="13" name="Oval 12"/>
          <p:cNvSpPr/>
          <p:nvPr/>
        </p:nvSpPr>
        <p:spPr>
          <a:xfrm>
            <a:off x="6291072" y="4453128"/>
            <a:ext cx="155448" cy="155448"/>
          </a:xfrm>
          <a:prstGeom prst="ellipse">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47688" y="4361688"/>
            <a:ext cx="5349240" cy="411480"/>
          </a:xfrm>
          <a:prstGeom prst="rect">
            <a:avLst/>
          </a:prstGeom>
          <a:noFill/>
        </p:spPr>
        <p:txBody>
          <a:bodyPr wrap="square">
            <a:spAutoFit/>
          </a:bodyPr>
          <a:lstStyle/>
          <a:p>
            <a:pPr algn="l"/>
            <a:r>
              <a:rPr sz="1700" b="1">
                <a:solidFill>
                  <a:srgbClr val="1C4966"/>
                </a:solidFill>
                <a:latin typeface="Segoe UI"/>
              </a:rPr>
              <a:t>03  </a:t>
            </a:r>
            <a:r>
              <a:rPr sz="1400" b="1">
                <a:solidFill>
                  <a:srgbClr val="1C4966"/>
                </a:solidFill>
                <a:latin typeface="Segoe UI"/>
              </a:rPr>
              <a:t>History for spikes</a:t>
            </a:r>
          </a:p>
        </p:txBody>
      </p:sp>
      <p:sp>
        <p:nvSpPr>
          <p:cNvPr id="15" name="TextBox 14"/>
          <p:cNvSpPr txBox="1"/>
          <p:nvPr/>
        </p:nvSpPr>
        <p:spPr>
          <a:xfrm>
            <a:off x="6665976" y="4800600"/>
            <a:ext cx="5303520" cy="1097280"/>
          </a:xfrm>
          <a:prstGeom prst="rect">
            <a:avLst/>
          </a:prstGeom>
          <a:noFill/>
        </p:spPr>
        <p:txBody>
          <a:bodyPr wrap="square">
            <a:spAutoFit/>
          </a:bodyPr>
          <a:lstStyle/>
          <a:p>
            <a:pPr algn="l"/>
            <a:r>
              <a:rPr sz="1100" b="0">
                <a:solidFill>
                  <a:srgbClr val="2C3B47"/>
                </a:solidFill>
                <a:latin typeface="Segoe UI"/>
              </a:rPr>
              <a:t>Past resource samples are kept, so when CPU or memory spikes you can look back at what was happening at that moment instead of relying on guesswork.</a:t>
            </a:r>
          </a:p>
        </p:txBody>
      </p:sp>
      <p:sp>
        <p:nvSpPr>
          <p:cNvPr id="16" name="TextBox 15"/>
          <p:cNvSpPr txBox="1"/>
          <p:nvPr/>
        </p:nvSpPr>
        <p:spPr>
          <a:xfrm>
            <a:off x="502920" y="6473952"/>
            <a:ext cx="8229600" cy="274320"/>
          </a:xfrm>
          <a:prstGeom prst="rect">
            <a:avLst/>
          </a:prstGeom>
          <a:noFill/>
        </p:spPr>
        <p:txBody>
          <a:bodyPr wrap="square">
            <a:spAutoFit/>
          </a:bodyPr>
          <a:lstStyle/>
          <a:p>
            <a:pPr algn="l"/>
            <a:r>
              <a:rPr sz="900" b="0">
                <a:solidFill>
                  <a:srgbClr val="5E6B76"/>
                </a:solidFill>
                <a:latin typeface="Segoe UI"/>
              </a:rPr>
              <a:t>Actmon  ·  SQL Server Monitoring</a:t>
            </a:r>
          </a:p>
        </p:txBody>
      </p:sp>
      <p:sp>
        <p:nvSpPr>
          <p:cNvPr id="17" name="TextBox 16"/>
          <p:cNvSpPr txBox="1"/>
          <p:nvPr/>
        </p:nvSpPr>
        <p:spPr>
          <a:xfrm>
            <a:off x="11155680" y="6473952"/>
            <a:ext cx="822960" cy="274320"/>
          </a:xfrm>
          <a:prstGeom prst="rect">
            <a:avLst/>
          </a:prstGeom>
          <a:noFill/>
        </p:spPr>
        <p:txBody>
          <a:bodyPr wrap="square">
            <a:spAutoFit/>
          </a:bodyPr>
          <a:lstStyle/>
          <a:p>
            <a:pPr algn="r"/>
            <a:r>
              <a:rPr sz="900" b="0">
                <a:solidFill>
                  <a:srgbClr val="5E6B76"/>
                </a:solidFill>
                <a:latin typeface="Segoe U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448495" y="-1554480"/>
            <a:ext cx="4206240" cy="420624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297680"/>
            <a:ext cx="4023360" cy="402336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457200"/>
            <a:ext cx="10972800" cy="640080"/>
          </a:xfrm>
          <a:prstGeom prst="rect">
            <a:avLst/>
          </a:prstGeom>
          <a:noFill/>
        </p:spPr>
        <p:txBody>
          <a:bodyPr wrap="square">
            <a:spAutoFit/>
          </a:bodyPr>
          <a:lstStyle/>
          <a:p>
            <a:pPr algn="l"/>
            <a:r>
              <a:rPr sz="2900" b="1">
                <a:solidFill>
                  <a:srgbClr val="1C4966"/>
                </a:solidFill>
                <a:latin typeface="Segoe UI"/>
              </a:rPr>
              <a:t>QUERIES &amp; TABLES</a:t>
            </a:r>
          </a:p>
        </p:txBody>
      </p:sp>
      <p:sp>
        <p:nvSpPr>
          <p:cNvPr id="6" name="Rectangle 5"/>
          <p:cNvSpPr/>
          <p:nvPr/>
        </p:nvSpPr>
        <p:spPr>
          <a:xfrm>
            <a:off x="603504" y="1207008"/>
            <a:ext cx="1463040" cy="54864"/>
          </a:xfrm>
          <a:prstGeom prst="rect">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371600"/>
            <a:ext cx="11064240" cy="457200"/>
          </a:xfrm>
          <a:prstGeom prst="rect">
            <a:avLst/>
          </a:prstGeom>
          <a:noFill/>
        </p:spPr>
        <p:txBody>
          <a:bodyPr wrap="square">
            <a:spAutoFit/>
          </a:bodyPr>
          <a:lstStyle/>
          <a:p>
            <a:pPr algn="l"/>
            <a:r>
              <a:rPr sz="1300" b="0">
                <a:solidFill>
                  <a:srgbClr val="2C3B47"/>
                </a:solidFill>
                <a:latin typeface="Segoe UI"/>
              </a:rPr>
              <a:t>From the live query down to a single table.</a:t>
            </a:r>
          </a:p>
        </p:txBody>
      </p:sp>
      <p:sp>
        <p:nvSpPr>
          <p:cNvPr id="8" name="Rounded Rectangle 7"/>
          <p:cNvSpPr/>
          <p:nvPr/>
        </p:nvSpPr>
        <p:spPr>
          <a:xfrm>
            <a:off x="548640" y="1965960"/>
            <a:ext cx="5417820" cy="1965960"/>
          </a:xfrm>
          <a:prstGeom prst="roundRect">
            <a:avLst/>
          </a:prstGeom>
          <a:solidFill>
            <a:srgbClr val="6E98A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01   </a:t>
            </a:r>
            <a:r>
              <a:rPr sz="1400" b="1">
                <a:solidFill>
                  <a:srgbClr val="FFFFFF"/>
                </a:solidFill>
                <a:latin typeface="Segoe UI"/>
              </a:rPr>
              <a:t>Active queries</a:t>
            </a:r>
          </a:p>
          <a:p>
            <a:pPr algn="l">
              <a:spcBef>
                <a:spcPts val="400"/>
              </a:spcBef>
            </a:pPr>
            <a:r>
              <a:rPr sz="1100" b="0">
                <a:solidFill>
                  <a:srgbClr val="FFFFFF"/>
                </a:solidFill>
                <a:latin typeface="Segoe UI"/>
              </a:rPr>
              <a:t>See exactly what is executing now, with the session, login, database and how long each query has run — the first place to look when the server feels slow.</a:t>
            </a:r>
          </a:p>
        </p:txBody>
      </p:sp>
      <p:sp>
        <p:nvSpPr>
          <p:cNvPr id="9" name="Rounded Rectangle 8"/>
          <p:cNvSpPr/>
          <p:nvPr/>
        </p:nvSpPr>
        <p:spPr>
          <a:xfrm>
            <a:off x="6240780" y="1965960"/>
            <a:ext cx="5417820" cy="1965960"/>
          </a:xfrm>
          <a:prstGeom prst="roundRect">
            <a:avLst/>
          </a:prstGeom>
          <a:solidFill>
            <a:srgbClr val="4F809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02   </a:t>
            </a:r>
            <a:r>
              <a:rPr sz="1400" b="1">
                <a:solidFill>
                  <a:srgbClr val="FFFFFF"/>
                </a:solidFill>
                <a:latin typeface="Segoe UI"/>
              </a:rPr>
              <a:t>Top CPU queries</a:t>
            </a:r>
          </a:p>
          <a:p>
            <a:pPr algn="l">
              <a:spcBef>
                <a:spcPts val="400"/>
              </a:spcBef>
            </a:pPr>
            <a:r>
              <a:rPr sz="1100" b="0">
                <a:solidFill>
                  <a:srgbClr val="FFFFFF"/>
                </a:solidFill>
                <a:latin typeface="Segoe UI"/>
              </a:rPr>
              <a:t>The queries consuming the most CPU are ranked, so the heaviest statements are easy to find and tune.</a:t>
            </a:r>
          </a:p>
        </p:txBody>
      </p:sp>
      <p:sp>
        <p:nvSpPr>
          <p:cNvPr id="10" name="Rounded Rectangle 9"/>
          <p:cNvSpPr/>
          <p:nvPr/>
        </p:nvSpPr>
        <p:spPr>
          <a:xfrm>
            <a:off x="548640" y="4206240"/>
            <a:ext cx="5417820" cy="1965960"/>
          </a:xfrm>
          <a:prstGeom prst="roundRect">
            <a:avLst/>
          </a:prstGeom>
          <a:solidFill>
            <a:srgbClr val="3A6A8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03   </a:t>
            </a:r>
            <a:r>
              <a:rPr sz="1400" b="1">
                <a:solidFill>
                  <a:srgbClr val="FFFFFF"/>
                </a:solidFill>
                <a:latin typeface="Segoe UI"/>
              </a:rPr>
              <a:t>Tables across databases</a:t>
            </a:r>
          </a:p>
          <a:p>
            <a:pPr algn="l">
              <a:spcBef>
                <a:spcPts val="400"/>
              </a:spcBef>
            </a:pPr>
            <a:r>
              <a:rPr sz="1100" b="0">
                <a:solidFill>
                  <a:srgbClr val="FFFFFF"/>
                </a:solidFill>
                <a:latin typeface="Segoe UI"/>
              </a:rPr>
              <a:t>Every table in your user databases is listed with rows, size and index information, and you can open one for full detail.</a:t>
            </a:r>
          </a:p>
        </p:txBody>
      </p:sp>
      <p:sp>
        <p:nvSpPr>
          <p:cNvPr id="11" name="Rounded Rectangle 10"/>
          <p:cNvSpPr/>
          <p:nvPr/>
        </p:nvSpPr>
        <p:spPr>
          <a:xfrm>
            <a:off x="6240780" y="4206240"/>
            <a:ext cx="5417820" cy="1965960"/>
          </a:xfrm>
          <a:prstGeom prst="roundRect">
            <a:avLst/>
          </a:prstGeom>
          <a:solidFill>
            <a:srgbClr val="2A557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04   </a:t>
            </a:r>
            <a:r>
              <a:rPr sz="1400" b="1">
                <a:solidFill>
                  <a:srgbClr val="FFFFFF"/>
                </a:solidFill>
                <a:latin typeface="Segoe UI"/>
              </a:rPr>
              <a:t>Missing-index DDL</a:t>
            </a:r>
          </a:p>
          <a:p>
            <a:pPr algn="l">
              <a:spcBef>
                <a:spcPts val="400"/>
              </a:spcBef>
            </a:pPr>
            <a:r>
              <a:rPr sz="1100" b="0">
                <a:solidFill>
                  <a:srgbClr val="FFFFFF"/>
                </a:solidFill>
                <a:latin typeface="Segoe UI"/>
              </a:rPr>
              <a:t>For tables that would benefit, Actmon shows the exact CREATE INDEX statement to add, plus partitioning details for large tables.</a:t>
            </a:r>
          </a:p>
        </p:txBody>
      </p:sp>
      <p:sp>
        <p:nvSpPr>
          <p:cNvPr id="12" name="TextBox 11"/>
          <p:cNvSpPr txBox="1"/>
          <p:nvPr/>
        </p:nvSpPr>
        <p:spPr>
          <a:xfrm>
            <a:off x="502920" y="6473952"/>
            <a:ext cx="8229600" cy="274320"/>
          </a:xfrm>
          <a:prstGeom prst="rect">
            <a:avLst/>
          </a:prstGeom>
          <a:noFill/>
        </p:spPr>
        <p:txBody>
          <a:bodyPr wrap="square">
            <a:spAutoFit/>
          </a:bodyPr>
          <a:lstStyle/>
          <a:p>
            <a:pPr algn="l"/>
            <a:r>
              <a:rPr sz="900" b="0">
                <a:solidFill>
                  <a:srgbClr val="5E6B76"/>
                </a:solidFill>
                <a:latin typeface="Segoe UI"/>
              </a:rPr>
              <a:t>Actmon  ·  SQL Server Monitoring</a:t>
            </a:r>
          </a:p>
        </p:txBody>
      </p:sp>
      <p:sp>
        <p:nvSpPr>
          <p:cNvPr id="13" name="TextBox 12"/>
          <p:cNvSpPr txBox="1"/>
          <p:nvPr/>
        </p:nvSpPr>
        <p:spPr>
          <a:xfrm>
            <a:off x="11155680" y="6473952"/>
            <a:ext cx="822960" cy="274320"/>
          </a:xfrm>
          <a:prstGeom prst="rect">
            <a:avLst/>
          </a:prstGeom>
          <a:noFill/>
        </p:spPr>
        <p:txBody>
          <a:bodyPr wrap="square">
            <a:spAutoFit/>
          </a:bodyPr>
          <a:lstStyle/>
          <a:p>
            <a:pPr algn="r"/>
            <a:r>
              <a:rPr sz="900" b="0">
                <a:solidFill>
                  <a:srgbClr val="5E6B76"/>
                </a:solidFill>
                <a:latin typeface="Segoe U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448495" y="-1554480"/>
            <a:ext cx="4206240" cy="420624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297680"/>
            <a:ext cx="4023360" cy="402336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457200"/>
            <a:ext cx="10972800" cy="640080"/>
          </a:xfrm>
          <a:prstGeom prst="rect">
            <a:avLst/>
          </a:prstGeom>
          <a:noFill/>
        </p:spPr>
        <p:txBody>
          <a:bodyPr wrap="square">
            <a:spAutoFit/>
          </a:bodyPr>
          <a:lstStyle/>
          <a:p>
            <a:pPr algn="l"/>
            <a:r>
              <a:rPr sz="2900" b="1">
                <a:solidFill>
                  <a:srgbClr val="1C4966"/>
                </a:solidFill>
                <a:latin typeface="Segoe UI"/>
              </a:rPr>
              <a:t>HOW ISSUES ARE DETECTED</a:t>
            </a:r>
          </a:p>
        </p:txBody>
      </p:sp>
      <p:sp>
        <p:nvSpPr>
          <p:cNvPr id="6" name="Rectangle 5"/>
          <p:cNvSpPr/>
          <p:nvPr/>
        </p:nvSpPr>
        <p:spPr>
          <a:xfrm>
            <a:off x="603504" y="1207008"/>
            <a:ext cx="1463040" cy="54864"/>
          </a:xfrm>
          <a:prstGeom prst="rect">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371600"/>
            <a:ext cx="11064240" cy="457200"/>
          </a:xfrm>
          <a:prstGeom prst="rect">
            <a:avLst/>
          </a:prstGeom>
          <a:noFill/>
        </p:spPr>
        <p:txBody>
          <a:bodyPr wrap="square">
            <a:spAutoFit/>
          </a:bodyPr>
          <a:lstStyle/>
          <a:p>
            <a:pPr algn="l"/>
            <a:r>
              <a:rPr sz="1300" b="0">
                <a:solidFill>
                  <a:srgbClr val="2C3B47"/>
                </a:solidFill>
                <a:latin typeface="Segoe UI"/>
              </a:rPr>
              <a:t>Actmon catches trouble with live signals and checks.</a:t>
            </a:r>
          </a:p>
        </p:txBody>
      </p:sp>
      <p:sp>
        <p:nvSpPr>
          <p:cNvPr id="8" name="Rounded Rectangle 7"/>
          <p:cNvSpPr/>
          <p:nvPr/>
        </p:nvSpPr>
        <p:spPr>
          <a:xfrm>
            <a:off x="548640" y="1965960"/>
            <a:ext cx="5417820" cy="1965960"/>
          </a:xfrm>
          <a:prstGeom prst="roundRect">
            <a:avLst/>
          </a:prstGeom>
          <a:solidFill>
            <a:srgbClr val="6E98A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01   </a:t>
            </a:r>
            <a:r>
              <a:rPr sz="1400" b="1">
                <a:solidFill>
                  <a:srgbClr val="FFFFFF"/>
                </a:solidFill>
                <a:latin typeface="Segoe UI"/>
              </a:rPr>
              <a:t>Wait statistics</a:t>
            </a:r>
          </a:p>
          <a:p>
            <a:pPr algn="l">
              <a:spcBef>
                <a:spcPts val="400"/>
              </a:spcBef>
            </a:pPr>
            <a:r>
              <a:rPr sz="1100" b="0">
                <a:solidFill>
                  <a:srgbClr val="FFFFFF"/>
                </a:solidFill>
                <a:latin typeface="Segoe UI"/>
              </a:rPr>
              <a:t>SQL Server records what queries are waiting on. Actmon surfaces the top wait types, which point straight at the real bottleneck (CPU, disk, locks and so on).</a:t>
            </a:r>
          </a:p>
        </p:txBody>
      </p:sp>
      <p:sp>
        <p:nvSpPr>
          <p:cNvPr id="9" name="Rounded Rectangle 8"/>
          <p:cNvSpPr/>
          <p:nvPr/>
        </p:nvSpPr>
        <p:spPr>
          <a:xfrm>
            <a:off x="6240780" y="1965960"/>
            <a:ext cx="5417820" cy="1965960"/>
          </a:xfrm>
          <a:prstGeom prst="roundRect">
            <a:avLst/>
          </a:prstGeom>
          <a:solidFill>
            <a:srgbClr val="4F809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02   </a:t>
            </a:r>
            <a:r>
              <a:rPr sz="1400" b="1">
                <a:solidFill>
                  <a:srgbClr val="FFFFFF"/>
                </a:solidFill>
                <a:latin typeface="Segoe UI"/>
              </a:rPr>
              <a:t>Blocking chains</a:t>
            </a:r>
          </a:p>
          <a:p>
            <a:pPr algn="l">
              <a:spcBef>
                <a:spcPts val="400"/>
              </a:spcBef>
            </a:pPr>
            <a:r>
              <a:rPr sz="1100" b="0">
                <a:solidFill>
                  <a:srgbClr val="FFFFFF"/>
                </a:solidFill>
                <a:latin typeface="Segoe UI"/>
              </a:rPr>
              <a:t>Shows where one session is blocking others and the chain of waits, a common cause of a database that suddenly feels frozen.</a:t>
            </a:r>
          </a:p>
        </p:txBody>
      </p:sp>
      <p:sp>
        <p:nvSpPr>
          <p:cNvPr id="10" name="Rounded Rectangle 9"/>
          <p:cNvSpPr/>
          <p:nvPr/>
        </p:nvSpPr>
        <p:spPr>
          <a:xfrm>
            <a:off x="548640" y="4206240"/>
            <a:ext cx="5417820" cy="1965960"/>
          </a:xfrm>
          <a:prstGeom prst="roundRect">
            <a:avLst/>
          </a:prstGeom>
          <a:solidFill>
            <a:srgbClr val="3A6A8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03   </a:t>
            </a:r>
            <a:r>
              <a:rPr sz="1400" b="1">
                <a:solidFill>
                  <a:srgbClr val="FFFFFF"/>
                </a:solidFill>
                <a:latin typeface="Segoe UI"/>
              </a:rPr>
              <a:t>Long-running queries</a:t>
            </a:r>
          </a:p>
          <a:p>
            <a:pPr algn="l">
              <a:spcBef>
                <a:spcPts val="400"/>
              </a:spcBef>
            </a:pPr>
            <a:r>
              <a:rPr sz="1100" b="0">
                <a:solidFill>
                  <a:srgbClr val="FFFFFF"/>
                </a:solidFill>
                <a:latin typeface="Segoe UI"/>
              </a:rPr>
              <a:t>Queries running longer than expected are flagged automatically, so a single heavy statement does not quietly slow everything down.</a:t>
            </a:r>
          </a:p>
        </p:txBody>
      </p:sp>
      <p:sp>
        <p:nvSpPr>
          <p:cNvPr id="11" name="Rounded Rectangle 10"/>
          <p:cNvSpPr/>
          <p:nvPr/>
        </p:nvSpPr>
        <p:spPr>
          <a:xfrm>
            <a:off x="6240780" y="4206240"/>
            <a:ext cx="5417820" cy="1965960"/>
          </a:xfrm>
          <a:prstGeom prst="roundRect">
            <a:avLst/>
          </a:prstGeom>
          <a:solidFill>
            <a:srgbClr val="2A557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04   </a:t>
            </a:r>
            <a:r>
              <a:rPr sz="1400" b="1">
                <a:solidFill>
                  <a:srgbClr val="FFFFFF"/>
                </a:solidFill>
                <a:latin typeface="Segoe UI"/>
              </a:rPr>
              <a:t>Availability</a:t>
            </a:r>
          </a:p>
          <a:p>
            <a:pPr algn="l">
              <a:spcBef>
                <a:spcPts val="400"/>
              </a:spcBef>
            </a:pPr>
            <a:r>
              <a:rPr sz="1100" b="0">
                <a:solidFill>
                  <a:srgbClr val="FFFFFF"/>
                </a:solidFill>
                <a:latin typeface="Segoe UI"/>
              </a:rPr>
              <a:t>Connection and session health, plus AlwaysOn status where configured, make it clear when the instance or a replica needs attention.</a:t>
            </a:r>
          </a:p>
        </p:txBody>
      </p:sp>
      <p:sp>
        <p:nvSpPr>
          <p:cNvPr id="12" name="TextBox 11"/>
          <p:cNvSpPr txBox="1"/>
          <p:nvPr/>
        </p:nvSpPr>
        <p:spPr>
          <a:xfrm>
            <a:off x="502920" y="6473952"/>
            <a:ext cx="8229600" cy="274320"/>
          </a:xfrm>
          <a:prstGeom prst="rect">
            <a:avLst/>
          </a:prstGeom>
          <a:noFill/>
        </p:spPr>
        <p:txBody>
          <a:bodyPr wrap="square">
            <a:spAutoFit/>
          </a:bodyPr>
          <a:lstStyle/>
          <a:p>
            <a:pPr algn="l"/>
            <a:r>
              <a:rPr sz="900" b="0">
                <a:solidFill>
                  <a:srgbClr val="5E6B76"/>
                </a:solidFill>
                <a:latin typeface="Segoe UI"/>
              </a:rPr>
              <a:t>Actmon  ·  SQL Server Monitoring</a:t>
            </a:r>
          </a:p>
        </p:txBody>
      </p:sp>
      <p:sp>
        <p:nvSpPr>
          <p:cNvPr id="13" name="TextBox 12"/>
          <p:cNvSpPr txBox="1"/>
          <p:nvPr/>
        </p:nvSpPr>
        <p:spPr>
          <a:xfrm>
            <a:off x="11155680" y="6473952"/>
            <a:ext cx="822960" cy="274320"/>
          </a:xfrm>
          <a:prstGeom prst="rect">
            <a:avLst/>
          </a:prstGeom>
          <a:noFill/>
        </p:spPr>
        <p:txBody>
          <a:bodyPr wrap="square">
            <a:spAutoFit/>
          </a:bodyPr>
          <a:lstStyle/>
          <a:p>
            <a:pPr algn="r"/>
            <a:r>
              <a:rPr sz="900" b="0">
                <a:solidFill>
                  <a:srgbClr val="5E6B76"/>
                </a:solidFill>
                <a:latin typeface="Segoe U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448495" y="-1554480"/>
            <a:ext cx="4206240" cy="420624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297680"/>
            <a:ext cx="4023360" cy="402336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457200"/>
            <a:ext cx="10972800" cy="640080"/>
          </a:xfrm>
          <a:prstGeom prst="rect">
            <a:avLst/>
          </a:prstGeom>
          <a:noFill/>
        </p:spPr>
        <p:txBody>
          <a:bodyPr wrap="square">
            <a:spAutoFit/>
          </a:bodyPr>
          <a:lstStyle/>
          <a:p>
            <a:pPr algn="l"/>
            <a:r>
              <a:rPr sz="2900" b="1">
                <a:solidFill>
                  <a:srgbClr val="1C4966"/>
                </a:solidFill>
                <a:latin typeface="Segoe UI"/>
              </a:rPr>
              <a:t>ERROR ANALYSIS &amp; SELF-HEALING</a:t>
            </a:r>
          </a:p>
        </p:txBody>
      </p:sp>
      <p:sp>
        <p:nvSpPr>
          <p:cNvPr id="6" name="Rectangle 5"/>
          <p:cNvSpPr/>
          <p:nvPr/>
        </p:nvSpPr>
        <p:spPr>
          <a:xfrm>
            <a:off x="603504" y="1207008"/>
            <a:ext cx="1463040" cy="54864"/>
          </a:xfrm>
          <a:prstGeom prst="rect">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371600"/>
            <a:ext cx="11064240" cy="457200"/>
          </a:xfrm>
          <a:prstGeom prst="rect">
            <a:avLst/>
          </a:prstGeom>
          <a:noFill/>
        </p:spPr>
        <p:txBody>
          <a:bodyPr wrap="square">
            <a:spAutoFit/>
          </a:bodyPr>
          <a:lstStyle/>
          <a:p>
            <a:pPr algn="l"/>
            <a:r>
              <a:rPr sz="1300" b="0">
                <a:solidFill>
                  <a:srgbClr val="2C3B47"/>
                </a:solidFill>
                <a:latin typeface="Segoe UI"/>
              </a:rPr>
              <a:t>Understand any error and fix common ones safely.</a:t>
            </a:r>
          </a:p>
        </p:txBody>
      </p:sp>
      <p:sp>
        <p:nvSpPr>
          <p:cNvPr id="8" name="Rounded Rectangle 7"/>
          <p:cNvSpPr/>
          <p:nvPr/>
        </p:nvSpPr>
        <p:spPr>
          <a:xfrm>
            <a:off x="548640" y="1965960"/>
            <a:ext cx="5417820" cy="1965960"/>
          </a:xfrm>
          <a:prstGeom prst="roundRect">
            <a:avLst/>
          </a:prstGeom>
          <a:solidFill>
            <a:srgbClr val="6E98A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01   </a:t>
            </a:r>
            <a:r>
              <a:rPr sz="1400" b="1">
                <a:solidFill>
                  <a:srgbClr val="FFFFFF"/>
                </a:solidFill>
                <a:latin typeface="Segoe UI"/>
              </a:rPr>
              <a:t>Full error analysis</a:t>
            </a:r>
          </a:p>
          <a:p>
            <a:pPr algn="l">
              <a:spcBef>
                <a:spcPts val="400"/>
              </a:spcBef>
            </a:pPr>
            <a:r>
              <a:rPr sz="1100" b="0">
                <a:solidFill>
                  <a:srgbClr val="FFFFFF"/>
                </a:solidFill>
                <a:latin typeface="Segoe UI"/>
              </a:rPr>
              <a:t>Click an error log entry to open a full page that explains what the error is, why it is happening, and whether it is still occurring right now.</a:t>
            </a:r>
          </a:p>
        </p:txBody>
      </p:sp>
      <p:sp>
        <p:nvSpPr>
          <p:cNvPr id="9" name="Rounded Rectangle 8"/>
          <p:cNvSpPr/>
          <p:nvPr/>
        </p:nvSpPr>
        <p:spPr>
          <a:xfrm>
            <a:off x="6240780" y="1965960"/>
            <a:ext cx="5417820" cy="1965960"/>
          </a:xfrm>
          <a:prstGeom prst="roundRect">
            <a:avLst/>
          </a:prstGeom>
          <a:solidFill>
            <a:srgbClr val="4F809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02   </a:t>
            </a:r>
            <a:r>
              <a:rPr sz="1400" b="1">
                <a:solidFill>
                  <a:srgbClr val="FFFFFF"/>
                </a:solidFill>
                <a:latin typeface="Segoe UI"/>
              </a:rPr>
              <a:t>Diagnostics &amp; remediation</a:t>
            </a:r>
          </a:p>
          <a:p>
            <a:pPr algn="l">
              <a:spcBef>
                <a:spcPts val="400"/>
              </a:spcBef>
            </a:pPr>
            <a:r>
              <a:rPr sz="1100" b="0">
                <a:solidFill>
                  <a:srgbClr val="FFFFFF"/>
                </a:solidFill>
                <a:latin typeface="Segoe UI"/>
              </a:rPr>
              <a:t>Actmon lists safe diagnostics and remediation steps for the error, each clearly labelled Safe, Caution or Write, so you always know the risk before acting.</a:t>
            </a:r>
          </a:p>
        </p:txBody>
      </p:sp>
      <p:sp>
        <p:nvSpPr>
          <p:cNvPr id="10" name="Rounded Rectangle 9"/>
          <p:cNvSpPr/>
          <p:nvPr/>
        </p:nvSpPr>
        <p:spPr>
          <a:xfrm>
            <a:off x="548640" y="4206240"/>
            <a:ext cx="5417820" cy="1965960"/>
          </a:xfrm>
          <a:prstGeom prst="roundRect">
            <a:avLst/>
          </a:prstGeom>
          <a:solidFill>
            <a:srgbClr val="3A6A8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03   </a:t>
            </a:r>
            <a:r>
              <a:rPr sz="1400" b="1">
                <a:solidFill>
                  <a:srgbClr val="FFFFFF"/>
                </a:solidFill>
                <a:latin typeface="Segoe UI"/>
              </a:rPr>
              <a:t>Built-in command terminal</a:t>
            </a:r>
          </a:p>
          <a:p>
            <a:pPr algn="l">
              <a:spcBef>
                <a:spcPts val="400"/>
              </a:spcBef>
            </a:pPr>
            <a:r>
              <a:rPr sz="1100" b="0">
                <a:solidFill>
                  <a:srgbClr val="FFFFFF"/>
                </a:solidFill>
                <a:latin typeface="Segoe UI"/>
              </a:rPr>
              <a:t>A small terminal runs each step on the server and shows the exact command and its output, so there is no guesswork about what happened.</a:t>
            </a:r>
          </a:p>
        </p:txBody>
      </p:sp>
      <p:sp>
        <p:nvSpPr>
          <p:cNvPr id="11" name="Rounded Rectangle 10"/>
          <p:cNvSpPr/>
          <p:nvPr/>
        </p:nvSpPr>
        <p:spPr>
          <a:xfrm>
            <a:off x="6240780" y="4206240"/>
            <a:ext cx="5417820" cy="1965960"/>
          </a:xfrm>
          <a:prstGeom prst="roundRect">
            <a:avLst/>
          </a:prstGeom>
          <a:solidFill>
            <a:srgbClr val="2A557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04   </a:t>
            </a:r>
            <a:r>
              <a:rPr sz="1400" b="1">
                <a:solidFill>
                  <a:srgbClr val="FFFFFF"/>
                </a:solidFill>
                <a:latin typeface="Segoe UI"/>
              </a:rPr>
              <a:t>Permission-gated</a:t>
            </a:r>
          </a:p>
          <a:p>
            <a:pPr algn="l">
              <a:spcBef>
                <a:spcPts val="400"/>
              </a:spcBef>
            </a:pPr>
            <a:r>
              <a:rPr sz="1100" b="0">
                <a:solidFill>
                  <a:srgbClr val="FFFFFF"/>
                </a:solidFill>
                <a:latin typeface="Segoe UI"/>
              </a:rPr>
              <a:t>Write or repair commands only run if the connected login actually has the permission, so a risky change can never be made by accident.</a:t>
            </a:r>
          </a:p>
        </p:txBody>
      </p:sp>
      <p:sp>
        <p:nvSpPr>
          <p:cNvPr id="12" name="TextBox 11"/>
          <p:cNvSpPr txBox="1"/>
          <p:nvPr/>
        </p:nvSpPr>
        <p:spPr>
          <a:xfrm>
            <a:off x="502920" y="6473952"/>
            <a:ext cx="8229600" cy="274320"/>
          </a:xfrm>
          <a:prstGeom prst="rect">
            <a:avLst/>
          </a:prstGeom>
          <a:noFill/>
        </p:spPr>
        <p:txBody>
          <a:bodyPr wrap="square">
            <a:spAutoFit/>
          </a:bodyPr>
          <a:lstStyle/>
          <a:p>
            <a:pPr algn="l"/>
            <a:r>
              <a:rPr sz="900" b="0">
                <a:solidFill>
                  <a:srgbClr val="5E6B76"/>
                </a:solidFill>
                <a:latin typeface="Segoe UI"/>
              </a:rPr>
              <a:t>Actmon  ·  SQL Server Monitoring</a:t>
            </a:r>
          </a:p>
        </p:txBody>
      </p:sp>
      <p:sp>
        <p:nvSpPr>
          <p:cNvPr id="13" name="TextBox 12"/>
          <p:cNvSpPr txBox="1"/>
          <p:nvPr/>
        </p:nvSpPr>
        <p:spPr>
          <a:xfrm>
            <a:off x="11155680" y="6473952"/>
            <a:ext cx="822960" cy="274320"/>
          </a:xfrm>
          <a:prstGeom prst="rect">
            <a:avLst/>
          </a:prstGeom>
          <a:noFill/>
        </p:spPr>
        <p:txBody>
          <a:bodyPr wrap="square">
            <a:spAutoFit/>
          </a:bodyPr>
          <a:lstStyle/>
          <a:p>
            <a:pPr algn="r"/>
            <a:r>
              <a:rPr sz="900" b="0">
                <a:solidFill>
                  <a:srgbClr val="5E6B76"/>
                </a:solidFill>
                <a:latin typeface="Segoe U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448495" y="-1554480"/>
            <a:ext cx="4206240" cy="420624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297680"/>
            <a:ext cx="4023360" cy="402336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051560"/>
            <a:ext cx="4983480" cy="4846320"/>
          </a:xfrm>
          <a:prstGeom prst="roundRect">
            <a:avLst/>
          </a:prstGeom>
          <a:solidFill>
            <a:srgbClr val="B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10896" rIns="274320"/>
          <a:lstStyle/>
          <a:p>
            <a:pPr algn="l"/>
            <a:r>
              <a:rPr sz="2700" b="1">
                <a:solidFill>
                  <a:srgbClr val="1C4966"/>
                </a:solidFill>
                <a:latin typeface="Segoe UI"/>
              </a:rPr>
              <a:t>INDEX ANALYSIS</a:t>
            </a:r>
          </a:p>
          <a:p>
            <a:pPr algn="l">
              <a:spcBef>
                <a:spcPts val="1000"/>
              </a:spcBef>
            </a:pPr>
            <a:r>
              <a:rPr sz="1250" b="0">
                <a:solidFill>
                  <a:srgbClr val="1C4966"/>
                </a:solidFill>
                <a:latin typeface="Segoe UI"/>
              </a:rPr>
              <a:t>Indexes are the biggest factor in how fast queries run. Actmon shows where indexes help and exactly which one to add.</a:t>
            </a:r>
          </a:p>
        </p:txBody>
      </p:sp>
      <p:sp>
        <p:nvSpPr>
          <p:cNvPr id="6" name="Rectangle 5"/>
          <p:cNvSpPr/>
          <p:nvPr/>
        </p:nvSpPr>
        <p:spPr>
          <a:xfrm>
            <a:off x="6355080" y="1234440"/>
            <a:ext cx="27432" cy="4663440"/>
          </a:xfrm>
          <a:prstGeom prst="rect">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91072" y="1344168"/>
            <a:ext cx="155448" cy="155448"/>
          </a:xfrm>
          <a:prstGeom prst="ellipse">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47688" y="1252728"/>
            <a:ext cx="5349240" cy="411480"/>
          </a:xfrm>
          <a:prstGeom prst="rect">
            <a:avLst/>
          </a:prstGeom>
          <a:noFill/>
        </p:spPr>
        <p:txBody>
          <a:bodyPr wrap="square">
            <a:spAutoFit/>
          </a:bodyPr>
          <a:lstStyle/>
          <a:p>
            <a:pPr algn="l"/>
            <a:r>
              <a:rPr sz="1700" b="1">
                <a:solidFill>
                  <a:srgbClr val="1C4966"/>
                </a:solidFill>
                <a:latin typeface="Segoe UI"/>
              </a:rPr>
              <a:t>01  </a:t>
            </a:r>
            <a:r>
              <a:rPr sz="1400" b="1">
                <a:solidFill>
                  <a:srgbClr val="1C4966"/>
                </a:solidFill>
                <a:latin typeface="Segoe UI"/>
              </a:rPr>
              <a:t>Missing-index DDL</a:t>
            </a:r>
          </a:p>
        </p:txBody>
      </p:sp>
      <p:sp>
        <p:nvSpPr>
          <p:cNvPr id="9" name="TextBox 8"/>
          <p:cNvSpPr txBox="1"/>
          <p:nvPr/>
        </p:nvSpPr>
        <p:spPr>
          <a:xfrm>
            <a:off x="6665976" y="1691640"/>
            <a:ext cx="5303520" cy="1097280"/>
          </a:xfrm>
          <a:prstGeom prst="rect">
            <a:avLst/>
          </a:prstGeom>
          <a:noFill/>
        </p:spPr>
        <p:txBody>
          <a:bodyPr wrap="square">
            <a:spAutoFit/>
          </a:bodyPr>
          <a:lstStyle/>
          <a:p>
            <a:pPr algn="l"/>
            <a:r>
              <a:rPr sz="1100" b="0">
                <a:solidFill>
                  <a:srgbClr val="2C3B47"/>
                </a:solidFill>
                <a:latin typeface="Segoe UI"/>
              </a:rPr>
              <a:t>For slow queries, Actmon shows the precise CREATE INDEX statement that would speed them up, so you can apply a fix in seconds.</a:t>
            </a:r>
          </a:p>
        </p:txBody>
      </p:sp>
      <p:sp>
        <p:nvSpPr>
          <p:cNvPr id="10" name="Oval 9"/>
          <p:cNvSpPr/>
          <p:nvPr/>
        </p:nvSpPr>
        <p:spPr>
          <a:xfrm>
            <a:off x="6291072" y="2898648"/>
            <a:ext cx="155448" cy="155448"/>
          </a:xfrm>
          <a:prstGeom prst="ellipse">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47688" y="2807208"/>
            <a:ext cx="5349240" cy="411480"/>
          </a:xfrm>
          <a:prstGeom prst="rect">
            <a:avLst/>
          </a:prstGeom>
          <a:noFill/>
        </p:spPr>
        <p:txBody>
          <a:bodyPr wrap="square">
            <a:spAutoFit/>
          </a:bodyPr>
          <a:lstStyle/>
          <a:p>
            <a:pPr algn="l"/>
            <a:r>
              <a:rPr sz="1700" b="1">
                <a:solidFill>
                  <a:srgbClr val="1C4966"/>
                </a:solidFill>
                <a:latin typeface="Segoe UI"/>
              </a:rPr>
              <a:t>02  </a:t>
            </a:r>
            <a:r>
              <a:rPr sz="1400" b="1">
                <a:solidFill>
                  <a:srgbClr val="1C4966"/>
                </a:solidFill>
                <a:latin typeface="Segoe UI"/>
              </a:rPr>
              <a:t>Index usage</a:t>
            </a:r>
          </a:p>
        </p:txBody>
      </p:sp>
      <p:sp>
        <p:nvSpPr>
          <p:cNvPr id="12" name="TextBox 11"/>
          <p:cNvSpPr txBox="1"/>
          <p:nvPr/>
        </p:nvSpPr>
        <p:spPr>
          <a:xfrm>
            <a:off x="6665976" y="3246120"/>
            <a:ext cx="5303520" cy="1097280"/>
          </a:xfrm>
          <a:prstGeom prst="rect">
            <a:avLst/>
          </a:prstGeom>
          <a:noFill/>
        </p:spPr>
        <p:txBody>
          <a:bodyPr wrap="square">
            <a:spAutoFit/>
          </a:bodyPr>
          <a:lstStyle/>
          <a:p>
            <a:pPr algn="l"/>
            <a:r>
              <a:rPr sz="1100" b="0">
                <a:solidFill>
                  <a:srgbClr val="2C3B47"/>
                </a:solidFill>
                <a:latin typeface="Segoe UI"/>
              </a:rPr>
              <a:t>See which indexes are used and which are not, so unused indexes that only slow down writes can be removed.</a:t>
            </a:r>
          </a:p>
        </p:txBody>
      </p:sp>
      <p:sp>
        <p:nvSpPr>
          <p:cNvPr id="13" name="Oval 12"/>
          <p:cNvSpPr/>
          <p:nvPr/>
        </p:nvSpPr>
        <p:spPr>
          <a:xfrm>
            <a:off x="6291072" y="4453128"/>
            <a:ext cx="155448" cy="155448"/>
          </a:xfrm>
          <a:prstGeom prst="ellipse">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47688" y="4361688"/>
            <a:ext cx="5349240" cy="411480"/>
          </a:xfrm>
          <a:prstGeom prst="rect">
            <a:avLst/>
          </a:prstGeom>
          <a:noFill/>
        </p:spPr>
        <p:txBody>
          <a:bodyPr wrap="square">
            <a:spAutoFit/>
          </a:bodyPr>
          <a:lstStyle/>
          <a:p>
            <a:pPr algn="l"/>
            <a:r>
              <a:rPr sz="1700" b="1">
                <a:solidFill>
                  <a:srgbClr val="1C4966"/>
                </a:solidFill>
                <a:latin typeface="Segoe UI"/>
              </a:rPr>
              <a:t>03  </a:t>
            </a:r>
            <a:r>
              <a:rPr sz="1400" b="1">
                <a:solidFill>
                  <a:srgbClr val="1C4966"/>
                </a:solidFill>
                <a:latin typeface="Segoe UI"/>
              </a:rPr>
              <a:t>Partitioning insight</a:t>
            </a:r>
          </a:p>
        </p:txBody>
      </p:sp>
      <p:sp>
        <p:nvSpPr>
          <p:cNvPr id="15" name="TextBox 14"/>
          <p:cNvSpPr txBox="1"/>
          <p:nvPr/>
        </p:nvSpPr>
        <p:spPr>
          <a:xfrm>
            <a:off x="6665976" y="4800600"/>
            <a:ext cx="5303520" cy="1097280"/>
          </a:xfrm>
          <a:prstGeom prst="rect">
            <a:avLst/>
          </a:prstGeom>
          <a:noFill/>
        </p:spPr>
        <p:txBody>
          <a:bodyPr wrap="square">
            <a:spAutoFit/>
          </a:bodyPr>
          <a:lstStyle/>
          <a:p>
            <a:pPr algn="l"/>
            <a:r>
              <a:rPr sz="1100" b="0">
                <a:solidFill>
                  <a:srgbClr val="2C3B47"/>
                </a:solidFill>
                <a:latin typeface="Segoe UI"/>
              </a:rPr>
              <a:t>For very large tables, partitioning details help you decide how to keep them fast and manageable.</a:t>
            </a:r>
          </a:p>
        </p:txBody>
      </p:sp>
      <p:sp>
        <p:nvSpPr>
          <p:cNvPr id="16" name="TextBox 15"/>
          <p:cNvSpPr txBox="1"/>
          <p:nvPr/>
        </p:nvSpPr>
        <p:spPr>
          <a:xfrm>
            <a:off x="502920" y="6473952"/>
            <a:ext cx="8229600" cy="274320"/>
          </a:xfrm>
          <a:prstGeom prst="rect">
            <a:avLst/>
          </a:prstGeom>
          <a:noFill/>
        </p:spPr>
        <p:txBody>
          <a:bodyPr wrap="square">
            <a:spAutoFit/>
          </a:bodyPr>
          <a:lstStyle/>
          <a:p>
            <a:pPr algn="l"/>
            <a:r>
              <a:rPr sz="900" b="0">
                <a:solidFill>
                  <a:srgbClr val="5E6B76"/>
                </a:solidFill>
                <a:latin typeface="Segoe UI"/>
              </a:rPr>
              <a:t>Actmon  ·  SQL Server Monitoring</a:t>
            </a:r>
          </a:p>
        </p:txBody>
      </p:sp>
      <p:sp>
        <p:nvSpPr>
          <p:cNvPr id="17" name="TextBox 16"/>
          <p:cNvSpPr txBox="1"/>
          <p:nvPr/>
        </p:nvSpPr>
        <p:spPr>
          <a:xfrm>
            <a:off x="11155680" y="6473952"/>
            <a:ext cx="822960" cy="274320"/>
          </a:xfrm>
          <a:prstGeom prst="rect">
            <a:avLst/>
          </a:prstGeom>
          <a:noFill/>
        </p:spPr>
        <p:txBody>
          <a:bodyPr wrap="square">
            <a:spAutoFit/>
          </a:bodyPr>
          <a:lstStyle/>
          <a:p>
            <a:pPr algn="r"/>
            <a:r>
              <a:rPr sz="900" b="0">
                <a:solidFill>
                  <a:srgbClr val="5E6B76"/>
                </a:solidFill>
                <a:latin typeface="Segoe U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448495" y="-1554480"/>
            <a:ext cx="4206240" cy="420624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297680"/>
            <a:ext cx="4023360" cy="402336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457200"/>
            <a:ext cx="10972800" cy="640080"/>
          </a:xfrm>
          <a:prstGeom prst="rect">
            <a:avLst/>
          </a:prstGeom>
          <a:noFill/>
        </p:spPr>
        <p:txBody>
          <a:bodyPr wrap="square">
            <a:spAutoFit/>
          </a:bodyPr>
          <a:lstStyle/>
          <a:p>
            <a:pPr algn="l"/>
            <a:r>
              <a:rPr sz="2900" b="1">
                <a:solidFill>
                  <a:srgbClr val="1C4966"/>
                </a:solidFill>
                <a:latin typeface="Segoe UI"/>
              </a:rPr>
              <a:t>ROOT-CAUSE DRILL-DOWN</a:t>
            </a:r>
          </a:p>
        </p:txBody>
      </p:sp>
      <p:sp>
        <p:nvSpPr>
          <p:cNvPr id="6" name="Rectangle 5"/>
          <p:cNvSpPr/>
          <p:nvPr/>
        </p:nvSpPr>
        <p:spPr>
          <a:xfrm>
            <a:off x="603504" y="1207008"/>
            <a:ext cx="1463040" cy="54864"/>
          </a:xfrm>
          <a:prstGeom prst="rect">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371600"/>
            <a:ext cx="11064240" cy="457200"/>
          </a:xfrm>
          <a:prstGeom prst="rect">
            <a:avLst/>
          </a:prstGeom>
          <a:noFill/>
        </p:spPr>
        <p:txBody>
          <a:bodyPr wrap="square">
            <a:spAutoFit/>
          </a:bodyPr>
          <a:lstStyle/>
          <a:p>
            <a:pPr algn="l"/>
            <a:r>
              <a:rPr sz="1300" b="0">
                <a:solidFill>
                  <a:srgbClr val="2C3B47"/>
                </a:solidFill>
                <a:latin typeface="Segoe UI"/>
              </a:rPr>
              <a:t>Go from a high-level metric to the real reason behind it.</a:t>
            </a:r>
          </a:p>
        </p:txBody>
      </p:sp>
      <p:sp>
        <p:nvSpPr>
          <p:cNvPr id="8" name="Rounded Rectangle 7"/>
          <p:cNvSpPr/>
          <p:nvPr/>
        </p:nvSpPr>
        <p:spPr>
          <a:xfrm>
            <a:off x="548640" y="1965960"/>
            <a:ext cx="5417820" cy="1965960"/>
          </a:xfrm>
          <a:prstGeom prst="roundRect">
            <a:avLst/>
          </a:prstGeom>
          <a:solidFill>
            <a:srgbClr val="6E98A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01   </a:t>
            </a:r>
            <a:r>
              <a:rPr sz="1400" b="1">
                <a:solidFill>
                  <a:srgbClr val="FFFFFF"/>
                </a:solidFill>
                <a:latin typeface="Segoe UI"/>
              </a:rPr>
              <a:t>Start at the metric</a:t>
            </a:r>
          </a:p>
          <a:p>
            <a:pPr algn="l">
              <a:spcBef>
                <a:spcPts val="400"/>
              </a:spcBef>
            </a:pPr>
            <a:r>
              <a:rPr sz="1100" b="0">
                <a:solidFill>
                  <a:srgbClr val="FFFFFF"/>
                </a:solidFill>
                <a:latin typeface="Segoe UI"/>
              </a:rPr>
              <a:t>When CPU or memory looks high, click that gauge to begin. No commands are needed — the drill-down guides you from the symptom toward the cause step by step.</a:t>
            </a:r>
          </a:p>
        </p:txBody>
      </p:sp>
      <p:sp>
        <p:nvSpPr>
          <p:cNvPr id="9" name="Rounded Rectangle 8"/>
          <p:cNvSpPr/>
          <p:nvPr/>
        </p:nvSpPr>
        <p:spPr>
          <a:xfrm>
            <a:off x="6240780" y="1965960"/>
            <a:ext cx="5417820" cy="1965960"/>
          </a:xfrm>
          <a:prstGeom prst="roundRect">
            <a:avLst/>
          </a:prstGeom>
          <a:solidFill>
            <a:srgbClr val="4F809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02   </a:t>
            </a:r>
            <a:r>
              <a:rPr sz="1400" b="1">
                <a:solidFill>
                  <a:srgbClr val="FFFFFF"/>
                </a:solidFill>
                <a:latin typeface="Segoe UI"/>
              </a:rPr>
              <a:t>See the top processes</a:t>
            </a:r>
          </a:p>
          <a:p>
            <a:pPr algn="l">
              <a:spcBef>
                <a:spcPts val="400"/>
              </a:spcBef>
            </a:pPr>
            <a:r>
              <a:rPr sz="1100" b="0">
                <a:solidFill>
                  <a:srgbClr val="FFFFFF"/>
                </a:solidFill>
                <a:latin typeface="Segoe UI"/>
              </a:rPr>
              <a:t>Actmon shows the processes using the most CPU or memory on the server, with the database clearly identified, so you immediately see whether it is the heavy one or not.</a:t>
            </a:r>
          </a:p>
        </p:txBody>
      </p:sp>
      <p:sp>
        <p:nvSpPr>
          <p:cNvPr id="10" name="Rounded Rectangle 9"/>
          <p:cNvSpPr/>
          <p:nvPr/>
        </p:nvSpPr>
        <p:spPr>
          <a:xfrm>
            <a:off x="548640" y="4206240"/>
            <a:ext cx="5417820" cy="1965960"/>
          </a:xfrm>
          <a:prstGeom prst="roundRect">
            <a:avLst/>
          </a:prstGeom>
          <a:solidFill>
            <a:srgbClr val="3A6A8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03   </a:t>
            </a:r>
            <a:r>
              <a:rPr sz="1400" b="1">
                <a:solidFill>
                  <a:srgbClr val="FFFFFF"/>
                </a:solidFill>
                <a:latin typeface="Segoe UI"/>
              </a:rPr>
              <a:t>Drill into the database</a:t>
            </a:r>
          </a:p>
          <a:p>
            <a:pPr algn="l">
              <a:spcBef>
                <a:spcPts val="400"/>
              </a:spcBef>
            </a:pPr>
            <a:r>
              <a:rPr sz="1100" b="0">
                <a:solidFill>
                  <a:srgbClr val="FFFFFF"/>
                </a:solidFill>
                <a:latin typeface="Segoe UI"/>
              </a:rPr>
              <a:t>Go deeper into the database's own sessions and queries to find the specific statement responsible, connecting the high-level metric to a real, fixable cause.</a:t>
            </a:r>
          </a:p>
        </p:txBody>
      </p:sp>
      <p:sp>
        <p:nvSpPr>
          <p:cNvPr id="11" name="Rounded Rectangle 10"/>
          <p:cNvSpPr/>
          <p:nvPr/>
        </p:nvSpPr>
        <p:spPr>
          <a:xfrm>
            <a:off x="6240780" y="4206240"/>
            <a:ext cx="5417820" cy="1965960"/>
          </a:xfrm>
          <a:prstGeom prst="roundRect">
            <a:avLst/>
          </a:prstGeom>
          <a:solidFill>
            <a:srgbClr val="2A557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04   </a:t>
            </a:r>
            <a:r>
              <a:rPr sz="1400" b="1">
                <a:solidFill>
                  <a:srgbClr val="FFFFFF"/>
                </a:solidFill>
                <a:latin typeface="Segoe UI"/>
              </a:rPr>
              <a:t>Root-cause report</a:t>
            </a:r>
          </a:p>
          <a:p>
            <a:pPr algn="l">
              <a:spcBef>
                <a:spcPts val="400"/>
              </a:spcBef>
            </a:pPr>
            <a:r>
              <a:rPr sz="1100" b="0">
                <a:solidFill>
                  <a:srgbClr val="FFFFFF"/>
                </a:solidFill>
                <a:latin typeface="Segoe UI"/>
              </a:rPr>
              <a:t>Actmon produces a report stating whether the database or an external process caused the spike, with a simple breakdown that always adds up to 100% (SQL Server + other Windows processes + idle).</a:t>
            </a:r>
          </a:p>
        </p:txBody>
      </p:sp>
      <p:sp>
        <p:nvSpPr>
          <p:cNvPr id="12" name="TextBox 11"/>
          <p:cNvSpPr txBox="1"/>
          <p:nvPr/>
        </p:nvSpPr>
        <p:spPr>
          <a:xfrm>
            <a:off x="502920" y="6473952"/>
            <a:ext cx="8229600" cy="274320"/>
          </a:xfrm>
          <a:prstGeom prst="rect">
            <a:avLst/>
          </a:prstGeom>
          <a:noFill/>
        </p:spPr>
        <p:txBody>
          <a:bodyPr wrap="square">
            <a:spAutoFit/>
          </a:bodyPr>
          <a:lstStyle/>
          <a:p>
            <a:pPr algn="l"/>
            <a:r>
              <a:rPr sz="900" b="0">
                <a:solidFill>
                  <a:srgbClr val="5E6B76"/>
                </a:solidFill>
                <a:latin typeface="Segoe UI"/>
              </a:rPr>
              <a:t>Actmon  ·  SQL Server Monitoring</a:t>
            </a:r>
          </a:p>
        </p:txBody>
      </p:sp>
      <p:sp>
        <p:nvSpPr>
          <p:cNvPr id="13" name="TextBox 12"/>
          <p:cNvSpPr txBox="1"/>
          <p:nvPr/>
        </p:nvSpPr>
        <p:spPr>
          <a:xfrm>
            <a:off x="11155680" y="6473952"/>
            <a:ext cx="822960" cy="274320"/>
          </a:xfrm>
          <a:prstGeom prst="rect">
            <a:avLst/>
          </a:prstGeom>
          <a:noFill/>
        </p:spPr>
        <p:txBody>
          <a:bodyPr wrap="square">
            <a:spAutoFit/>
          </a:bodyPr>
          <a:lstStyle/>
          <a:p>
            <a:pPr algn="r"/>
            <a:r>
              <a:rPr sz="900" b="0">
                <a:solidFill>
                  <a:srgbClr val="5E6B76"/>
                </a:solidFill>
                <a:latin typeface="Segoe U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448495" y="-1554480"/>
            <a:ext cx="4206240" cy="420624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297680"/>
            <a:ext cx="4023360" cy="402336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051560"/>
            <a:ext cx="4983480" cy="4846320"/>
          </a:xfrm>
          <a:prstGeom prst="roundRect">
            <a:avLst/>
          </a:prstGeom>
          <a:solidFill>
            <a:srgbClr val="B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10896" rIns="274320"/>
          <a:lstStyle/>
          <a:p>
            <a:pPr algn="l"/>
            <a:r>
              <a:rPr sz="2700" b="1">
                <a:solidFill>
                  <a:srgbClr val="1C4966"/>
                </a:solidFill>
                <a:latin typeface="Segoe UI"/>
              </a:rPr>
              <a:t>BACKUP</a:t>
            </a:r>
          </a:p>
          <a:p>
            <a:pPr algn="l">
              <a:spcBef>
                <a:spcPts val="1000"/>
              </a:spcBef>
            </a:pPr>
            <a:r>
              <a:rPr sz="1250" b="0">
                <a:solidFill>
                  <a:srgbClr val="1C4966"/>
                </a:solidFill>
                <a:latin typeface="Segoe UI"/>
              </a:rPr>
              <a:t>Keep your data protected and confirm that recovery is possible, all from the same dashboard.</a:t>
            </a:r>
          </a:p>
        </p:txBody>
      </p:sp>
      <p:sp>
        <p:nvSpPr>
          <p:cNvPr id="6" name="Rectangle 5"/>
          <p:cNvSpPr/>
          <p:nvPr/>
        </p:nvSpPr>
        <p:spPr>
          <a:xfrm>
            <a:off x="6355080" y="1234440"/>
            <a:ext cx="27432" cy="4663440"/>
          </a:xfrm>
          <a:prstGeom prst="rect">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91072" y="1344168"/>
            <a:ext cx="155448" cy="155448"/>
          </a:xfrm>
          <a:prstGeom prst="ellipse">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47688" y="1252728"/>
            <a:ext cx="5349240" cy="411480"/>
          </a:xfrm>
          <a:prstGeom prst="rect">
            <a:avLst/>
          </a:prstGeom>
          <a:noFill/>
        </p:spPr>
        <p:txBody>
          <a:bodyPr wrap="square">
            <a:spAutoFit/>
          </a:bodyPr>
          <a:lstStyle/>
          <a:p>
            <a:pPr algn="l"/>
            <a:r>
              <a:rPr sz="1700" b="1">
                <a:solidFill>
                  <a:srgbClr val="1C4966"/>
                </a:solidFill>
                <a:latin typeface="Segoe UI"/>
              </a:rPr>
              <a:t>01  </a:t>
            </a:r>
            <a:r>
              <a:rPr sz="1400" b="1">
                <a:solidFill>
                  <a:srgbClr val="1C4966"/>
                </a:solidFill>
                <a:latin typeface="Segoe UI"/>
              </a:rPr>
              <a:t>Backups</a:t>
            </a:r>
          </a:p>
        </p:txBody>
      </p:sp>
      <p:sp>
        <p:nvSpPr>
          <p:cNvPr id="9" name="TextBox 8"/>
          <p:cNvSpPr txBox="1"/>
          <p:nvPr/>
        </p:nvSpPr>
        <p:spPr>
          <a:xfrm>
            <a:off x="6665976" y="1691640"/>
            <a:ext cx="5303520" cy="1097280"/>
          </a:xfrm>
          <a:prstGeom prst="rect">
            <a:avLst/>
          </a:prstGeom>
          <a:noFill/>
        </p:spPr>
        <p:txBody>
          <a:bodyPr wrap="square">
            <a:spAutoFit/>
          </a:bodyPr>
          <a:lstStyle/>
          <a:p>
            <a:pPr algn="l"/>
            <a:r>
              <a:rPr sz="1100" b="0">
                <a:solidFill>
                  <a:srgbClr val="2C3B47"/>
                </a:solidFill>
                <a:latin typeface="Segoe UI"/>
              </a:rPr>
              <a:t>Take SQL Server backups and track their status, so you always know a recent, usable copy of your data exists.</a:t>
            </a:r>
          </a:p>
        </p:txBody>
      </p:sp>
      <p:sp>
        <p:nvSpPr>
          <p:cNvPr id="10" name="Oval 9"/>
          <p:cNvSpPr/>
          <p:nvPr/>
        </p:nvSpPr>
        <p:spPr>
          <a:xfrm>
            <a:off x="6291072" y="2898648"/>
            <a:ext cx="155448" cy="155448"/>
          </a:xfrm>
          <a:prstGeom prst="ellipse">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47688" y="2807208"/>
            <a:ext cx="5349240" cy="411480"/>
          </a:xfrm>
          <a:prstGeom prst="rect">
            <a:avLst/>
          </a:prstGeom>
          <a:noFill/>
        </p:spPr>
        <p:txBody>
          <a:bodyPr wrap="square">
            <a:spAutoFit/>
          </a:bodyPr>
          <a:lstStyle/>
          <a:p>
            <a:pPr algn="l"/>
            <a:r>
              <a:rPr sz="1700" b="1">
                <a:solidFill>
                  <a:srgbClr val="1C4966"/>
                </a:solidFill>
                <a:latin typeface="Segoe UI"/>
              </a:rPr>
              <a:t>02  </a:t>
            </a:r>
            <a:r>
              <a:rPr sz="1400" b="1">
                <a:solidFill>
                  <a:srgbClr val="1C4966"/>
                </a:solidFill>
                <a:latin typeface="Segoe UI"/>
              </a:rPr>
              <a:t>Database state</a:t>
            </a:r>
          </a:p>
        </p:txBody>
      </p:sp>
      <p:sp>
        <p:nvSpPr>
          <p:cNvPr id="12" name="TextBox 11"/>
          <p:cNvSpPr txBox="1"/>
          <p:nvPr/>
        </p:nvSpPr>
        <p:spPr>
          <a:xfrm>
            <a:off x="6665976" y="3246120"/>
            <a:ext cx="5303520" cy="1097280"/>
          </a:xfrm>
          <a:prstGeom prst="rect">
            <a:avLst/>
          </a:prstGeom>
          <a:noFill/>
        </p:spPr>
        <p:txBody>
          <a:bodyPr wrap="square">
            <a:spAutoFit/>
          </a:bodyPr>
          <a:lstStyle/>
          <a:p>
            <a:pPr algn="l"/>
            <a:r>
              <a:rPr sz="1100" b="0">
                <a:solidFill>
                  <a:srgbClr val="2C3B47"/>
                </a:solidFill>
                <a:latin typeface="Segoe UI"/>
              </a:rPr>
              <a:t>See each database's state and recovery model, which determines what kind of recovery is possible.</a:t>
            </a:r>
          </a:p>
        </p:txBody>
      </p:sp>
      <p:sp>
        <p:nvSpPr>
          <p:cNvPr id="13" name="Oval 12"/>
          <p:cNvSpPr/>
          <p:nvPr/>
        </p:nvSpPr>
        <p:spPr>
          <a:xfrm>
            <a:off x="6291072" y="4453128"/>
            <a:ext cx="155448" cy="155448"/>
          </a:xfrm>
          <a:prstGeom prst="ellipse">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47688" y="4361688"/>
            <a:ext cx="5349240" cy="411480"/>
          </a:xfrm>
          <a:prstGeom prst="rect">
            <a:avLst/>
          </a:prstGeom>
          <a:noFill/>
        </p:spPr>
        <p:txBody>
          <a:bodyPr wrap="square">
            <a:spAutoFit/>
          </a:bodyPr>
          <a:lstStyle/>
          <a:p>
            <a:pPr algn="l"/>
            <a:r>
              <a:rPr sz="1700" b="1">
                <a:solidFill>
                  <a:srgbClr val="1C4966"/>
                </a:solidFill>
                <a:latin typeface="Segoe UI"/>
              </a:rPr>
              <a:t>03  </a:t>
            </a:r>
            <a:r>
              <a:rPr sz="1400" b="1">
                <a:solidFill>
                  <a:srgbClr val="1C4966"/>
                </a:solidFill>
                <a:latin typeface="Segoe UI"/>
              </a:rPr>
              <a:t>Confidence</a:t>
            </a:r>
          </a:p>
        </p:txBody>
      </p:sp>
      <p:sp>
        <p:nvSpPr>
          <p:cNvPr id="15" name="TextBox 14"/>
          <p:cNvSpPr txBox="1"/>
          <p:nvPr/>
        </p:nvSpPr>
        <p:spPr>
          <a:xfrm>
            <a:off x="6665976" y="4800600"/>
            <a:ext cx="5303520" cy="1097280"/>
          </a:xfrm>
          <a:prstGeom prst="rect">
            <a:avLst/>
          </a:prstGeom>
          <a:noFill/>
        </p:spPr>
        <p:txBody>
          <a:bodyPr wrap="square">
            <a:spAutoFit/>
          </a:bodyPr>
          <a:lstStyle/>
          <a:p>
            <a:pPr algn="l"/>
            <a:r>
              <a:rPr sz="1100" b="0">
                <a:solidFill>
                  <a:srgbClr val="2C3B47"/>
                </a:solidFill>
                <a:latin typeface="Segoe UI"/>
              </a:rPr>
              <a:t>Knowing backups are running and current means a failure or mistake does not become a disaster.</a:t>
            </a:r>
          </a:p>
        </p:txBody>
      </p:sp>
      <p:sp>
        <p:nvSpPr>
          <p:cNvPr id="16" name="TextBox 15"/>
          <p:cNvSpPr txBox="1"/>
          <p:nvPr/>
        </p:nvSpPr>
        <p:spPr>
          <a:xfrm>
            <a:off x="502920" y="6473952"/>
            <a:ext cx="8229600" cy="274320"/>
          </a:xfrm>
          <a:prstGeom prst="rect">
            <a:avLst/>
          </a:prstGeom>
          <a:noFill/>
        </p:spPr>
        <p:txBody>
          <a:bodyPr wrap="square">
            <a:spAutoFit/>
          </a:bodyPr>
          <a:lstStyle/>
          <a:p>
            <a:pPr algn="l"/>
            <a:r>
              <a:rPr sz="900" b="0">
                <a:solidFill>
                  <a:srgbClr val="5E6B76"/>
                </a:solidFill>
                <a:latin typeface="Segoe UI"/>
              </a:rPr>
              <a:t>Actmon  ·  SQL Server Monitoring</a:t>
            </a:r>
          </a:p>
        </p:txBody>
      </p:sp>
      <p:sp>
        <p:nvSpPr>
          <p:cNvPr id="17" name="TextBox 16"/>
          <p:cNvSpPr txBox="1"/>
          <p:nvPr/>
        </p:nvSpPr>
        <p:spPr>
          <a:xfrm>
            <a:off x="11155680" y="6473952"/>
            <a:ext cx="822960" cy="274320"/>
          </a:xfrm>
          <a:prstGeom prst="rect">
            <a:avLst/>
          </a:prstGeom>
          <a:noFill/>
        </p:spPr>
        <p:txBody>
          <a:bodyPr wrap="square">
            <a:spAutoFit/>
          </a:bodyPr>
          <a:lstStyle/>
          <a:p>
            <a:pPr algn="r"/>
            <a:r>
              <a:rPr sz="900" b="0">
                <a:solidFill>
                  <a:srgbClr val="5E6B76"/>
                </a:solidFill>
                <a:latin typeface="Segoe U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448495" y="-1554480"/>
            <a:ext cx="4206240" cy="420624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297680"/>
            <a:ext cx="4023360" cy="402336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457200"/>
            <a:ext cx="10972800" cy="640080"/>
          </a:xfrm>
          <a:prstGeom prst="rect">
            <a:avLst/>
          </a:prstGeom>
          <a:noFill/>
        </p:spPr>
        <p:txBody>
          <a:bodyPr wrap="square">
            <a:spAutoFit/>
          </a:bodyPr>
          <a:lstStyle/>
          <a:p>
            <a:pPr algn="l"/>
            <a:r>
              <a:rPr sz="2800" b="1">
                <a:solidFill>
                  <a:srgbClr val="1C4966"/>
                </a:solidFill>
                <a:latin typeface="Segoe UI"/>
              </a:rPr>
              <a:t>KEY METRICS — QUICK REFERENCE</a:t>
            </a:r>
          </a:p>
        </p:txBody>
      </p:sp>
      <p:sp>
        <p:nvSpPr>
          <p:cNvPr id="6" name="Rectangle 5"/>
          <p:cNvSpPr/>
          <p:nvPr/>
        </p:nvSpPr>
        <p:spPr>
          <a:xfrm>
            <a:off x="603504" y="1188720"/>
            <a:ext cx="1463040" cy="54864"/>
          </a:xfrm>
          <a:prstGeom prst="rect">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371600"/>
            <a:ext cx="10972800" cy="457200"/>
          </a:xfrm>
          <a:prstGeom prst="rect">
            <a:avLst/>
          </a:prstGeom>
          <a:noFill/>
        </p:spPr>
        <p:txBody>
          <a:bodyPr wrap="square">
            <a:spAutoFit/>
          </a:bodyPr>
          <a:lstStyle/>
          <a:p>
            <a:pPr algn="l"/>
            <a:r>
              <a:rPr sz="1300" b="0">
                <a:solidFill>
                  <a:srgbClr val="2C3B47"/>
                </a:solidFill>
                <a:latin typeface="Segoe UI"/>
              </a:rPr>
              <a:t>A simple cheat-sheet of what each metric means and where to find it.</a:t>
            </a:r>
          </a:p>
        </p:txBody>
      </p:sp>
      <p:graphicFrame>
        <p:nvGraphicFramePr>
          <p:cNvPr id="8" name="Table 7"/>
          <p:cNvGraphicFramePr>
            <a:graphicFrameLocks noGrp="1"/>
          </p:cNvGraphicFramePr>
          <p:nvPr/>
        </p:nvGraphicFramePr>
        <p:xfrm>
          <a:off x="548640" y="1920240"/>
          <a:ext cx="11064240" cy="3200400"/>
        </p:xfrm>
        <a:graphic>
          <a:graphicData uri="http://schemas.openxmlformats.org/drawingml/2006/table">
            <a:tbl>
              <a:tblPr firstRow="1" bandRow="1">
                <a:tableStyleId>{5C22544A-7EE6-4342-B048-85BDC9FD1C3A}</a:tableStyleId>
              </a:tblPr>
              <a:tblGrid>
                <a:gridCol w="3688080"/>
                <a:gridCol w="3688080"/>
                <a:gridCol w="3688080"/>
              </a:tblGrid>
              <a:tr h="457200">
                <a:tc>
                  <a:txBody>
                    <a:bodyPr/>
                    <a:lstStyle/>
                    <a:p>
                      <a:r>
                        <a:rPr sz="1200" b="1">
                          <a:solidFill>
                            <a:srgbClr val="FFFFFF"/>
                          </a:solidFill>
                          <a:latin typeface="Segoe UI"/>
                        </a:rPr>
                        <a:t>Metric</a:t>
                      </a:r>
                    </a:p>
                  </a:txBody>
                  <a:tcPr>
                    <a:solidFill>
                      <a:srgbClr val="1C4966"/>
                    </a:solidFill>
                  </a:tcPr>
                </a:tc>
                <a:tc>
                  <a:txBody>
                    <a:bodyPr/>
                    <a:lstStyle/>
                    <a:p>
                      <a:r>
                        <a:rPr sz="1200" b="1">
                          <a:solidFill>
                            <a:srgbClr val="FFFFFF"/>
                          </a:solidFill>
                          <a:latin typeface="Segoe UI"/>
                        </a:rPr>
                        <a:t>What it tells you</a:t>
                      </a:r>
                    </a:p>
                  </a:txBody>
                  <a:tcPr>
                    <a:solidFill>
                      <a:srgbClr val="1C4966"/>
                    </a:solidFill>
                  </a:tcPr>
                </a:tc>
                <a:tc>
                  <a:txBody>
                    <a:bodyPr/>
                    <a:lstStyle/>
                    <a:p>
                      <a:r>
                        <a:rPr sz="1200" b="1">
                          <a:solidFill>
                            <a:srgbClr val="FFFFFF"/>
                          </a:solidFill>
                          <a:latin typeface="Segoe UI"/>
                        </a:rPr>
                        <a:t>Where to see it</a:t>
                      </a:r>
                    </a:p>
                  </a:txBody>
                  <a:tcPr>
                    <a:solidFill>
                      <a:srgbClr val="1C4966"/>
                    </a:solidFill>
                  </a:tcPr>
                </a:tc>
              </a:tr>
              <a:tr h="457200">
                <a:tc>
                  <a:txBody>
                    <a:bodyPr/>
                    <a:lstStyle/>
                    <a:p>
                      <a:r>
                        <a:rPr sz="1100">
                          <a:solidFill>
                            <a:srgbClr val="2C3B47"/>
                          </a:solidFill>
                          <a:latin typeface="Segoe UI"/>
                        </a:rPr>
                        <a:t>Active sessions</a:t>
                      </a:r>
                    </a:p>
                  </a:txBody>
                  <a:tcPr>
                    <a:solidFill>
                      <a:srgbClr val="FFFFFF"/>
                    </a:solidFill>
                  </a:tcPr>
                </a:tc>
                <a:tc>
                  <a:txBody>
                    <a:bodyPr/>
                    <a:lstStyle/>
                    <a:p>
                      <a:r>
                        <a:rPr sz="1100">
                          <a:solidFill>
                            <a:srgbClr val="2C3B47"/>
                          </a:solidFill>
                          <a:latin typeface="Segoe UI"/>
                        </a:rPr>
                        <a:t>sessions active right now</a:t>
                      </a:r>
                    </a:p>
                  </a:txBody>
                  <a:tcPr>
                    <a:solidFill>
                      <a:srgbClr val="FFFFFF"/>
                    </a:solidFill>
                  </a:tcPr>
                </a:tc>
                <a:tc>
                  <a:txBody>
                    <a:bodyPr/>
                    <a:lstStyle/>
                    <a:p>
                      <a:r>
                        <a:rPr sz="1100">
                          <a:solidFill>
                            <a:srgbClr val="2C3B47"/>
                          </a:solidFill>
                          <a:latin typeface="Segoe UI"/>
                        </a:rPr>
                        <a:t>Overview</a:t>
                      </a:r>
                    </a:p>
                  </a:txBody>
                  <a:tcPr>
                    <a:solidFill>
                      <a:srgbClr val="FFFFFF"/>
                    </a:solidFill>
                  </a:tcPr>
                </a:tc>
              </a:tr>
              <a:tr h="457200">
                <a:tc>
                  <a:txBody>
                    <a:bodyPr/>
                    <a:lstStyle/>
                    <a:p>
                      <a:r>
                        <a:rPr sz="1100">
                          <a:solidFill>
                            <a:srgbClr val="2C3B47"/>
                          </a:solidFill>
                          <a:latin typeface="Segoe UI"/>
                        </a:rPr>
                        <a:t>CPU breakdown</a:t>
                      </a:r>
                    </a:p>
                  </a:txBody>
                  <a:tcPr>
                    <a:solidFill>
                      <a:srgbClr val="E6EFF4"/>
                    </a:solidFill>
                  </a:tcPr>
                </a:tc>
                <a:tc>
                  <a:txBody>
                    <a:bodyPr/>
                    <a:lstStyle/>
                    <a:p>
                      <a:r>
                        <a:rPr sz="1100">
                          <a:solidFill>
                            <a:srgbClr val="2C3B47"/>
                          </a:solidFill>
                          <a:latin typeface="Segoe UI"/>
                        </a:rPr>
                        <a:t>host vs SQL Server vs other</a:t>
                      </a:r>
                    </a:p>
                  </a:txBody>
                  <a:tcPr>
                    <a:solidFill>
                      <a:srgbClr val="E6EFF4"/>
                    </a:solidFill>
                  </a:tcPr>
                </a:tc>
                <a:tc>
                  <a:txBody>
                    <a:bodyPr/>
                    <a:lstStyle/>
                    <a:p>
                      <a:r>
                        <a:rPr sz="1100">
                          <a:solidFill>
                            <a:srgbClr val="2C3B47"/>
                          </a:solidFill>
                          <a:latin typeface="Segoe UI"/>
                        </a:rPr>
                        <a:t>Overview / Host</a:t>
                      </a:r>
                    </a:p>
                  </a:txBody>
                  <a:tcPr>
                    <a:solidFill>
                      <a:srgbClr val="E6EFF4"/>
                    </a:solidFill>
                  </a:tcPr>
                </a:tc>
              </a:tr>
              <a:tr h="457200">
                <a:tc>
                  <a:txBody>
                    <a:bodyPr/>
                    <a:lstStyle/>
                    <a:p>
                      <a:r>
                        <a:rPr sz="1100">
                          <a:solidFill>
                            <a:srgbClr val="2C3B47"/>
                          </a:solidFill>
                          <a:latin typeface="Segoe UI"/>
                        </a:rPr>
                        <a:t>Buffer cache hit %</a:t>
                      </a:r>
                    </a:p>
                  </a:txBody>
                  <a:tcPr>
                    <a:solidFill>
                      <a:srgbClr val="FFFFFF"/>
                    </a:solidFill>
                  </a:tcPr>
                </a:tc>
                <a:tc>
                  <a:txBody>
                    <a:bodyPr/>
                    <a:lstStyle/>
                    <a:p>
                      <a:r>
                        <a:rPr sz="1100">
                          <a:solidFill>
                            <a:srgbClr val="2C3B47"/>
                          </a:solidFill>
                          <a:latin typeface="Segoe UI"/>
                        </a:rPr>
                        <a:t>reads served from memory</a:t>
                      </a:r>
                    </a:p>
                  </a:txBody>
                  <a:tcPr>
                    <a:solidFill>
                      <a:srgbClr val="FFFFFF"/>
                    </a:solidFill>
                  </a:tcPr>
                </a:tc>
                <a:tc>
                  <a:txBody>
                    <a:bodyPr/>
                    <a:lstStyle/>
                    <a:p>
                      <a:r>
                        <a:rPr sz="1100">
                          <a:solidFill>
                            <a:srgbClr val="2C3B47"/>
                          </a:solidFill>
                          <a:latin typeface="Segoe UI"/>
                        </a:rPr>
                        <a:t>Overview / Performance</a:t>
                      </a:r>
                    </a:p>
                  </a:txBody>
                  <a:tcPr>
                    <a:solidFill>
                      <a:srgbClr val="FFFFFF"/>
                    </a:solidFill>
                  </a:tcPr>
                </a:tc>
              </a:tr>
              <a:tr h="457200">
                <a:tc>
                  <a:txBody>
                    <a:bodyPr/>
                    <a:lstStyle/>
                    <a:p>
                      <a:r>
                        <a:rPr sz="1100">
                          <a:solidFill>
                            <a:srgbClr val="2C3B47"/>
                          </a:solidFill>
                          <a:latin typeface="Segoe UI"/>
                        </a:rPr>
                        <a:t>Memory of host RAM</a:t>
                      </a:r>
                    </a:p>
                  </a:txBody>
                  <a:tcPr>
                    <a:solidFill>
                      <a:srgbClr val="E6EFF4"/>
                    </a:solidFill>
                  </a:tcPr>
                </a:tc>
                <a:tc>
                  <a:txBody>
                    <a:bodyPr/>
                    <a:lstStyle/>
                    <a:p>
                      <a:r>
                        <a:rPr sz="1100">
                          <a:solidFill>
                            <a:srgbClr val="2C3B47"/>
                          </a:solidFill>
                          <a:latin typeface="Segoe UI"/>
                        </a:rPr>
                        <a:t>SQL Server memory vs total</a:t>
                      </a:r>
                    </a:p>
                  </a:txBody>
                  <a:tcPr>
                    <a:solidFill>
                      <a:srgbClr val="E6EFF4"/>
                    </a:solidFill>
                  </a:tcPr>
                </a:tc>
                <a:tc>
                  <a:txBody>
                    <a:bodyPr/>
                    <a:lstStyle/>
                    <a:p>
                      <a:r>
                        <a:rPr sz="1100">
                          <a:solidFill>
                            <a:srgbClr val="2C3B47"/>
                          </a:solidFill>
                          <a:latin typeface="Segoe UI"/>
                        </a:rPr>
                        <a:t>Overview / Host</a:t>
                      </a:r>
                    </a:p>
                  </a:txBody>
                  <a:tcPr>
                    <a:solidFill>
                      <a:srgbClr val="E6EFF4"/>
                    </a:solidFill>
                  </a:tcPr>
                </a:tc>
              </a:tr>
              <a:tr h="457200">
                <a:tc>
                  <a:txBody>
                    <a:bodyPr/>
                    <a:lstStyle/>
                    <a:p>
                      <a:r>
                        <a:rPr sz="1100">
                          <a:solidFill>
                            <a:srgbClr val="2C3B47"/>
                          </a:solidFill>
                          <a:latin typeface="Segoe UI"/>
                        </a:rPr>
                        <a:t>Wait stats</a:t>
                      </a:r>
                    </a:p>
                  </a:txBody>
                  <a:tcPr>
                    <a:solidFill>
                      <a:srgbClr val="FFFFFF"/>
                    </a:solidFill>
                  </a:tcPr>
                </a:tc>
                <a:tc>
                  <a:txBody>
                    <a:bodyPr/>
                    <a:lstStyle/>
                    <a:p>
                      <a:r>
                        <a:rPr sz="1100">
                          <a:solidFill>
                            <a:srgbClr val="2C3B47"/>
                          </a:solidFill>
                          <a:latin typeface="Segoe UI"/>
                        </a:rPr>
                        <a:t>what queries are waiting on</a:t>
                      </a:r>
                    </a:p>
                  </a:txBody>
                  <a:tcPr>
                    <a:solidFill>
                      <a:srgbClr val="FFFFFF"/>
                    </a:solidFill>
                  </a:tcPr>
                </a:tc>
                <a:tc>
                  <a:txBody>
                    <a:bodyPr/>
                    <a:lstStyle/>
                    <a:p>
                      <a:r>
                        <a:rPr sz="1100">
                          <a:solidFill>
                            <a:srgbClr val="2C3B47"/>
                          </a:solidFill>
                          <a:latin typeface="Segoe UI"/>
                        </a:rPr>
                        <a:t>Locks / Performance</a:t>
                      </a:r>
                    </a:p>
                  </a:txBody>
                  <a:tcPr>
                    <a:solidFill>
                      <a:srgbClr val="FFFFFF"/>
                    </a:solidFill>
                  </a:tcPr>
                </a:tc>
              </a:tr>
              <a:tr h="457200">
                <a:tc>
                  <a:txBody>
                    <a:bodyPr/>
                    <a:lstStyle/>
                    <a:p>
                      <a:r>
                        <a:rPr sz="1100">
                          <a:solidFill>
                            <a:srgbClr val="2C3B47"/>
                          </a:solidFill>
                          <a:latin typeface="Segoe UI"/>
                        </a:rPr>
                        <a:t>Blocking chains</a:t>
                      </a:r>
                    </a:p>
                  </a:txBody>
                  <a:tcPr>
                    <a:solidFill>
                      <a:srgbClr val="E6EFF4"/>
                    </a:solidFill>
                  </a:tcPr>
                </a:tc>
                <a:tc>
                  <a:txBody>
                    <a:bodyPr/>
                    <a:lstStyle/>
                    <a:p>
                      <a:r>
                        <a:rPr sz="1100">
                          <a:solidFill>
                            <a:srgbClr val="2C3B47"/>
                          </a:solidFill>
                          <a:latin typeface="Segoe UI"/>
                        </a:rPr>
                        <a:t>sessions blocking others</a:t>
                      </a:r>
                    </a:p>
                  </a:txBody>
                  <a:tcPr>
                    <a:solidFill>
                      <a:srgbClr val="E6EFF4"/>
                    </a:solidFill>
                  </a:tcPr>
                </a:tc>
                <a:tc>
                  <a:txBody>
                    <a:bodyPr/>
                    <a:lstStyle/>
                    <a:p>
                      <a:r>
                        <a:rPr sz="1100">
                          <a:solidFill>
                            <a:srgbClr val="2C3B47"/>
                          </a:solidFill>
                          <a:latin typeface="Segoe UI"/>
                        </a:rPr>
                        <a:t>Locks</a:t>
                      </a:r>
                    </a:p>
                  </a:txBody>
                  <a:tcPr>
                    <a:solidFill>
                      <a:srgbClr val="E6EFF4"/>
                    </a:solidFill>
                  </a:tcPr>
                </a:tc>
              </a:tr>
            </a:tbl>
          </a:graphicData>
        </a:graphic>
      </p:graphicFrame>
      <p:sp>
        <p:nvSpPr>
          <p:cNvPr id="9" name="TextBox 8"/>
          <p:cNvSpPr txBox="1"/>
          <p:nvPr/>
        </p:nvSpPr>
        <p:spPr>
          <a:xfrm>
            <a:off x="502920" y="6473952"/>
            <a:ext cx="8229600" cy="274320"/>
          </a:xfrm>
          <a:prstGeom prst="rect">
            <a:avLst/>
          </a:prstGeom>
          <a:noFill/>
        </p:spPr>
        <p:txBody>
          <a:bodyPr wrap="square">
            <a:spAutoFit/>
          </a:bodyPr>
          <a:lstStyle/>
          <a:p>
            <a:pPr algn="l"/>
            <a:r>
              <a:rPr sz="900" b="0">
                <a:solidFill>
                  <a:srgbClr val="5E6B76"/>
                </a:solidFill>
                <a:latin typeface="Segoe UI"/>
              </a:rPr>
              <a:t>Actmon  ·  SQL Server Monitoring</a:t>
            </a:r>
          </a:p>
        </p:txBody>
      </p:sp>
      <p:sp>
        <p:nvSpPr>
          <p:cNvPr id="10" name="TextBox 9"/>
          <p:cNvSpPr txBox="1"/>
          <p:nvPr/>
        </p:nvSpPr>
        <p:spPr>
          <a:xfrm>
            <a:off x="11155680" y="6473952"/>
            <a:ext cx="822960" cy="274320"/>
          </a:xfrm>
          <a:prstGeom prst="rect">
            <a:avLst/>
          </a:prstGeom>
          <a:noFill/>
        </p:spPr>
        <p:txBody>
          <a:bodyPr wrap="square">
            <a:spAutoFit/>
          </a:bodyPr>
          <a:lstStyle/>
          <a:p>
            <a:pPr algn="r"/>
            <a:r>
              <a:rPr sz="900" b="0">
                <a:solidFill>
                  <a:srgbClr val="5E6B76"/>
                </a:solidFill>
                <a:latin typeface="Segoe U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448495" y="-1554480"/>
            <a:ext cx="4206240" cy="420624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297680"/>
            <a:ext cx="4023360" cy="402336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457200"/>
            <a:ext cx="10972800" cy="640080"/>
          </a:xfrm>
          <a:prstGeom prst="rect">
            <a:avLst/>
          </a:prstGeom>
          <a:noFill/>
        </p:spPr>
        <p:txBody>
          <a:bodyPr wrap="square">
            <a:spAutoFit/>
          </a:bodyPr>
          <a:lstStyle/>
          <a:p>
            <a:pPr algn="l"/>
            <a:r>
              <a:rPr sz="2900" b="1">
                <a:solidFill>
                  <a:srgbClr val="1C4966"/>
                </a:solidFill>
                <a:latin typeface="Segoe UI"/>
              </a:rPr>
              <a:t>SUMMARY</a:t>
            </a:r>
          </a:p>
        </p:txBody>
      </p:sp>
      <p:sp>
        <p:nvSpPr>
          <p:cNvPr id="6" name="Rectangle 5"/>
          <p:cNvSpPr/>
          <p:nvPr/>
        </p:nvSpPr>
        <p:spPr>
          <a:xfrm>
            <a:off x="603504" y="1207008"/>
            <a:ext cx="1463040" cy="54864"/>
          </a:xfrm>
          <a:prstGeom prst="rect">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371600"/>
            <a:ext cx="11064240" cy="457200"/>
          </a:xfrm>
          <a:prstGeom prst="rect">
            <a:avLst/>
          </a:prstGeom>
          <a:noFill/>
        </p:spPr>
        <p:txBody>
          <a:bodyPr wrap="square">
            <a:spAutoFit/>
          </a:bodyPr>
          <a:lstStyle/>
          <a:p>
            <a:pPr algn="l"/>
            <a:r>
              <a:rPr sz="1300" b="0">
                <a:solidFill>
                  <a:srgbClr val="2C3B47"/>
                </a:solidFill>
                <a:latin typeface="Segoe UI"/>
              </a:rPr>
              <a:t>One screen to monitor, detect, analyse and heal SQL Server.</a:t>
            </a:r>
          </a:p>
        </p:txBody>
      </p:sp>
      <p:sp>
        <p:nvSpPr>
          <p:cNvPr id="8" name="Rounded Rectangle 7"/>
          <p:cNvSpPr/>
          <p:nvPr/>
        </p:nvSpPr>
        <p:spPr>
          <a:xfrm>
            <a:off x="548640" y="1965960"/>
            <a:ext cx="5417820" cy="1965960"/>
          </a:xfrm>
          <a:prstGeom prst="roundRect">
            <a:avLst/>
          </a:prstGeom>
          <a:solidFill>
            <a:srgbClr val="6E98A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01   </a:t>
            </a:r>
            <a:r>
              <a:rPr sz="1400" b="1">
                <a:solidFill>
                  <a:srgbClr val="FFFFFF"/>
                </a:solidFill>
                <a:latin typeface="Segoe UI"/>
              </a:rPr>
              <a:t>Monitor &amp; detect</a:t>
            </a:r>
          </a:p>
          <a:p>
            <a:pPr algn="l">
              <a:spcBef>
                <a:spcPts val="400"/>
              </a:spcBef>
            </a:pPr>
            <a:r>
              <a:rPr sz="1100" b="0">
                <a:solidFill>
                  <a:srgbClr val="FFFFFF"/>
                </a:solidFill>
                <a:latin typeface="Segoe UI"/>
              </a:rPr>
              <a:t>Health, performance, queries and host resources from DMVs, with wait stats and blocking surfaced automatically.</a:t>
            </a:r>
          </a:p>
        </p:txBody>
      </p:sp>
      <p:sp>
        <p:nvSpPr>
          <p:cNvPr id="9" name="Rounded Rectangle 8"/>
          <p:cNvSpPr/>
          <p:nvPr/>
        </p:nvSpPr>
        <p:spPr>
          <a:xfrm>
            <a:off x="6240780" y="1965960"/>
            <a:ext cx="5417820" cy="1965960"/>
          </a:xfrm>
          <a:prstGeom prst="roundRect">
            <a:avLst/>
          </a:prstGeom>
          <a:solidFill>
            <a:srgbClr val="4F809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02   </a:t>
            </a:r>
            <a:r>
              <a:rPr sz="1400" b="1">
                <a:solidFill>
                  <a:srgbClr val="FFFFFF"/>
                </a:solidFill>
                <a:latin typeface="Segoe UI"/>
              </a:rPr>
              <a:t>Analyse deeply</a:t>
            </a:r>
          </a:p>
          <a:p>
            <a:pPr algn="l">
              <a:spcBef>
                <a:spcPts val="400"/>
              </a:spcBef>
            </a:pPr>
            <a:r>
              <a:rPr sz="1100" b="0">
                <a:solidFill>
                  <a:srgbClr val="FFFFFF"/>
                </a:solidFill>
                <a:latin typeface="Segoe UI"/>
              </a:rPr>
              <a:t>A full error-analysis page explains what an error is, why it happens and whether it is still occurring, with diagnostics and remediation.</a:t>
            </a:r>
          </a:p>
        </p:txBody>
      </p:sp>
      <p:sp>
        <p:nvSpPr>
          <p:cNvPr id="10" name="Rounded Rectangle 9"/>
          <p:cNvSpPr/>
          <p:nvPr/>
        </p:nvSpPr>
        <p:spPr>
          <a:xfrm>
            <a:off x="548640" y="4206240"/>
            <a:ext cx="5417820" cy="1965960"/>
          </a:xfrm>
          <a:prstGeom prst="roundRect">
            <a:avLst/>
          </a:prstGeom>
          <a:solidFill>
            <a:srgbClr val="3A6A8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03   </a:t>
            </a:r>
            <a:r>
              <a:rPr sz="1400" b="1">
                <a:solidFill>
                  <a:srgbClr val="FFFFFF"/>
                </a:solidFill>
                <a:latin typeface="Segoe UI"/>
              </a:rPr>
              <a:t>Heal safely</a:t>
            </a:r>
          </a:p>
          <a:p>
            <a:pPr algn="l">
              <a:spcBef>
                <a:spcPts val="400"/>
              </a:spcBef>
            </a:pPr>
            <a:r>
              <a:rPr sz="1100" b="0">
                <a:solidFill>
                  <a:srgbClr val="FFFFFF"/>
                </a:solidFill>
                <a:latin typeface="Segoe UI"/>
              </a:rPr>
              <a:t>A built-in command terminal runs guided fixes on the server, with every write action gated by the login's real permissions.</a:t>
            </a:r>
          </a:p>
        </p:txBody>
      </p:sp>
      <p:sp>
        <p:nvSpPr>
          <p:cNvPr id="11" name="Rounded Rectangle 10"/>
          <p:cNvSpPr/>
          <p:nvPr/>
        </p:nvSpPr>
        <p:spPr>
          <a:xfrm>
            <a:off x="6240780" y="4206240"/>
            <a:ext cx="5417820" cy="1965960"/>
          </a:xfrm>
          <a:prstGeom prst="roundRect">
            <a:avLst/>
          </a:prstGeom>
          <a:solidFill>
            <a:srgbClr val="2A557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04   </a:t>
            </a:r>
            <a:r>
              <a:rPr sz="1400" b="1">
                <a:solidFill>
                  <a:srgbClr val="FFFFFF"/>
                </a:solidFill>
                <a:latin typeface="Segoe UI"/>
              </a:rPr>
              <a:t>Protect &amp; govern</a:t>
            </a:r>
          </a:p>
          <a:p>
            <a:pPr algn="l">
              <a:spcBef>
                <a:spcPts val="400"/>
              </a:spcBef>
            </a:pPr>
            <a:r>
              <a:rPr sz="1100" b="0">
                <a:solidFill>
                  <a:srgbClr val="FFFFFF"/>
                </a:solidFill>
                <a:latin typeface="Segoe UI"/>
              </a:rPr>
              <a:t>Backups keep data safe and role-based access ensures each user only sees and does what their role allows.</a:t>
            </a:r>
          </a:p>
        </p:txBody>
      </p:sp>
      <p:sp>
        <p:nvSpPr>
          <p:cNvPr id="12" name="TextBox 11"/>
          <p:cNvSpPr txBox="1"/>
          <p:nvPr/>
        </p:nvSpPr>
        <p:spPr>
          <a:xfrm>
            <a:off x="502920" y="6473952"/>
            <a:ext cx="8229600" cy="274320"/>
          </a:xfrm>
          <a:prstGeom prst="rect">
            <a:avLst/>
          </a:prstGeom>
          <a:noFill/>
        </p:spPr>
        <p:txBody>
          <a:bodyPr wrap="square">
            <a:spAutoFit/>
          </a:bodyPr>
          <a:lstStyle/>
          <a:p>
            <a:pPr algn="l"/>
            <a:r>
              <a:rPr sz="900" b="0">
                <a:solidFill>
                  <a:srgbClr val="5E6B76"/>
                </a:solidFill>
                <a:latin typeface="Segoe UI"/>
              </a:rPr>
              <a:t>Actmon  ·  SQL Server Monitoring</a:t>
            </a:r>
          </a:p>
        </p:txBody>
      </p:sp>
      <p:sp>
        <p:nvSpPr>
          <p:cNvPr id="13" name="TextBox 12"/>
          <p:cNvSpPr txBox="1"/>
          <p:nvPr/>
        </p:nvSpPr>
        <p:spPr>
          <a:xfrm>
            <a:off x="11155680" y="6473952"/>
            <a:ext cx="822960" cy="274320"/>
          </a:xfrm>
          <a:prstGeom prst="rect">
            <a:avLst/>
          </a:prstGeom>
          <a:noFill/>
        </p:spPr>
        <p:txBody>
          <a:bodyPr wrap="square">
            <a:spAutoFit/>
          </a:bodyPr>
          <a:lstStyle/>
          <a:p>
            <a:pPr algn="r"/>
            <a:r>
              <a:rPr sz="900" b="0">
                <a:solidFill>
                  <a:srgbClr val="5E6B76"/>
                </a:solidFill>
                <a:latin typeface="Segoe UI"/>
              </a:rPr>
              <a:t>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