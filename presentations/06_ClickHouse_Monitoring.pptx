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02920"/>
            <a:ext cx="5486400" cy="365760"/>
          </a:xfrm>
          <a:prstGeom prst="rect">
            <a:avLst/>
          </a:prstGeom>
          <a:noFill/>
        </p:spPr>
        <p:txBody>
          <a:bodyPr wrap="square">
            <a:spAutoFit/>
          </a:bodyPr>
          <a:lstStyle/>
          <a:p>
            <a:pPr algn="l"/>
            <a:r>
              <a:rPr sz="1300" b="1">
                <a:solidFill>
                  <a:srgbClr val="1C4966"/>
                </a:solidFill>
                <a:latin typeface="Segoe UI"/>
              </a:rPr>
              <a:t>● ACTMON</a:t>
            </a:r>
          </a:p>
        </p:txBody>
      </p:sp>
      <p:sp>
        <p:nvSpPr>
          <p:cNvPr id="6" name="TextBox 5"/>
          <p:cNvSpPr txBox="1"/>
          <p:nvPr/>
        </p:nvSpPr>
        <p:spPr>
          <a:xfrm>
            <a:off x="548640" y="1737360"/>
            <a:ext cx="10058400" cy="2194560"/>
          </a:xfrm>
          <a:prstGeom prst="rect">
            <a:avLst/>
          </a:prstGeom>
          <a:noFill/>
        </p:spPr>
        <p:txBody>
          <a:bodyPr wrap="square">
            <a:spAutoFit/>
          </a:bodyPr>
          <a:lstStyle/>
          <a:p>
            <a:pPr algn="l"/>
            <a:r>
              <a:rPr sz="5000" b="1">
                <a:solidFill>
                  <a:srgbClr val="1C4966"/>
                </a:solidFill>
                <a:latin typeface="Segoe UI"/>
              </a:rPr>
              <a:t>CLICKHOUSE
MONITORING</a:t>
            </a:r>
          </a:p>
        </p:txBody>
      </p:sp>
      <p:sp>
        <p:nvSpPr>
          <p:cNvPr id="7" name="Rectangle 6"/>
          <p:cNvSpPr/>
          <p:nvPr/>
        </p:nvSpPr>
        <p:spPr>
          <a:xfrm>
            <a:off x="603504" y="4069080"/>
            <a:ext cx="2377440" cy="73152"/>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97680"/>
            <a:ext cx="10607040" cy="1828800"/>
          </a:xfrm>
          <a:prstGeom prst="rect">
            <a:avLst/>
          </a:prstGeom>
          <a:noFill/>
        </p:spPr>
        <p:txBody>
          <a:bodyPr wrap="square">
            <a:spAutoFit/>
          </a:bodyPr>
          <a:lstStyle/>
          <a:p>
            <a:pPr algn="l"/>
            <a:r>
              <a:rPr sz="1600" b="0">
                <a:solidFill>
                  <a:srgbClr val="2C3B47"/>
                </a:solidFill>
                <a:latin typeface="Segoe UI"/>
              </a:rPr>
              <a:t>Monitor ClickHouse in real time — running queries and the query log, tables, partitions and merges, replicas and clusters, and live system metrics.</a:t>
            </a:r>
          </a:p>
        </p:txBody>
      </p:sp>
      <p:sp>
        <p:nvSpPr>
          <p:cNvPr id="9" name="TextBox 8"/>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ClickHouse Monitoring</a:t>
            </a:r>
          </a:p>
        </p:txBody>
      </p:sp>
      <p:sp>
        <p:nvSpPr>
          <p:cNvPr id="10" name="TextBox 9"/>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700" b="1">
                <a:solidFill>
                  <a:srgbClr val="1C4966"/>
                </a:solidFill>
                <a:latin typeface="Segoe UI"/>
              </a:rPr>
              <a:t>WHAT IS ACTMON?</a:t>
            </a:r>
          </a:p>
          <a:p>
            <a:pPr algn="l">
              <a:spcBef>
                <a:spcPts val="1000"/>
              </a:spcBef>
            </a:pPr>
            <a:r>
              <a:rPr sz="1250" b="0">
                <a:solidFill>
                  <a:srgbClr val="1C4966"/>
                </a:solidFill>
                <a:latin typeface="Segoe UI"/>
              </a:rPr>
              <a:t>Actmon is a real-time monitoring dashboard for ClickHouse. Instead of logging into the server and running commands, your team sees the database's health, performance and the host machine in one place — in plain language anyone can follow.</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One place for everything</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No separate tools for the database, queries, logs and server — Actmon brings them together on one screen, so you switch windows less and understand ClickHouse more.</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Always up to date</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Every number refreshes by itself every few seconds, so you always see the live state of the database, not an old snapshot, and notice changes the moment they happen.</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From symptom to cause</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When something looks wrong, click from a high-level number straight down to the exact query, session or process behind it, then act on it.</a:t>
            </a:r>
          </a:p>
        </p:txBody>
      </p:sp>
      <p:sp>
        <p:nvSpPr>
          <p:cNvPr id="16" name="TextBox 15"/>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ClickHouse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BUSINESS BENEFITS</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Clear value for managers and engineers alike.</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Less downtime</a:t>
            </a:r>
          </a:p>
          <a:p>
            <a:pPr algn="l">
              <a:spcBef>
                <a:spcPts val="400"/>
              </a:spcBef>
            </a:pPr>
            <a:r>
              <a:rPr sz="1100" b="0">
                <a:solidFill>
                  <a:srgbClr val="FFFFFF"/>
                </a:solidFill>
                <a:latin typeface="Segoe UI"/>
              </a:rPr>
              <a:t>Problems show up early as clear red signals, so the team reacts before users notice a slowdown or outage in ClickHouse. Catching issues early is far cheaper and calmer than fixing them during a full outage.</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Faster troubleshooting</a:t>
            </a:r>
          </a:p>
          <a:p>
            <a:pPr algn="l">
              <a:spcBef>
                <a:spcPts val="400"/>
              </a:spcBef>
            </a:pPr>
            <a:r>
              <a:rPr sz="1100" b="0">
                <a:solidFill>
                  <a:srgbClr val="FFFFFF"/>
                </a:solidFill>
                <a:latin typeface="Segoe UI"/>
              </a:rPr>
              <a:t>Actmon points to the slow query or busy process in seconds instead of hours of manual digging, so incidents are resolved quickly and engineers stay focused on building, not firefighting.</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The real root cause</a:t>
            </a:r>
          </a:p>
          <a:p>
            <a:pPr algn="l">
              <a:spcBef>
                <a:spcPts val="400"/>
              </a:spcBef>
            </a:pPr>
            <a:r>
              <a:rPr sz="1100" b="0">
                <a:solidFill>
                  <a:srgbClr val="FFFFFF"/>
                </a:solidFill>
                <a:latin typeface="Segoe UI"/>
              </a:rPr>
              <a:t>A CPU or memory spike is not always the database. Actmon shows whether the database or another program on the server is responsible, so you fix the right thing the first time.</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One affordable tool</a:t>
            </a:r>
          </a:p>
          <a:p>
            <a:pPr algn="l">
              <a:spcBef>
                <a:spcPts val="400"/>
              </a:spcBef>
            </a:pPr>
            <a:r>
              <a:rPr sz="1100" b="0">
                <a:solidFill>
                  <a:srgbClr val="FFFFFF"/>
                </a:solidFill>
                <a:latin typeface="Segoe UI"/>
              </a:rPr>
              <a:t>Health checks, query analysis, error logs and reports are in one platform that replaces several products, lowering cost, simplifying training, and giving everyone a single source of truth.</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ClickHouse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700" b="1">
                <a:solidFill>
                  <a:srgbClr val="1C4966"/>
                </a:solidFill>
                <a:latin typeface="Segoe UI"/>
              </a:rPr>
              <a:t>HOW ACTMON CONNECTS</a:t>
            </a:r>
          </a:p>
          <a:p>
            <a:pPr algn="l">
              <a:spcBef>
                <a:spcPts val="1000"/>
              </a:spcBef>
            </a:pPr>
            <a:r>
              <a:rPr sz="1250" b="0">
                <a:solidFill>
                  <a:srgbClr val="1C4966"/>
                </a:solidFill>
                <a:latin typeface="Segoe UI"/>
              </a:rPr>
              <a:t>Actmon connects to ClickHouse and reads its built-in system tables. It only reads — it never changes the data on its own.</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Secure connection</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Signs in with your connection details and reads ClickHouse's system tables such as query_log, parts, merges and replicas.</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Reads server and host</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Reads live system metrics and query history; on a Linux host it also reads CPU, memory and disk over SSH.</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Safe by design</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Monitoring is read-only. Nothing is created, changed or deleted on the server.</a:t>
            </a:r>
          </a:p>
        </p:txBody>
      </p:sp>
      <p:sp>
        <p:nvSpPr>
          <p:cNvPr id="16" name="TextBox 15"/>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ClickHouse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WHAT ACTMON MONITORS</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Full coverage of queries, storage and the cluster.</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Health &amp; system metrics</a:t>
            </a:r>
          </a:p>
          <a:p>
            <a:pPr algn="l">
              <a:spcBef>
                <a:spcPts val="400"/>
              </a:spcBef>
            </a:pPr>
            <a:r>
              <a:rPr sz="1100" b="0">
                <a:solidFill>
                  <a:srgbClr val="FFFFFF"/>
                </a:solidFill>
                <a:latin typeface="Segoe UI"/>
              </a:rPr>
              <a:t>Cluster health and live system metrics give a clear view of how busy ClickHouse is and whether it is keeping up with the workload.</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Queries &amp; query log</a:t>
            </a:r>
          </a:p>
          <a:p>
            <a:pPr algn="l">
              <a:spcBef>
                <a:spcPts val="400"/>
              </a:spcBef>
            </a:pPr>
            <a:r>
              <a:rPr sz="1100" b="0">
                <a:solidFill>
                  <a:srgbClr val="FFFFFF"/>
                </a:solidFill>
                <a:latin typeface="Segoe UI"/>
              </a:rPr>
              <a:t>Queries running now plus the historical query log, so you can see current activity and look back at what ran before.</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Tables, partitions &amp; merges</a:t>
            </a:r>
          </a:p>
          <a:p>
            <a:pPr algn="l">
              <a:spcBef>
                <a:spcPts val="400"/>
              </a:spcBef>
            </a:pPr>
            <a:r>
              <a:rPr sz="1100" b="0">
                <a:solidFill>
                  <a:srgbClr val="FFFFFF"/>
                </a:solidFill>
                <a:latin typeface="Segoe UI"/>
              </a:rPr>
              <a:t>Tables and their engines, the partitions that make up each table with their sizes, and the background merges that keep data compact.</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Replicas &amp; clusters</a:t>
            </a:r>
          </a:p>
          <a:p>
            <a:pPr algn="l">
              <a:spcBef>
                <a:spcPts val="400"/>
              </a:spcBef>
            </a:pPr>
            <a:r>
              <a:rPr sz="1100" b="0">
                <a:solidFill>
                  <a:srgbClr val="FFFFFF"/>
                </a:solidFill>
                <a:latin typeface="Segoe UI"/>
              </a:rPr>
              <a:t>Replica status and cluster topology, so you can confirm a distributed deployment is healthy and replicas are in sync.</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ClickHouse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OVERVIEW METRICS</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The most important numbers, explained in plain language.</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Health</a:t>
            </a:r>
          </a:p>
          <a:p>
            <a:pPr algn="l">
              <a:spcBef>
                <a:spcPts val="400"/>
              </a:spcBef>
            </a:pPr>
            <a:r>
              <a:rPr sz="1100" b="0">
                <a:solidFill>
                  <a:srgbClr val="FFFFFF"/>
                </a:solidFill>
                <a:latin typeface="Segoe UI"/>
              </a:rPr>
              <a:t>Whether the server is healthy and reachable — the first thing to confirm before looking at anything else.</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Queries</a:t>
            </a:r>
          </a:p>
          <a:p>
            <a:pPr algn="l">
              <a:spcBef>
                <a:spcPts val="400"/>
              </a:spcBef>
            </a:pPr>
            <a:r>
              <a:rPr sz="1100" b="0">
                <a:solidFill>
                  <a:srgbClr val="FFFFFF"/>
                </a:solidFill>
                <a:latin typeface="Segoe UI"/>
              </a:rPr>
              <a:t>How many queries are running and recent query activity, which shows the size and shape of the workload.</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Tables &amp; partitions</a:t>
            </a:r>
          </a:p>
          <a:p>
            <a:pPr algn="l">
              <a:spcBef>
                <a:spcPts val="400"/>
              </a:spcBef>
            </a:pPr>
            <a:r>
              <a:rPr sz="1100" b="0">
                <a:solidFill>
                  <a:srgbClr val="FFFFFF"/>
                </a:solidFill>
                <a:latin typeface="Segoe UI"/>
              </a:rPr>
              <a:t>The number of tables and the partitions that make them up, which reveals how data is organised and where it is growing.</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Replicas &amp; cluster</a:t>
            </a:r>
          </a:p>
          <a:p>
            <a:pPr algn="l">
              <a:spcBef>
                <a:spcPts val="400"/>
              </a:spcBef>
            </a:pPr>
            <a:r>
              <a:rPr sz="1100" b="0">
                <a:solidFill>
                  <a:srgbClr val="FFFFFF"/>
                </a:solidFill>
                <a:latin typeface="Segoe UI"/>
              </a:rPr>
              <a:t>The replica and cluster picture, so you know whether a distributed deployment is balanced and in sync.</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ClickHouse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20" y="5059680"/>
            <a:ext cx="749808" cy="426719"/>
          </a:xfrm>
          <a:prstGeom prst="rect">
            <a:avLst/>
          </a:prstGeom>
          <a:solidFill>
            <a:srgbClr val="A9C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60120" y="4632960"/>
            <a:ext cx="749808" cy="426719"/>
          </a:xfrm>
          <a:prstGeom prst="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0120" y="4206240"/>
            <a:ext cx="749808" cy="426719"/>
          </a:xfrm>
          <a:prstGeom prst="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093976" y="4846320"/>
            <a:ext cx="749808" cy="640080"/>
          </a:xfrm>
          <a:prstGeom prst="rect">
            <a:avLst/>
          </a:prstGeom>
          <a:solidFill>
            <a:srgbClr val="A9C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93976" y="4206240"/>
            <a:ext cx="749808" cy="640080"/>
          </a:xfrm>
          <a:prstGeom prst="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93976" y="3566160"/>
            <a:ext cx="749808" cy="640080"/>
          </a:xfrm>
          <a:prstGeom prst="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27832" y="4602480"/>
            <a:ext cx="749808" cy="883920"/>
          </a:xfrm>
          <a:prstGeom prst="rect">
            <a:avLst/>
          </a:prstGeom>
          <a:solidFill>
            <a:srgbClr val="A9C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27832" y="3718560"/>
            <a:ext cx="749808" cy="883920"/>
          </a:xfrm>
          <a:prstGeom prst="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27832" y="2834640"/>
            <a:ext cx="749808" cy="883920"/>
          </a:xfrm>
          <a:prstGeom prst="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61688" y="4358640"/>
            <a:ext cx="749808" cy="1127760"/>
          </a:xfrm>
          <a:prstGeom prst="rect">
            <a:avLst/>
          </a:prstGeom>
          <a:solidFill>
            <a:srgbClr val="A9C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61688" y="3230880"/>
            <a:ext cx="749808" cy="1127760"/>
          </a:xfrm>
          <a:prstGeom prst="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61688" y="2103120"/>
            <a:ext cx="749808" cy="1127760"/>
          </a:xfrm>
          <a:prstGeom prst="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0" y="1371600"/>
            <a:ext cx="5577840" cy="1371600"/>
          </a:xfrm>
          <a:prstGeom prst="rect">
            <a:avLst/>
          </a:prstGeom>
          <a:noFill/>
        </p:spPr>
        <p:txBody>
          <a:bodyPr wrap="square">
            <a:spAutoFit/>
          </a:bodyPr>
          <a:lstStyle/>
          <a:p>
            <a:pPr algn="l"/>
            <a:r>
              <a:rPr sz="3000" b="1">
                <a:solidFill>
                  <a:srgbClr val="1C4966"/>
                </a:solidFill>
                <a:latin typeface="Segoe UI"/>
              </a:rPr>
              <a:t>QUERIES &amp; QUERY LOG</a:t>
            </a:r>
          </a:p>
        </p:txBody>
      </p:sp>
      <p:sp>
        <p:nvSpPr>
          <p:cNvPr id="18" name="Rectangle 17"/>
          <p:cNvSpPr/>
          <p:nvPr/>
        </p:nvSpPr>
        <p:spPr>
          <a:xfrm>
            <a:off x="6181344" y="2606040"/>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44768" y="2834640"/>
            <a:ext cx="5623560" cy="3108960"/>
          </a:xfrm>
          <a:prstGeom prst="rect">
            <a:avLst/>
          </a:prstGeom>
          <a:noFill/>
        </p:spPr>
        <p:txBody>
          <a:bodyPr wrap="square">
            <a:spAutoFit/>
          </a:bodyPr>
          <a:lstStyle/>
          <a:p>
            <a:pPr algn="l"/>
            <a:r>
              <a:rPr sz="1300" b="0">
                <a:solidFill>
                  <a:srgbClr val="2C3B47"/>
                </a:solidFill>
                <a:latin typeface="Segoe UI"/>
              </a:rPr>
              <a:t>This view shows what ClickHouse is doing now and what it did before. The running-queries view shows statements executing at this moment, while the query log keeps a history of past queries with their timing, so you can investigate a slowdown even after it has finished. The slow-query view ranks the heaviest statements so the worst offenders are easy to find. Together they make it simple to understand and tune query performance.</a:t>
            </a:r>
          </a:p>
        </p:txBody>
      </p:sp>
      <p:sp>
        <p:nvSpPr>
          <p:cNvPr id="20" name="TextBox 19"/>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ClickHouse Monitoring</a:t>
            </a:r>
          </a:p>
        </p:txBody>
      </p:sp>
      <p:sp>
        <p:nvSpPr>
          <p:cNvPr id="21" name="TextBox 20"/>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700" b="1">
                <a:solidFill>
                  <a:srgbClr val="1C4966"/>
                </a:solidFill>
                <a:latin typeface="Segoe UI"/>
              </a:rPr>
              <a:t>HOST RESOURCES</a:t>
            </a:r>
          </a:p>
          <a:p>
            <a:pPr algn="l">
              <a:spcBef>
                <a:spcPts val="1000"/>
              </a:spcBef>
            </a:pPr>
            <a:r>
              <a:rPr sz="1250" b="0">
                <a:solidFill>
                  <a:srgbClr val="1C4966"/>
                </a:solidFill>
                <a:latin typeface="Segoe UI"/>
              </a:rPr>
              <a:t>Actmon watches the machine ClickHouse runs on, not just the database — so you can tell a real database problem apart from an overloaded server.</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CPU, memory and disk</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On a Linux host this is read over SSH; a local server is read directly. You see CPU usage out of 100 with the core count, RAM used versus total, and how full the disk is.</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Top processes on demand</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Click a CPU or memory gauge to list the processes using the most resources, with the database clearly marked, answering 'is it the database or something else?' instantly.</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History for spikes</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Past resource samples are kept, so when CPU or memory spikes you can look back at what was happening at that moment instead of relying on guesswork.</a:t>
            </a:r>
          </a:p>
        </p:txBody>
      </p:sp>
      <p:sp>
        <p:nvSpPr>
          <p:cNvPr id="16" name="TextBox 15"/>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ClickHouse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TABLES, PARTITIONS &amp; MERGES</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Understand how data is stored and maintained.</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Tables &amp; engines</a:t>
            </a:r>
          </a:p>
          <a:p>
            <a:pPr algn="l">
              <a:spcBef>
                <a:spcPts val="400"/>
              </a:spcBef>
            </a:pPr>
            <a:r>
              <a:rPr sz="1100" b="0">
                <a:solidFill>
                  <a:srgbClr val="FFFFFF"/>
                </a:solidFill>
                <a:latin typeface="Segoe UI"/>
              </a:rPr>
              <a:t>Every table is listed with its engine, so you can see how each table is stored and how it will behave under load.</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Partitions</a:t>
            </a:r>
          </a:p>
          <a:p>
            <a:pPr algn="l">
              <a:spcBef>
                <a:spcPts val="400"/>
              </a:spcBef>
            </a:pPr>
            <a:r>
              <a:rPr sz="1100" b="0">
                <a:solidFill>
                  <a:srgbClr val="FFFFFF"/>
                </a:solidFill>
                <a:latin typeface="Segoe UI"/>
              </a:rPr>
              <a:t>Partitions are shown with their sizes, revealing how data is split over time and where storage is growing fastest.</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Merges</a:t>
            </a:r>
          </a:p>
          <a:p>
            <a:pPr algn="l">
              <a:spcBef>
                <a:spcPts val="400"/>
              </a:spcBef>
            </a:pPr>
            <a:r>
              <a:rPr sz="1100" b="0">
                <a:solidFill>
                  <a:srgbClr val="FFFFFF"/>
                </a:solidFill>
                <a:latin typeface="Segoe UI"/>
              </a:rPr>
              <a:t>ClickHouse merges parts in the background to stay fast. Actmon shows active merges so you can see when the server is busy compacting data.</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Table analysis</a:t>
            </a:r>
          </a:p>
          <a:p>
            <a:pPr algn="l">
              <a:spcBef>
                <a:spcPts val="400"/>
              </a:spcBef>
            </a:pPr>
            <a:r>
              <a:rPr sz="1100" b="0">
                <a:solidFill>
                  <a:srgbClr val="FFFFFF"/>
                </a:solidFill>
                <a:latin typeface="Segoe UI"/>
              </a:rPr>
              <a:t>A per-table analysis gives a closer look at a single table's structure and storage when you need to investigate.</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ClickHouse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700" b="1">
                <a:solidFill>
                  <a:srgbClr val="1C4966"/>
                </a:solidFill>
                <a:latin typeface="Segoe UI"/>
              </a:rPr>
              <a:t>REPLICAS &amp; CLUSTERS</a:t>
            </a:r>
          </a:p>
          <a:p>
            <a:pPr algn="l">
              <a:spcBef>
                <a:spcPts val="1000"/>
              </a:spcBef>
            </a:pPr>
            <a:r>
              <a:rPr sz="1250" b="0">
                <a:solidFill>
                  <a:srgbClr val="1C4966"/>
                </a:solidFill>
                <a:latin typeface="Segoe UI"/>
              </a:rPr>
              <a:t>For distributed ClickHouse deployments, Actmon shows the replication and cluster picture so you know it is healthy.</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Replica status</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Shows the state of each replica, so you can confirm replicas are in sync and none has fallen behind.</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Cluster topology</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Lists the nodes in the cluster and how they fit together, giving a clear map of the deployment.</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Databases</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All databases are listed, so you can navigate a multi-database server easily.</a:t>
            </a:r>
          </a:p>
        </p:txBody>
      </p:sp>
      <p:sp>
        <p:nvSpPr>
          <p:cNvPr id="16" name="TextBox 15"/>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ClickHouse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METRICS, SETTINGS &amp; SLOW QUERIES</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Tune and operate the server with confidence.</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System metrics</a:t>
            </a:r>
          </a:p>
          <a:p>
            <a:pPr algn="l">
              <a:spcBef>
                <a:spcPts val="400"/>
              </a:spcBef>
            </a:pPr>
            <a:r>
              <a:rPr sz="1100" b="0">
                <a:solidFill>
                  <a:srgbClr val="FFFFFF"/>
                </a:solidFill>
                <a:latin typeface="Segoe UI"/>
              </a:rPr>
              <a:t>Live system metrics show resource and engine activity, helping you understand how hard the server is working.</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Settings</a:t>
            </a:r>
          </a:p>
          <a:p>
            <a:pPr algn="l">
              <a:spcBef>
                <a:spcPts val="400"/>
              </a:spcBef>
            </a:pPr>
            <a:r>
              <a:rPr sz="1100" b="0">
                <a:solidFill>
                  <a:srgbClr val="FFFFFF"/>
                </a:solidFill>
                <a:latin typeface="Segoe UI"/>
              </a:rPr>
              <a:t>Server settings are listed in one place, useful when tuning or comparing environments.</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Slow queries</a:t>
            </a:r>
          </a:p>
          <a:p>
            <a:pPr algn="l">
              <a:spcBef>
                <a:spcPts val="400"/>
              </a:spcBef>
            </a:pPr>
            <a:r>
              <a:rPr sz="1100" b="0">
                <a:solidFill>
                  <a:srgbClr val="FFFFFF"/>
                </a:solidFill>
                <a:latin typeface="Segoe UI"/>
              </a:rPr>
              <a:t>The slowest queries from the query log are ranked, giving a clear, prioritised list of what to optimise first.</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Query log history</a:t>
            </a:r>
          </a:p>
          <a:p>
            <a:pPr algn="l">
              <a:spcBef>
                <a:spcPts val="400"/>
              </a:spcBef>
            </a:pPr>
            <a:r>
              <a:rPr sz="1100" b="0">
                <a:solidFill>
                  <a:srgbClr val="FFFFFF"/>
                </a:solidFill>
                <a:latin typeface="Segoe UI"/>
              </a:rPr>
              <a:t>Because the query log is retained, you can investigate a past slowdown instead of waiting for it to happen again.</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ClickHouse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ROOT-CAUSE DRILL-DOWN</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Go from a high-level metric to the real reason behind it.</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Start at the metric</a:t>
            </a:r>
          </a:p>
          <a:p>
            <a:pPr algn="l">
              <a:spcBef>
                <a:spcPts val="400"/>
              </a:spcBef>
            </a:pPr>
            <a:r>
              <a:rPr sz="1100" b="0">
                <a:solidFill>
                  <a:srgbClr val="FFFFFF"/>
                </a:solidFill>
                <a:latin typeface="Segoe UI"/>
              </a:rPr>
              <a:t>When CPU or memory looks high, click that gauge to begin. No commands are needed — the drill-down guides you from the symptom toward the cause step by step.</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See the top processes</a:t>
            </a:r>
          </a:p>
          <a:p>
            <a:pPr algn="l">
              <a:spcBef>
                <a:spcPts val="400"/>
              </a:spcBef>
            </a:pPr>
            <a:r>
              <a:rPr sz="1100" b="0">
                <a:solidFill>
                  <a:srgbClr val="FFFFFF"/>
                </a:solidFill>
                <a:latin typeface="Segoe UI"/>
              </a:rPr>
              <a:t>Actmon shows the processes using the most CPU or memory on the server, with the database clearly identified, so you immediately see whether it is the heavy one or not.</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Drill into the database</a:t>
            </a:r>
          </a:p>
          <a:p>
            <a:pPr algn="l">
              <a:spcBef>
                <a:spcPts val="400"/>
              </a:spcBef>
            </a:pPr>
            <a:r>
              <a:rPr sz="1100" b="0">
                <a:solidFill>
                  <a:srgbClr val="FFFFFF"/>
                </a:solidFill>
                <a:latin typeface="Segoe UI"/>
              </a:rPr>
              <a:t>Go deeper into the database's own sessions and queries to find the specific statement responsible, connecting the high-level metric to a real, fixable cause.</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Root-cause report</a:t>
            </a:r>
          </a:p>
          <a:p>
            <a:pPr algn="l">
              <a:spcBef>
                <a:spcPts val="400"/>
              </a:spcBef>
            </a:pPr>
            <a:r>
              <a:rPr sz="1100" b="0">
                <a:solidFill>
                  <a:srgbClr val="FFFFFF"/>
                </a:solidFill>
                <a:latin typeface="Segoe UI"/>
              </a:rPr>
              <a:t>Actmon produces a report stating whether the database or an external process caused the spike, with a simple breakdown that always adds up to 100% (database + other processes + idle).</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ClickHouse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800" b="1">
                <a:solidFill>
                  <a:srgbClr val="1C4966"/>
                </a:solidFill>
                <a:latin typeface="Segoe UI"/>
              </a:rPr>
              <a:t>KEY METRICS — QUICK REFERENCE</a:t>
            </a:r>
          </a:p>
        </p:txBody>
      </p:sp>
      <p:sp>
        <p:nvSpPr>
          <p:cNvPr id="6" name="Rectangle 5"/>
          <p:cNvSpPr/>
          <p:nvPr/>
        </p:nvSpPr>
        <p:spPr>
          <a:xfrm>
            <a:off x="603504" y="1188720"/>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0972800" cy="457200"/>
          </a:xfrm>
          <a:prstGeom prst="rect">
            <a:avLst/>
          </a:prstGeom>
          <a:noFill/>
        </p:spPr>
        <p:txBody>
          <a:bodyPr wrap="square">
            <a:spAutoFit/>
          </a:bodyPr>
          <a:lstStyle/>
          <a:p>
            <a:pPr algn="l"/>
            <a:r>
              <a:rPr sz="1300" b="0">
                <a:solidFill>
                  <a:srgbClr val="2C3B47"/>
                </a:solidFill>
                <a:latin typeface="Segoe UI"/>
              </a:rPr>
              <a:t>A simple cheat-sheet of what each area shows and where to find it.</a:t>
            </a:r>
          </a:p>
        </p:txBody>
      </p:sp>
      <p:graphicFrame>
        <p:nvGraphicFramePr>
          <p:cNvPr id="8" name="Table 7"/>
          <p:cNvGraphicFramePr>
            <a:graphicFrameLocks noGrp="1"/>
          </p:cNvGraphicFramePr>
          <p:nvPr/>
        </p:nvGraphicFramePr>
        <p:xfrm>
          <a:off x="548640" y="1920240"/>
          <a:ext cx="11064240" cy="3200400"/>
        </p:xfrm>
        <a:graphic>
          <a:graphicData uri="http://schemas.openxmlformats.org/drawingml/2006/table">
            <a:tbl>
              <a:tblPr firstRow="1" bandRow="1">
                <a:tableStyleId>{5C22544A-7EE6-4342-B048-85BDC9FD1C3A}</a:tableStyleId>
              </a:tblPr>
              <a:tblGrid>
                <a:gridCol w="3688080"/>
                <a:gridCol w="3688080"/>
                <a:gridCol w="3688080"/>
              </a:tblGrid>
              <a:tr h="457200">
                <a:tc>
                  <a:txBody>
                    <a:bodyPr/>
                    <a:lstStyle/>
                    <a:p>
                      <a:r>
                        <a:rPr sz="1200" b="1">
                          <a:solidFill>
                            <a:srgbClr val="FFFFFF"/>
                          </a:solidFill>
                          <a:latin typeface="Segoe UI"/>
                        </a:rPr>
                        <a:t>Area</a:t>
                      </a:r>
                    </a:p>
                  </a:txBody>
                  <a:tcPr>
                    <a:solidFill>
                      <a:srgbClr val="1C4966"/>
                    </a:solidFill>
                  </a:tcPr>
                </a:tc>
                <a:tc>
                  <a:txBody>
                    <a:bodyPr/>
                    <a:lstStyle/>
                    <a:p>
                      <a:r>
                        <a:rPr sz="1200" b="1">
                          <a:solidFill>
                            <a:srgbClr val="FFFFFF"/>
                          </a:solidFill>
                          <a:latin typeface="Segoe UI"/>
                        </a:rPr>
                        <a:t>What it tells you</a:t>
                      </a:r>
                    </a:p>
                  </a:txBody>
                  <a:tcPr>
                    <a:solidFill>
                      <a:srgbClr val="1C4966"/>
                    </a:solidFill>
                  </a:tcPr>
                </a:tc>
                <a:tc>
                  <a:txBody>
                    <a:bodyPr/>
                    <a:lstStyle/>
                    <a:p>
                      <a:r>
                        <a:rPr sz="1200" b="1">
                          <a:solidFill>
                            <a:srgbClr val="FFFFFF"/>
                          </a:solidFill>
                          <a:latin typeface="Segoe UI"/>
                        </a:rPr>
                        <a:t>Where to see it</a:t>
                      </a:r>
                    </a:p>
                  </a:txBody>
                  <a:tcPr>
                    <a:solidFill>
                      <a:srgbClr val="1C4966"/>
                    </a:solidFill>
                  </a:tcPr>
                </a:tc>
              </a:tr>
              <a:tr h="457200">
                <a:tc>
                  <a:txBody>
                    <a:bodyPr/>
                    <a:lstStyle/>
                    <a:p>
                      <a:r>
                        <a:rPr sz="1100">
                          <a:solidFill>
                            <a:srgbClr val="2C3B47"/>
                          </a:solidFill>
                          <a:latin typeface="Segoe UI"/>
                        </a:rPr>
                        <a:t>Running queries</a:t>
                      </a:r>
                    </a:p>
                  </a:txBody>
                  <a:tcPr>
                    <a:solidFill>
                      <a:srgbClr val="FFFFFF"/>
                    </a:solidFill>
                  </a:tcPr>
                </a:tc>
                <a:tc>
                  <a:txBody>
                    <a:bodyPr/>
                    <a:lstStyle/>
                    <a:p>
                      <a:r>
                        <a:rPr sz="1100">
                          <a:solidFill>
                            <a:srgbClr val="2C3B47"/>
                          </a:solidFill>
                          <a:latin typeface="Segoe UI"/>
                        </a:rPr>
                        <a:t>statements executing now</a:t>
                      </a:r>
                    </a:p>
                  </a:txBody>
                  <a:tcPr>
                    <a:solidFill>
                      <a:srgbClr val="FFFFFF"/>
                    </a:solidFill>
                  </a:tcPr>
                </a:tc>
                <a:tc>
                  <a:txBody>
                    <a:bodyPr/>
                    <a:lstStyle/>
                    <a:p>
                      <a:r>
                        <a:rPr sz="1100">
                          <a:solidFill>
                            <a:srgbClr val="2C3B47"/>
                          </a:solidFill>
                          <a:latin typeface="Segoe UI"/>
                        </a:rPr>
                        <a:t>Queries</a:t>
                      </a:r>
                    </a:p>
                  </a:txBody>
                  <a:tcPr>
                    <a:solidFill>
                      <a:srgbClr val="FFFFFF"/>
                    </a:solidFill>
                  </a:tcPr>
                </a:tc>
              </a:tr>
              <a:tr h="457200">
                <a:tc>
                  <a:txBody>
                    <a:bodyPr/>
                    <a:lstStyle/>
                    <a:p>
                      <a:r>
                        <a:rPr sz="1100">
                          <a:solidFill>
                            <a:srgbClr val="2C3B47"/>
                          </a:solidFill>
                          <a:latin typeface="Segoe UI"/>
                        </a:rPr>
                        <a:t>Query log</a:t>
                      </a:r>
                    </a:p>
                  </a:txBody>
                  <a:tcPr>
                    <a:solidFill>
                      <a:srgbClr val="E6EFF4"/>
                    </a:solidFill>
                  </a:tcPr>
                </a:tc>
                <a:tc>
                  <a:txBody>
                    <a:bodyPr/>
                    <a:lstStyle/>
                    <a:p>
                      <a:r>
                        <a:rPr sz="1100">
                          <a:solidFill>
                            <a:srgbClr val="2C3B47"/>
                          </a:solidFill>
                          <a:latin typeface="Segoe UI"/>
                        </a:rPr>
                        <a:t>history of past queries</a:t>
                      </a:r>
                    </a:p>
                  </a:txBody>
                  <a:tcPr>
                    <a:solidFill>
                      <a:srgbClr val="E6EFF4"/>
                    </a:solidFill>
                  </a:tcPr>
                </a:tc>
                <a:tc>
                  <a:txBody>
                    <a:bodyPr/>
                    <a:lstStyle/>
                    <a:p>
                      <a:r>
                        <a:rPr sz="1100">
                          <a:solidFill>
                            <a:srgbClr val="2C3B47"/>
                          </a:solidFill>
                          <a:latin typeface="Segoe UI"/>
                        </a:rPr>
                        <a:t>Query Log</a:t>
                      </a:r>
                    </a:p>
                  </a:txBody>
                  <a:tcPr>
                    <a:solidFill>
                      <a:srgbClr val="E6EFF4"/>
                    </a:solidFill>
                  </a:tcPr>
                </a:tc>
              </a:tr>
              <a:tr h="457200">
                <a:tc>
                  <a:txBody>
                    <a:bodyPr/>
                    <a:lstStyle/>
                    <a:p>
                      <a:r>
                        <a:rPr sz="1100">
                          <a:solidFill>
                            <a:srgbClr val="2C3B47"/>
                          </a:solidFill>
                          <a:latin typeface="Segoe UI"/>
                        </a:rPr>
                        <a:t>Partitions</a:t>
                      </a:r>
                    </a:p>
                  </a:txBody>
                  <a:tcPr>
                    <a:solidFill>
                      <a:srgbClr val="FFFFFF"/>
                    </a:solidFill>
                  </a:tcPr>
                </a:tc>
                <a:tc>
                  <a:txBody>
                    <a:bodyPr/>
                    <a:lstStyle/>
                    <a:p>
                      <a:r>
                        <a:rPr sz="1100">
                          <a:solidFill>
                            <a:srgbClr val="2C3B47"/>
                          </a:solidFill>
                          <a:latin typeface="Segoe UI"/>
                        </a:rPr>
                        <a:t>how data is split and its size</a:t>
                      </a:r>
                    </a:p>
                  </a:txBody>
                  <a:tcPr>
                    <a:solidFill>
                      <a:srgbClr val="FFFFFF"/>
                    </a:solidFill>
                  </a:tcPr>
                </a:tc>
                <a:tc>
                  <a:txBody>
                    <a:bodyPr/>
                    <a:lstStyle/>
                    <a:p>
                      <a:r>
                        <a:rPr sz="1100">
                          <a:solidFill>
                            <a:srgbClr val="2C3B47"/>
                          </a:solidFill>
                          <a:latin typeface="Segoe UI"/>
                        </a:rPr>
                        <a:t>Partitions</a:t>
                      </a:r>
                    </a:p>
                  </a:txBody>
                  <a:tcPr>
                    <a:solidFill>
                      <a:srgbClr val="FFFFFF"/>
                    </a:solidFill>
                  </a:tcPr>
                </a:tc>
              </a:tr>
              <a:tr h="457200">
                <a:tc>
                  <a:txBody>
                    <a:bodyPr/>
                    <a:lstStyle/>
                    <a:p>
                      <a:r>
                        <a:rPr sz="1100">
                          <a:solidFill>
                            <a:srgbClr val="2C3B47"/>
                          </a:solidFill>
                          <a:latin typeface="Segoe UI"/>
                        </a:rPr>
                        <a:t>Merges</a:t>
                      </a:r>
                    </a:p>
                  </a:txBody>
                  <a:tcPr>
                    <a:solidFill>
                      <a:srgbClr val="E6EFF4"/>
                    </a:solidFill>
                  </a:tcPr>
                </a:tc>
                <a:tc>
                  <a:txBody>
                    <a:bodyPr/>
                    <a:lstStyle/>
                    <a:p>
                      <a:r>
                        <a:rPr sz="1100">
                          <a:solidFill>
                            <a:srgbClr val="2C3B47"/>
                          </a:solidFill>
                          <a:latin typeface="Segoe UI"/>
                        </a:rPr>
                        <a:t>background compaction activity</a:t>
                      </a:r>
                    </a:p>
                  </a:txBody>
                  <a:tcPr>
                    <a:solidFill>
                      <a:srgbClr val="E6EFF4"/>
                    </a:solidFill>
                  </a:tcPr>
                </a:tc>
                <a:tc>
                  <a:txBody>
                    <a:bodyPr/>
                    <a:lstStyle/>
                    <a:p>
                      <a:r>
                        <a:rPr sz="1100">
                          <a:solidFill>
                            <a:srgbClr val="2C3B47"/>
                          </a:solidFill>
                          <a:latin typeface="Segoe UI"/>
                        </a:rPr>
                        <a:t>Merges</a:t>
                      </a:r>
                    </a:p>
                  </a:txBody>
                  <a:tcPr>
                    <a:solidFill>
                      <a:srgbClr val="E6EFF4"/>
                    </a:solidFill>
                  </a:tcPr>
                </a:tc>
              </a:tr>
              <a:tr h="457200">
                <a:tc>
                  <a:txBody>
                    <a:bodyPr/>
                    <a:lstStyle/>
                    <a:p>
                      <a:r>
                        <a:rPr sz="1100">
                          <a:solidFill>
                            <a:srgbClr val="2C3B47"/>
                          </a:solidFill>
                          <a:latin typeface="Segoe UI"/>
                        </a:rPr>
                        <a:t>Replicas</a:t>
                      </a:r>
                    </a:p>
                  </a:txBody>
                  <a:tcPr>
                    <a:solidFill>
                      <a:srgbClr val="FFFFFF"/>
                    </a:solidFill>
                  </a:tcPr>
                </a:tc>
                <a:tc>
                  <a:txBody>
                    <a:bodyPr/>
                    <a:lstStyle/>
                    <a:p>
                      <a:r>
                        <a:rPr sz="1100">
                          <a:solidFill>
                            <a:srgbClr val="2C3B47"/>
                          </a:solidFill>
                          <a:latin typeface="Segoe UI"/>
                        </a:rPr>
                        <a:t>replica sync status</a:t>
                      </a:r>
                    </a:p>
                  </a:txBody>
                  <a:tcPr>
                    <a:solidFill>
                      <a:srgbClr val="FFFFFF"/>
                    </a:solidFill>
                  </a:tcPr>
                </a:tc>
                <a:tc>
                  <a:txBody>
                    <a:bodyPr/>
                    <a:lstStyle/>
                    <a:p>
                      <a:r>
                        <a:rPr sz="1100">
                          <a:solidFill>
                            <a:srgbClr val="2C3B47"/>
                          </a:solidFill>
                          <a:latin typeface="Segoe UI"/>
                        </a:rPr>
                        <a:t>Replicas</a:t>
                      </a:r>
                    </a:p>
                  </a:txBody>
                  <a:tcPr>
                    <a:solidFill>
                      <a:srgbClr val="FFFFFF"/>
                    </a:solidFill>
                  </a:tcPr>
                </a:tc>
              </a:tr>
              <a:tr h="457200">
                <a:tc>
                  <a:txBody>
                    <a:bodyPr/>
                    <a:lstStyle/>
                    <a:p>
                      <a:r>
                        <a:rPr sz="1100">
                          <a:solidFill>
                            <a:srgbClr val="2C3B47"/>
                          </a:solidFill>
                          <a:latin typeface="Segoe UI"/>
                        </a:rPr>
                        <a:t>System metrics</a:t>
                      </a:r>
                    </a:p>
                  </a:txBody>
                  <a:tcPr>
                    <a:solidFill>
                      <a:srgbClr val="E6EFF4"/>
                    </a:solidFill>
                  </a:tcPr>
                </a:tc>
                <a:tc>
                  <a:txBody>
                    <a:bodyPr/>
                    <a:lstStyle/>
                    <a:p>
                      <a:r>
                        <a:rPr sz="1100">
                          <a:solidFill>
                            <a:srgbClr val="2C3B47"/>
                          </a:solidFill>
                          <a:latin typeface="Segoe UI"/>
                        </a:rPr>
                        <a:t>live engine and resource activity</a:t>
                      </a:r>
                    </a:p>
                  </a:txBody>
                  <a:tcPr>
                    <a:solidFill>
                      <a:srgbClr val="E6EFF4"/>
                    </a:solidFill>
                  </a:tcPr>
                </a:tc>
                <a:tc>
                  <a:txBody>
                    <a:bodyPr/>
                    <a:lstStyle/>
                    <a:p>
                      <a:r>
                        <a:rPr sz="1100">
                          <a:solidFill>
                            <a:srgbClr val="2C3B47"/>
                          </a:solidFill>
                          <a:latin typeface="Segoe UI"/>
                        </a:rPr>
                        <a:t>System Metrics</a:t>
                      </a:r>
                    </a:p>
                  </a:txBody>
                  <a:tcPr>
                    <a:solidFill>
                      <a:srgbClr val="E6EFF4"/>
                    </a:solidFill>
                  </a:tcPr>
                </a:tc>
              </a:tr>
            </a:tbl>
          </a:graphicData>
        </a:graphic>
      </p:graphicFrame>
      <p:sp>
        <p:nvSpPr>
          <p:cNvPr id="9" name="TextBox 8"/>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ClickHouse Monitoring</a:t>
            </a:r>
          </a:p>
        </p:txBody>
      </p:sp>
      <p:sp>
        <p:nvSpPr>
          <p:cNvPr id="10" name="TextBox 9"/>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SUMMARY</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One screen to monitor and tune ClickHouse.</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Monitor everything</a:t>
            </a:r>
          </a:p>
          <a:p>
            <a:pPr algn="l">
              <a:spcBef>
                <a:spcPts val="400"/>
              </a:spcBef>
            </a:pPr>
            <a:r>
              <a:rPr sz="1100" b="0">
                <a:solidFill>
                  <a:srgbClr val="FFFFFF"/>
                </a:solidFill>
                <a:latin typeface="Segoe UI"/>
              </a:rPr>
              <a:t>Queries, query log, tables, partitions, merges, replicas, clusters and system metrics — all live in one place.</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Find slow queries</a:t>
            </a:r>
          </a:p>
          <a:p>
            <a:pPr algn="l">
              <a:spcBef>
                <a:spcPts val="400"/>
              </a:spcBef>
            </a:pPr>
            <a:r>
              <a:rPr sz="1100" b="0">
                <a:solidFill>
                  <a:srgbClr val="FFFFFF"/>
                </a:solidFill>
                <a:latin typeface="Segoe UI"/>
              </a:rPr>
              <a:t>The query log and slow-query views point straight at the statements that need optimising.</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Understand storage</a:t>
            </a:r>
          </a:p>
          <a:p>
            <a:pPr algn="l">
              <a:spcBef>
                <a:spcPts val="400"/>
              </a:spcBef>
            </a:pPr>
            <a:r>
              <a:rPr sz="1100" b="0">
                <a:solidFill>
                  <a:srgbClr val="FFFFFF"/>
                </a:solidFill>
                <a:latin typeface="Segoe UI"/>
              </a:rPr>
              <a:t>Partitions and merges show how data grows and how the server keeps it compact and fast.</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Operate with confidence</a:t>
            </a:r>
          </a:p>
          <a:p>
            <a:pPr algn="l">
              <a:spcBef>
                <a:spcPts val="400"/>
              </a:spcBef>
            </a:pPr>
            <a:r>
              <a:rPr sz="1100" b="0">
                <a:solidFill>
                  <a:srgbClr val="FFFFFF"/>
                </a:solidFill>
                <a:latin typeface="Segoe UI"/>
              </a:rPr>
              <a:t>Replica and cluster views plus settings give a clear operational picture of a distributed deployment.</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ClickHouse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