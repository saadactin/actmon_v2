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5486400" cy="365760"/>
          </a:xfrm>
          <a:prstGeom prst="rect">
            <a:avLst/>
          </a:prstGeom>
          <a:noFill/>
        </p:spPr>
        <p:txBody>
          <a:bodyPr wrap="square">
            <a:spAutoFit/>
          </a:bodyPr>
          <a:lstStyle/>
          <a:p>
            <a:pPr algn="l"/>
            <a:r>
              <a:rPr sz="1300" b="1">
                <a:solidFill>
                  <a:srgbClr val="1C4966"/>
                </a:solidFill>
                <a:latin typeface="Segoe UI"/>
              </a:rPr>
              <a:t>● ACTMON</a:t>
            </a:r>
          </a:p>
        </p:txBody>
      </p:sp>
      <p:sp>
        <p:nvSpPr>
          <p:cNvPr id="6" name="TextBox 5"/>
          <p:cNvSpPr txBox="1"/>
          <p:nvPr/>
        </p:nvSpPr>
        <p:spPr>
          <a:xfrm>
            <a:off x="548640" y="1737360"/>
            <a:ext cx="8229600" cy="2194560"/>
          </a:xfrm>
          <a:prstGeom prst="rect">
            <a:avLst/>
          </a:prstGeom>
          <a:noFill/>
        </p:spPr>
        <p:txBody>
          <a:bodyPr wrap="square">
            <a:spAutoFit/>
          </a:bodyPr>
          <a:lstStyle/>
          <a:p>
            <a:pPr algn="l"/>
            <a:r>
              <a:rPr sz="5400" b="1">
                <a:solidFill>
                  <a:srgbClr val="1C4966"/>
                </a:solidFill>
                <a:latin typeface="Segoe UI"/>
              </a:rPr>
              <a:t>MYSQL
MONITORING</a:t>
            </a:r>
          </a:p>
        </p:txBody>
      </p:sp>
      <p:sp>
        <p:nvSpPr>
          <p:cNvPr id="7" name="Rectangle 6"/>
          <p:cNvSpPr/>
          <p:nvPr/>
        </p:nvSpPr>
        <p:spPr>
          <a:xfrm>
            <a:off x="603504" y="4023360"/>
            <a:ext cx="2377440" cy="73152"/>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51960"/>
            <a:ext cx="10515600" cy="1828800"/>
          </a:xfrm>
          <a:prstGeom prst="rect">
            <a:avLst/>
          </a:prstGeom>
          <a:noFill/>
        </p:spPr>
        <p:txBody>
          <a:bodyPr wrap="square">
            <a:spAutoFit/>
          </a:bodyPr>
          <a:lstStyle/>
          <a:p>
            <a:pPr algn="l"/>
            <a:r>
              <a:rPr sz="1600" b="0">
                <a:solidFill>
                  <a:srgbClr val="2C3B47"/>
                </a:solidFill>
                <a:latin typeface="Segoe UI"/>
              </a:rPr>
              <a:t>Actmon gives you a single, real-time view of your MySQL database and the server it runs on. Track every important metric, get plain-English alerts the moment something looks wrong, find the exact cause of a slowdown, and fix common problems with guided, safe actions — all from one screen.</a:t>
            </a:r>
          </a:p>
        </p:txBody>
      </p:sp>
      <p:sp>
        <p:nvSpPr>
          <p:cNvPr id="9" name="TextBox 8"/>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800" b="1">
                <a:solidFill>
                  <a:srgbClr val="1C4966"/>
                </a:solidFill>
                <a:latin typeface="Segoe UI"/>
              </a:rPr>
              <a:t>WHAT IS ACTMON?</a:t>
            </a:r>
          </a:p>
          <a:p>
            <a:pPr algn="l">
              <a:spcBef>
                <a:spcPts val="1000"/>
              </a:spcBef>
            </a:pPr>
            <a:r>
              <a:rPr sz="1250" b="0">
                <a:solidFill>
                  <a:srgbClr val="1C4966"/>
                </a:solidFill>
                <a:latin typeface="Segoe UI"/>
              </a:rPr>
              <a:t>Actmon is a real-time monitoring dashboard for MySQL. Instead of logging into the server and running commands, your team sees the database's health, performance and the host machine in one place — in plain language that managers, clients and freshers can all understand.</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One place for everything</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You no longer need separate tools for the database, the queries, the logs and the server. Actmon brings them together on one screen, so you switch windows less and understand more.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Always up to date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Every number refreshes by itself every few seconds, so you are always looking at the live state of the database — not an old snapshot — and notice changes the moment they happen.</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From symptom to cause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When something looks wrong, you click from a high-level number straight down to the exact query, session or process behind it, then act with AI advice or a guided fix.</a:t>
            </a:r>
          </a:p>
        </p:txBody>
      </p:sp>
      <p:sp>
        <p:nvSpPr>
          <p:cNvPr id="16" name="TextBox 15"/>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BUSINESS BENEFITS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Clear value for managers and engineers alike.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Less downtime</a:t>
            </a:r>
          </a:p>
          <a:p>
            <a:pPr algn="l">
              <a:spcBef>
                <a:spcPts val="400"/>
              </a:spcBef>
            </a:pPr>
            <a:r>
              <a:rPr sz="1100" b="0">
                <a:solidFill>
                  <a:srgbClr val="FFFFFF"/>
                </a:solidFill>
                <a:latin typeface="Segoe UI"/>
              </a:rPr>
              <a:t>Problems show up early as clear red signals, so your team reacts before customers ever notice a slowdown or outage. Catching issues in the warning stage is far cheaper and calmer than fixing them during a full outage.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Faster troubleshooting</a:t>
            </a:r>
          </a:p>
          <a:p>
            <a:pPr algn="l">
              <a:spcBef>
                <a:spcPts val="400"/>
              </a:spcBef>
            </a:pPr>
            <a:r>
              <a:rPr sz="1100" b="0">
                <a:solidFill>
                  <a:srgbClr val="FFFFFF"/>
                </a:solidFill>
                <a:latin typeface="Segoe UI"/>
              </a:rPr>
              <a:t>Actmon points you to the slow query or busy process in seconds instead of hours of manual digging. Less guesswork means incidents are resolved quickly and engineers stay focused on building, not firefighting.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The real root cause</a:t>
            </a:r>
          </a:p>
          <a:p>
            <a:pPr algn="l">
              <a:spcBef>
                <a:spcPts val="400"/>
              </a:spcBef>
            </a:pPr>
            <a:r>
              <a:rPr sz="1100" b="0">
                <a:solidFill>
                  <a:srgbClr val="FFFFFF"/>
                </a:solidFill>
                <a:latin typeface="Segoe UI"/>
              </a:rPr>
              <a:t>A CPU or memory spike is not always the database. Actmon shows whether MySQL or another program on the server is responsible, so you fix the right thing the first time instead of blaming the database by default.</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One affordable tool</a:t>
            </a:r>
          </a:p>
          <a:p>
            <a:pPr algn="l">
              <a:spcBef>
                <a:spcPts val="400"/>
              </a:spcBef>
            </a:pPr>
            <a:r>
              <a:rPr sz="1100" b="0">
                <a:solidFill>
                  <a:srgbClr val="FFFFFF"/>
                </a:solidFill>
                <a:latin typeface="Segoe UI"/>
              </a:rPr>
              <a:t>Health checks, query analysis, error logs, backups and reports are all included. One platform replaces several separate products, which lowers cost, simplifies training, and gives everyone a single source of truth.</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800" b="1">
                <a:solidFill>
                  <a:srgbClr val="1C4966"/>
                </a:solidFill>
                <a:latin typeface="Segoe UI"/>
              </a:rPr>
              <a:t>HOW ACTMON CONNECTS</a:t>
            </a:r>
          </a:p>
          <a:p>
            <a:pPr algn="l">
              <a:spcBef>
                <a:spcPts val="1000"/>
              </a:spcBef>
            </a:pPr>
            <a:r>
              <a:rPr sz="1250" b="0">
                <a:solidFill>
                  <a:srgbClr val="1C4966"/>
                </a:solidFill>
                <a:latin typeface="Segoe UI"/>
              </a:rPr>
              <a:t>Actmon connects to MySQL the same safe way any client would, using the connection details you provide. It only reads information — it never changes your database on its own. Guided actions run only when you choose to start them.</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Secure connection</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Actmon signs in to MySQL with the host, port, username and password you enter. The credentials are stored with the connection so monitoring keeps running automatically in the background.</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Reads database and server</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From MySQL it reads the built-in status counters and statistics. When MySQL runs on a Linux server it also reads CPU, memory and disk over SSH; a local MySQL is read directly.</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Safe by design</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Monitoring is read-only. Nothing is created, changed or deleted unless you deliberately run a guided action such as self-heal — and sensitive actions are gated by permission checks.</a:t>
            </a:r>
          </a:p>
        </p:txBody>
      </p:sp>
      <p:sp>
        <p:nvSpPr>
          <p:cNvPr id="16" name="TextBox 15"/>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WHAT ACTMON MONITORS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Full coverage of the database, its data, and its server.</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Health &amp; performance</a:t>
            </a:r>
          </a:p>
          <a:p>
            <a:pPr algn="l">
              <a:spcBef>
                <a:spcPts val="400"/>
              </a:spcBef>
            </a:pPr>
            <a:r>
              <a:rPr sz="1100" b="0">
                <a:solidFill>
                  <a:srgbClr val="FFFFFF"/>
                </a:solidFill>
                <a:latin typeface="Segoe UI"/>
              </a:rPr>
              <a:t>A single health score plus the numbers behind it: uptime, version, query throughput, connection usage and how efficiently InnoDB serves reads from memory. One glance tells you if the database is healthy and keeping up.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Queries &amp; data</a:t>
            </a:r>
          </a:p>
          <a:p>
            <a:pPr algn="l">
              <a:spcBef>
                <a:spcPts val="400"/>
              </a:spcBef>
            </a:pPr>
            <a:r>
              <a:rPr sz="1100" b="0">
                <a:solidFill>
                  <a:srgbClr val="FFFFFF"/>
                </a:solidFill>
                <a:latin typeface="Segoe UI"/>
              </a:rPr>
              <a:t>See the queries running now, get alerted to any that run too long, and explore every table with its rows, size, indexes, structure, the CREATE statement and sample rows — so you know both what the database does and what it stores.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Concurrency &amp; availability</a:t>
            </a:r>
          </a:p>
          <a:p>
            <a:pPr algn="l">
              <a:spcBef>
                <a:spcPts val="400"/>
              </a:spcBef>
            </a:pPr>
            <a:r>
              <a:rPr sz="1100" b="0">
                <a:solidFill>
                  <a:srgbClr val="FFFFFF"/>
                </a:solidFill>
                <a:latin typeface="Segoe UI"/>
              </a:rPr>
              <a:t>Locks, active transactions and replication show whether sessions block each other or a replica is falling behind. Availability checks confirm the MySQL port is open and the service is actually running.</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Storage, backup &amp; logs</a:t>
            </a:r>
          </a:p>
          <a:p>
            <a:pPr algn="l">
              <a:spcBef>
                <a:spcPts val="400"/>
              </a:spcBef>
            </a:pPr>
            <a:r>
              <a:rPr sz="1100" b="0">
                <a:solidFill>
                  <a:srgbClr val="FFFFFF"/>
                </a:solidFill>
                <a:latin typeface="Segoe UI"/>
              </a:rPr>
              <a:t>Track where disk space is used, take backups with point-in-time recovery, and review the binary logs and their live events — together protecting your data and giving the history needed to investigate past problems.</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OVERVIEW METRICS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The most important numbers, explained in plain language.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Uptime &amp; version</a:t>
            </a:r>
          </a:p>
          <a:p>
            <a:pPr algn="l">
              <a:spcBef>
                <a:spcPts val="400"/>
              </a:spcBef>
            </a:pPr>
            <a:r>
              <a:rPr sz="1100" b="0">
                <a:solidFill>
                  <a:srgbClr val="FFFFFF"/>
                </a:solidFill>
                <a:latin typeface="Segoe UI"/>
              </a:rPr>
              <a:t>Uptime shows how long MySQL has run without a restart; a sudden reset to zero usually means an unexpected crash worth investigating. The version tells you exactly which MySQL build is running, which matters for features and known issues.</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Connections &amp; threads</a:t>
            </a:r>
          </a:p>
          <a:p>
            <a:pPr algn="l">
              <a:spcBef>
                <a:spcPts val="400"/>
              </a:spcBef>
            </a:pPr>
            <a:r>
              <a:rPr sz="1100" b="0">
                <a:solidFill>
                  <a:srgbClr val="FFFFFF"/>
                </a:solidFill>
                <a:latin typeface="Segoe UI"/>
              </a:rPr>
              <a:t>Connections show how many client sessions are in use out of the maximum, so you see if you are near the limit. Active threads show how many queries are executing right now, reflecting how busy the server is.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Cache hit %</a:t>
            </a:r>
          </a:p>
          <a:p>
            <a:pPr algn="l">
              <a:spcBef>
                <a:spcPts val="400"/>
              </a:spcBef>
            </a:pPr>
            <a:r>
              <a:rPr sz="1100" b="0">
                <a:solidFill>
                  <a:srgbClr val="FFFFFF"/>
                </a:solidFill>
                <a:latin typeface="Segoe UI"/>
              </a:rPr>
              <a:t>This is how often MySQL answers a read from memory instead of slower disk. A high value means the InnoDB buffer pool is well sized and reads are fast; a falling value is an early warning that memory pressure is hurting performance.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Questions &amp; slow queries</a:t>
            </a:r>
          </a:p>
          <a:p>
            <a:pPr algn="l">
              <a:spcBef>
                <a:spcPts val="400"/>
              </a:spcBef>
            </a:pPr>
            <a:r>
              <a:rPr sz="1100" b="0">
                <a:solidFill>
                  <a:srgbClr val="FFFFFF"/>
                </a:solidFill>
                <a:latin typeface="Segoe UI"/>
              </a:rPr>
              <a:t>Questions is the running total of queries executed — a simple measure of workload. Slow queries, both the count and the ratio, reveal how much of that workload runs slower than your threshold and therefore needs tuning.</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5059680"/>
            <a:ext cx="749808" cy="426719"/>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4632960"/>
            <a:ext cx="749808" cy="426719"/>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4206240"/>
            <a:ext cx="749808" cy="426719"/>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93976" y="4846320"/>
            <a:ext cx="749808" cy="64008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93976" y="4206240"/>
            <a:ext cx="749808" cy="64008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3976" y="3566160"/>
            <a:ext cx="749808" cy="64008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27832" y="4602480"/>
            <a:ext cx="749808" cy="88392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27832" y="3718560"/>
            <a:ext cx="749808" cy="88392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2834640"/>
            <a:ext cx="749808" cy="88392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4358640"/>
            <a:ext cx="749808" cy="112776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3230880"/>
            <a:ext cx="749808" cy="112776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2103120"/>
            <a:ext cx="749808" cy="112776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371600"/>
            <a:ext cx="5577840" cy="1371600"/>
          </a:xfrm>
          <a:prstGeom prst="rect">
            <a:avLst/>
          </a:prstGeom>
          <a:noFill/>
        </p:spPr>
        <p:txBody>
          <a:bodyPr wrap="square">
            <a:spAutoFit/>
          </a:bodyPr>
          <a:lstStyle/>
          <a:p>
            <a:pPr algn="l"/>
            <a:r>
              <a:rPr sz="3100" b="1">
                <a:solidFill>
                  <a:srgbClr val="1C4966"/>
                </a:solidFill>
                <a:latin typeface="Segoe UI"/>
              </a:rPr>
              <a:t>PERFORMANCE &amp; INNODB</a:t>
            </a:r>
          </a:p>
        </p:txBody>
      </p:sp>
      <p:sp>
        <p:nvSpPr>
          <p:cNvPr id="18" name="Rectangle 17"/>
          <p:cNvSpPr/>
          <p:nvPr/>
        </p:nvSpPr>
        <p:spPr>
          <a:xfrm>
            <a:off x="6181344" y="260604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834640"/>
            <a:ext cx="5623560" cy="3108960"/>
          </a:xfrm>
          <a:prstGeom prst="rect">
            <a:avLst/>
          </a:prstGeom>
          <a:noFill/>
        </p:spPr>
        <p:txBody>
          <a:bodyPr wrap="square">
            <a:spAutoFit/>
          </a:bodyPr>
          <a:lstStyle/>
          <a:p>
            <a:pPr algn="l"/>
            <a:r>
              <a:rPr sz="1300" b="0">
                <a:solidFill>
                  <a:srgbClr val="2C3B47"/>
                </a:solidFill>
                <a:latin typeface="Segoe UI"/>
              </a:rPr>
              <a:t>This view explains how efficiently the MySQL engine is serving your workload. The InnoDB buffer pool is the memory cache that holds your most-used table data; the higher its cache-hit ratio, the more reads are answered instantly from memory instead of slow disk. Alongside it you see running versus connected threads, which show how busy the server is, query throughput over time, and the volume of network data flowing in and out. The slow-query ratio ties it together by showing how much of the workload runs slower than expected — so you can tell at a glance whether the engine is comfortable or under strain.</a:t>
            </a:r>
          </a:p>
        </p:txBody>
      </p:sp>
      <p:sp>
        <p:nvSpPr>
          <p:cNvPr id="20" name="TextBox 19"/>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21" name="TextBox 20"/>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800" b="1">
                <a:solidFill>
                  <a:srgbClr val="1C4966"/>
                </a:solidFill>
                <a:latin typeface="Segoe UI"/>
              </a:rPr>
              <a:t>HOST RESOURCES</a:t>
            </a:r>
          </a:p>
          <a:p>
            <a:pPr algn="l">
              <a:spcBef>
                <a:spcPts val="1000"/>
              </a:spcBef>
            </a:pPr>
            <a:r>
              <a:rPr sz="1250" b="0">
                <a:solidFill>
                  <a:srgbClr val="1C4966"/>
                </a:solidFill>
                <a:latin typeface="Segoe UI"/>
              </a:rPr>
              <a:t>Actmon watches the machine MySQL runs on, not just the database. This is what lets you tell a real database problem apart from a noisy neighbour or an overloaded server.</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CPU, memory and disk</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You see the server's CPU usage out of 100 with its core count, how much RAM is used versus total, and how full the disk is — revealing whether the host has enough resources to run MySQL well.</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Top processes on demand</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Clicking a CPU or memory gauge lists the processes using the most resources, with MySQL clearly marked, instantly answering 'is it the database or something else?' without logging into the machine.</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History for spikes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Actmon keeps past resource samples, so when CPU or memory spikes you can look back at what was happening at that moment instead of relying on memory or guesswork — making intermittent problems far easier to investigate.</a:t>
            </a:r>
          </a:p>
        </p:txBody>
      </p:sp>
      <p:sp>
        <p:nvSpPr>
          <p:cNvPr id="16" name="TextBox 15"/>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QUERIES &amp; TABLES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From the live query down to a single row of data.</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Live queries</a:t>
            </a:r>
          </a:p>
          <a:p>
            <a:pPr algn="l">
              <a:spcBef>
                <a:spcPts val="400"/>
              </a:spcBef>
            </a:pPr>
            <a:r>
              <a:rPr sz="1100" b="0">
                <a:solidFill>
                  <a:srgbClr val="FFFFFF"/>
                </a:solidFill>
                <a:latin typeface="Segoe UI"/>
              </a:rPr>
              <a:t>The dashboard shows exactly what is executing right now, including the session id, user, database and how long each query has run. This is the first place to look when the database suddenly feels slow.</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Long-running alerts</a:t>
            </a:r>
          </a:p>
          <a:p>
            <a:pPr algn="l">
              <a:spcBef>
                <a:spcPts val="400"/>
              </a:spcBef>
            </a:pPr>
            <a:r>
              <a:rPr sz="1100" b="0">
                <a:solidFill>
                  <a:srgbClr val="FFFFFF"/>
                </a:solidFill>
                <a:latin typeface="Segoe UI"/>
              </a:rPr>
              <a:t>Any query running longer than expected is flagged automatically, so a single runaway statement does not quietly drag down the whole server. You can spot and stop these before they cause a wider slowdown.</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Full table explorer</a:t>
            </a:r>
          </a:p>
          <a:p>
            <a:pPr algn="l">
              <a:spcBef>
                <a:spcPts val="400"/>
              </a:spcBef>
            </a:pPr>
            <a:r>
              <a:rPr sz="1100" b="0">
                <a:solidFill>
                  <a:srgbClr val="FFFFFF"/>
                </a:solidFill>
                <a:latin typeface="Segoe UI"/>
              </a:rPr>
              <a:t>Every table is listed with its row count, engine and size. You can open any table to see its columns, indexes, constraints, foreign keys, the CREATE statement and triggers — the full structure in one place.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Sample data</a:t>
            </a:r>
          </a:p>
          <a:p>
            <a:pPr algn="l">
              <a:spcBef>
                <a:spcPts val="400"/>
              </a:spcBef>
            </a:pPr>
            <a:r>
              <a:rPr sz="1100" b="0">
                <a:solidFill>
                  <a:srgbClr val="FFFFFF"/>
                </a:solidFill>
                <a:latin typeface="Segoe UI"/>
              </a:rPr>
              <a:t>With one click you can preview real rows from a table. This helps you confirm what the data looks like while investigating an issue, without writing a separate query or opening another tool.</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HOW ISSUES ARE DETECTED</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Actmon catches trouble with live signals and availability checks.</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Live status badges</a:t>
            </a:r>
          </a:p>
          <a:p>
            <a:pPr algn="l">
              <a:spcBef>
                <a:spcPts val="400"/>
              </a:spcBef>
            </a:pPr>
            <a:r>
              <a:rPr sz="1100" b="0">
                <a:solidFill>
                  <a:srgbClr val="FFFFFF"/>
                </a:solidFill>
                <a:latin typeface="Segoe UI"/>
              </a:rPr>
              <a:t>Across the top, simple green and red badges summarise connections, cache hit, the slow-query log and replication. Anyone can glance at the colours and instantly know whether the database is healthy or needs attention.</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Long-running &amp; blocking</a:t>
            </a:r>
          </a:p>
          <a:p>
            <a:pPr algn="l">
              <a:spcBef>
                <a:spcPts val="400"/>
              </a:spcBef>
            </a:pPr>
            <a:r>
              <a:rPr sz="1100" b="0">
                <a:solidFill>
                  <a:srgbClr val="FFFFFF"/>
                </a:solidFill>
                <a:latin typeface="Segoe UI"/>
              </a:rPr>
              <a:t>Actmon warns when a query runs too long, and shows blocking locks where one session holds up others — the two most common causes of a database that suddenly feels stuck, surfaced automatically.</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Availability checks</a:t>
            </a:r>
          </a:p>
          <a:p>
            <a:pPr algn="l">
              <a:spcBef>
                <a:spcPts val="400"/>
              </a:spcBef>
            </a:pPr>
            <a:r>
              <a:rPr sz="1100" b="0">
                <a:solidFill>
                  <a:srgbClr val="FFFFFF"/>
                </a:solidFill>
                <a:latin typeface="Segoe UI"/>
              </a:rPr>
              <a:t>Beyond the data, Actmon confirms the basics: that the MySQL port is open and reachable, and that the MySQL process or service is actually running. If the database is down, you know straight away.</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Automatic error-log scan</a:t>
            </a:r>
          </a:p>
          <a:p>
            <a:pPr algn="l">
              <a:spcBef>
                <a:spcPts val="400"/>
              </a:spcBef>
            </a:pPr>
            <a:r>
              <a:rPr sz="1100" b="0">
                <a:solidFill>
                  <a:srgbClr val="FFFFFF"/>
                </a:solidFill>
                <a:latin typeface="Segoe UI"/>
              </a:rPr>
              <a:t>Actmon reads the latest MySQL error-log entries for you and highlights the important ones, so problems recorded by the database itself are never missed sitting unread in a log file on the server.</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800" b="1">
                <a:solidFill>
                  <a:srgbClr val="1C4966"/>
                </a:solidFill>
                <a:latin typeface="Segoe UI"/>
              </a:rPr>
              <a:t>ERROR HANDLING WITH AI</a:t>
            </a:r>
          </a:p>
          <a:p>
            <a:pPr algn="l">
              <a:spcBef>
                <a:spcPts val="1000"/>
              </a:spcBef>
            </a:pPr>
            <a:r>
              <a:rPr sz="1250" b="0">
                <a:solidFill>
                  <a:srgbClr val="1C4966"/>
                </a:solidFill>
                <a:latin typeface="Segoe UI"/>
              </a:rPr>
              <a:t>MySQL error messages can be cryptic. Actmon shows the error log clearly and uses AI to translate each entry into plain language with a fix — so even a junior team member can act with confidence.</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Read and filter</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View the MySQL error-log entries in the dashboard and filter them by severity, so you focus on genuine problems instead of scrolling through routine noise.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AI explanation</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any error and the AI explains, in simple words, what it means and why it most likely happened — turning a confusing technical message into something anyone can understand.</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Clear fix steps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Along with the explanation you get a short list of concrete next actions to resolve the error, removing guesswork and helping the issue get fixed correctly the first time.</a:t>
            </a:r>
          </a:p>
        </p:txBody>
      </p:sp>
      <p:sp>
        <p:nvSpPr>
          <p:cNvPr id="16" name="TextBox 15"/>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SLOW QUERY ANALYSIS (AI)</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Turn a difficult tuning task into a simple checklist.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Find the slow queries</a:t>
            </a:r>
          </a:p>
          <a:p>
            <a:pPr algn="l">
              <a:spcBef>
                <a:spcPts val="400"/>
              </a:spcBef>
            </a:pPr>
            <a:r>
              <a:rPr sz="1100" b="0">
                <a:solidFill>
                  <a:srgbClr val="FFFFFF"/>
                </a:solidFill>
                <a:latin typeface="Segoe UI"/>
              </a:rPr>
              <a:t>Actmon lists the slowest statements running against your database, ranked so the worst offenders are easy to spot. You start from a clear, prioritised list instead of hunting through logs.</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One-click analysis</a:t>
            </a:r>
          </a:p>
          <a:p>
            <a:pPr algn="l">
              <a:spcBef>
                <a:spcPts val="400"/>
              </a:spcBef>
            </a:pPr>
            <a:r>
              <a:rPr sz="1100" b="0">
                <a:solidFill>
                  <a:srgbClr val="FFFFFF"/>
                </a:solidFill>
                <a:latin typeface="Segoe UI"/>
              </a:rPr>
              <a:t>Click any query and Actmon sends it to the AI for a full review. There is nothing to copy, paste or configure — the analysis opens in its own window automatically.</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Plain-language cause</a:t>
            </a:r>
          </a:p>
          <a:p>
            <a:pPr algn="l">
              <a:spcBef>
                <a:spcPts val="400"/>
              </a:spcBef>
            </a:pPr>
            <a:r>
              <a:rPr sz="1100" b="0">
                <a:solidFill>
                  <a:srgbClr val="FFFFFF"/>
                </a:solidFill>
                <a:latin typeface="Segoe UI"/>
              </a:rPr>
              <a:t>The AI returns a severity rating and explains the root cause in everyday language, such as a missing index or a query reading far more rows than it needs to return.</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Concrete fix</a:t>
            </a:r>
          </a:p>
          <a:p>
            <a:pPr algn="l">
              <a:spcBef>
                <a:spcPts val="400"/>
              </a:spcBef>
            </a:pPr>
            <a:r>
              <a:rPr sz="1100" b="0">
                <a:solidFill>
                  <a:srgbClr val="FFFFFF"/>
                </a:solidFill>
                <a:latin typeface="Segoe UI"/>
              </a:rPr>
              <a:t>You get a suggested CREATE INDEX or a rewritten version of the query, plus the most important actions listed first, so you know exactly what to do next.</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800" b="1">
                <a:solidFill>
                  <a:srgbClr val="1C4966"/>
                </a:solidFill>
                <a:latin typeface="Segoe UI"/>
              </a:rPr>
              <a:t>INDEX ANALYSIS</a:t>
            </a:r>
          </a:p>
          <a:p>
            <a:pPr algn="l">
              <a:spcBef>
                <a:spcPts val="1000"/>
              </a:spcBef>
            </a:pPr>
            <a:r>
              <a:rPr sz="1250" b="0">
                <a:solidFill>
                  <a:srgbClr val="1C4966"/>
                </a:solidFill>
                <a:latin typeface="Segoe UI"/>
              </a:rPr>
              <a:t>Indexes are the single biggest factor in how fast queries run. Actmon shows where your indexes help, where they are wasted, and where adding one would turn a slow query into an instant one.</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Index usage</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See which indexes your queries actually use. Indexes that are never used still cost storage and slow every insert and update, so knowing what is used is the first step to a lean schema.</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Unused indexes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Actmon highlights indexes that are not used at all. Removing them frees space and speeds up writes, with no downside to read performance.</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Missing indexes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For slow queries, Actmon suggests specific indexes that would speed them up — often turning a full-table scan into an instant lookup — giving you the exact index to add, not just a hint.</a:t>
            </a:r>
          </a:p>
        </p:txBody>
      </p:sp>
      <p:sp>
        <p:nvSpPr>
          <p:cNvPr id="16" name="TextBox 15"/>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SELF-HEALING — GUIDED &amp; SAFE</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Fix common problems with safety built in at every step.</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Diagnose first</a:t>
            </a:r>
          </a:p>
          <a:p>
            <a:pPr algn="l">
              <a:spcBef>
                <a:spcPts val="400"/>
              </a:spcBef>
            </a:pPr>
            <a:r>
              <a:rPr sz="1100" b="0">
                <a:solidFill>
                  <a:srgbClr val="FFFFFF"/>
                </a:solidFill>
                <a:latin typeface="Segoe UI"/>
              </a:rPr>
              <a:t>Actmon can run in diagnose-only mode, where it inspects the problem and reports what it found without changing anything at all. This lets you understand the situation safely before deciding whether to act.</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Guided fixes</a:t>
            </a:r>
          </a:p>
          <a:p>
            <a:pPr algn="l">
              <a:spcBef>
                <a:spcPts val="400"/>
              </a:spcBef>
            </a:pPr>
            <a:r>
              <a:rPr sz="1100" b="0">
                <a:solidFill>
                  <a:srgbClr val="FFFFFF"/>
                </a:solidFill>
                <a:latin typeface="Segoe UI"/>
              </a:rPr>
              <a:t>When a fix is marked safe, Actmon can perform it: ending a process that blocks MySQL's port, removing a configuration value that stops MySQL starting, or starting the MySQL service if it is down.</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Safety gate</a:t>
            </a:r>
          </a:p>
          <a:p>
            <a:pPr algn="l">
              <a:spcBef>
                <a:spcPts val="400"/>
              </a:spcBef>
            </a:pPr>
            <a:r>
              <a:rPr sz="1100" b="0">
                <a:solidFill>
                  <a:srgbClr val="FFFFFF"/>
                </a:solidFill>
                <a:latin typeface="Segoe UI"/>
              </a:rPr>
              <a:t>Write or repair actions never run automatically. They proceed only when flagged safe to auto-heal, so the system cannot make a risky change on its own — you stay in control of anything that alters the server.</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Full history</a:t>
            </a:r>
          </a:p>
          <a:p>
            <a:pPr algn="l">
              <a:spcBef>
                <a:spcPts val="400"/>
              </a:spcBef>
            </a:pPr>
            <a:r>
              <a:rPr sz="1100" b="0">
                <a:solidFill>
                  <a:srgbClr val="FFFFFF"/>
                </a:solidFill>
                <a:latin typeface="Segoe UI"/>
              </a:rPr>
              <a:t>Every self-heal action is recorded with what was done and when, giving you a complete audit trail so you can always review what the system changed.</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ROOT-CAUSE DRILL-DOWN</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Go from a high-level metric to the real reason behind it.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Start at the metric</a:t>
            </a:r>
          </a:p>
          <a:p>
            <a:pPr algn="l">
              <a:spcBef>
                <a:spcPts val="400"/>
              </a:spcBef>
            </a:pPr>
            <a:r>
              <a:rPr sz="1100" b="0">
                <a:solidFill>
                  <a:srgbClr val="FFFFFF"/>
                </a:solidFill>
                <a:latin typeface="Segoe UI"/>
              </a:rPr>
              <a:t>When CPU or memory looks high, click that gauge to begin. There is no need to know any commands — the drill-down guides you from the symptom toward the cause step by step.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See the top processes</a:t>
            </a:r>
          </a:p>
          <a:p>
            <a:pPr algn="l">
              <a:spcBef>
                <a:spcPts val="400"/>
              </a:spcBef>
            </a:pPr>
            <a:r>
              <a:rPr sz="1100" b="0">
                <a:solidFill>
                  <a:srgbClr val="FFFFFF"/>
                </a:solidFill>
                <a:latin typeface="Segoe UI"/>
              </a:rPr>
              <a:t>Actmon shows the processes using the most CPU or memory on the server, with MySQL clearly identified, so you immediately see whether the database is the heavy one or not.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Drill into the database</a:t>
            </a:r>
          </a:p>
          <a:p>
            <a:pPr algn="l">
              <a:spcBef>
                <a:spcPts val="400"/>
              </a:spcBef>
            </a:pPr>
            <a:r>
              <a:rPr sz="1100" b="0">
                <a:solidFill>
                  <a:srgbClr val="FFFFFF"/>
                </a:solidFill>
                <a:latin typeface="Segoe UI"/>
              </a:rPr>
              <a:t>From there you go deeper into the database's own sessions and queries to find the specific statement responsible, connecting the high-level metric to a real, fixable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Root-cause report</a:t>
            </a:r>
          </a:p>
          <a:p>
            <a:pPr algn="l">
              <a:spcBef>
                <a:spcPts val="400"/>
              </a:spcBef>
            </a:pPr>
            <a:r>
              <a:rPr sz="1100" b="0">
                <a:solidFill>
                  <a:srgbClr val="FFFFFF"/>
                </a:solidFill>
                <a:latin typeface="Segoe UI"/>
              </a:rPr>
              <a:t>Finally Actmon produces a report stating clearly whether the database or an external process caused the spike, with a simple CPU breakdown that always adds up to 100% (database + other + idle).</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800" b="1">
                <a:solidFill>
                  <a:srgbClr val="1C4966"/>
                </a:solidFill>
                <a:latin typeface="Segoe UI"/>
              </a:rPr>
              <a:t>BACKUP, RECOVERY &amp; REPORTS</a:t>
            </a:r>
          </a:p>
          <a:p>
            <a:pPr algn="l">
              <a:spcBef>
                <a:spcPts val="1000"/>
              </a:spcBef>
            </a:pPr>
            <a:r>
              <a:rPr sz="1250" b="0">
                <a:solidFill>
                  <a:srgbClr val="1C4966"/>
                </a:solidFill>
                <a:latin typeface="Segoe UI"/>
              </a:rPr>
              <a:t>Monitoring is only half the job — Actmon also helps you protect the data and keep stakeholders informed, all from the same dashboard.</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Backups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Take MySQL backups and track their status from Actmon, so you always know a recent, usable copy of your data exists.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Point-in-time recovery</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Beyond restoring the last backup, this lets you bring the database back to a specific moment — invaluable for undoing an accidental change or recovering right up to the instant before a failure.</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Scheduled reports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Actmon can generate reports and email them automatically on a schedule you choose, so managers and stakeholders get regular updates without anyone preparing them by hand.</a:t>
            </a:r>
          </a:p>
        </p:txBody>
      </p:sp>
      <p:sp>
        <p:nvSpPr>
          <p:cNvPr id="16" name="TextBox 15"/>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800" b="1">
                <a:solidFill>
                  <a:srgbClr val="1C4966"/>
                </a:solidFill>
                <a:latin typeface="Segoe UI"/>
              </a:rPr>
              <a:t>KEY METRICS — QUICK REFERENCE</a:t>
            </a:r>
          </a:p>
        </p:txBody>
      </p:sp>
      <p:sp>
        <p:nvSpPr>
          <p:cNvPr id="6" name="Rectangle 5"/>
          <p:cNvSpPr/>
          <p:nvPr/>
        </p:nvSpPr>
        <p:spPr>
          <a:xfrm>
            <a:off x="603504" y="118872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0972800" cy="457200"/>
          </a:xfrm>
          <a:prstGeom prst="rect">
            <a:avLst/>
          </a:prstGeom>
          <a:noFill/>
        </p:spPr>
        <p:txBody>
          <a:bodyPr wrap="square">
            <a:spAutoFit/>
          </a:bodyPr>
          <a:lstStyle/>
          <a:p>
            <a:pPr algn="l"/>
            <a:r>
              <a:rPr sz="1300" b="0">
                <a:solidFill>
                  <a:srgbClr val="2C3B47"/>
                </a:solidFill>
                <a:latin typeface="Segoe UI"/>
              </a:rPr>
              <a:t>A simple cheat-sheet of what each metric means and where to find it.</a:t>
            </a:r>
          </a:p>
        </p:txBody>
      </p:sp>
      <p:graphicFrame>
        <p:nvGraphicFramePr>
          <p:cNvPr id="8" name="Table 7"/>
          <p:cNvGraphicFramePr>
            <a:graphicFrameLocks noGrp="1"/>
          </p:cNvGraphicFramePr>
          <p:nvPr/>
        </p:nvGraphicFramePr>
        <p:xfrm>
          <a:off x="548640" y="1920240"/>
          <a:ext cx="11064240" cy="41148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200" b="1">
                          <a:solidFill>
                            <a:srgbClr val="FFFFFF"/>
                          </a:solidFill>
                          <a:latin typeface="Segoe UI"/>
                        </a:rPr>
                        <a:t>Metric</a:t>
                      </a:r>
                    </a:p>
                  </a:txBody>
                  <a:tcPr>
                    <a:solidFill>
                      <a:srgbClr val="1C4966"/>
                    </a:solidFill>
                  </a:tcPr>
                </a:tc>
                <a:tc>
                  <a:txBody>
                    <a:bodyPr/>
                    <a:lstStyle/>
                    <a:p>
                      <a:r>
                        <a:rPr sz="1200" b="1">
                          <a:solidFill>
                            <a:srgbClr val="FFFFFF"/>
                          </a:solidFill>
                          <a:latin typeface="Segoe UI"/>
                        </a:rPr>
                        <a:t>What it tells you</a:t>
                      </a:r>
                    </a:p>
                  </a:txBody>
                  <a:tcPr>
                    <a:solidFill>
                      <a:srgbClr val="1C4966"/>
                    </a:solidFill>
                  </a:tcPr>
                </a:tc>
                <a:tc>
                  <a:txBody>
                    <a:bodyPr/>
                    <a:lstStyle/>
                    <a:p>
                      <a:r>
                        <a:rPr sz="1200" b="1">
                          <a:solidFill>
                            <a:srgbClr val="FFFFFF"/>
                          </a:solidFill>
                          <a:latin typeface="Segoe UI"/>
                        </a:rPr>
                        <a:t>Where to see it</a:t>
                      </a:r>
                    </a:p>
                  </a:txBody>
                  <a:tcPr>
                    <a:solidFill>
                      <a:srgbClr val="1C4966"/>
                    </a:solidFill>
                  </a:tcPr>
                </a:tc>
              </a:tr>
              <a:tr h="457200">
                <a:tc>
                  <a:txBody>
                    <a:bodyPr/>
                    <a:lstStyle/>
                    <a:p>
                      <a:r>
                        <a:rPr sz="1100">
                          <a:solidFill>
                            <a:srgbClr val="2C3B47"/>
                          </a:solidFill>
                          <a:latin typeface="Segoe UI"/>
                        </a:rPr>
                        <a:t>Connections used</a:t>
                      </a:r>
                    </a:p>
                  </a:txBody>
                  <a:tcPr>
                    <a:solidFill>
                      <a:srgbClr val="FFFFFF"/>
                    </a:solidFill>
                  </a:tcPr>
                </a:tc>
                <a:tc>
                  <a:txBody>
                    <a:bodyPr/>
                    <a:lstStyle/>
                    <a:p>
                      <a:r>
                        <a:rPr sz="1100">
                          <a:solidFill>
                            <a:srgbClr val="2C3B47"/>
                          </a:solidFill>
                          <a:latin typeface="Segoe UI"/>
                        </a:rPr>
                        <a:t>client connections vs the maximum allowed</a:t>
                      </a:r>
                    </a:p>
                  </a:txBody>
                  <a:tcPr>
                    <a:solidFill>
                      <a:srgbClr val="FFFFFF"/>
                    </a:solidFill>
                  </a:tcPr>
                </a:tc>
                <a:tc>
                  <a:txBody>
                    <a:bodyPr/>
                    <a:lstStyle/>
                    <a:p>
                      <a:r>
                        <a:rPr sz="1100">
                          <a:solidFill>
                            <a:srgbClr val="2C3B47"/>
                          </a:solidFill>
                          <a:latin typeface="Segoe UI"/>
                        </a:rPr>
                        <a:t>Overview</a:t>
                      </a:r>
                    </a:p>
                  </a:txBody>
                  <a:tcPr>
                    <a:solidFill>
                      <a:srgbClr val="FFFFFF"/>
                    </a:solidFill>
                  </a:tcPr>
                </a:tc>
              </a:tr>
              <a:tr h="457200">
                <a:tc>
                  <a:txBody>
                    <a:bodyPr/>
                    <a:lstStyle/>
                    <a:p>
                      <a:r>
                        <a:rPr sz="1100">
                          <a:solidFill>
                            <a:srgbClr val="2C3B47"/>
                          </a:solidFill>
                          <a:latin typeface="Segoe UI"/>
                        </a:rPr>
                        <a:t>Cache hit %</a:t>
                      </a:r>
                    </a:p>
                  </a:txBody>
                  <a:tcPr>
                    <a:solidFill>
                      <a:srgbClr val="E6EFF4"/>
                    </a:solidFill>
                  </a:tcPr>
                </a:tc>
                <a:tc>
                  <a:txBody>
                    <a:bodyPr/>
                    <a:lstStyle/>
                    <a:p>
                      <a:r>
                        <a:rPr sz="1100">
                          <a:solidFill>
                            <a:srgbClr val="2C3B47"/>
                          </a:solidFill>
                          <a:latin typeface="Segoe UI"/>
                        </a:rPr>
                        <a:t>how often reads are served from memory</a:t>
                      </a:r>
                    </a:p>
                  </a:txBody>
                  <a:tcPr>
                    <a:solidFill>
                      <a:srgbClr val="E6EFF4"/>
                    </a:solidFill>
                  </a:tcPr>
                </a:tc>
                <a:tc>
                  <a:txBody>
                    <a:bodyPr/>
                    <a:lstStyle/>
                    <a:p>
                      <a:r>
                        <a:rPr sz="1100">
                          <a:solidFill>
                            <a:srgbClr val="2C3B47"/>
                          </a:solidFill>
                          <a:latin typeface="Segoe UI"/>
                        </a:rPr>
                        <a:t>Performance</a:t>
                      </a:r>
                    </a:p>
                  </a:txBody>
                  <a:tcPr>
                    <a:solidFill>
                      <a:srgbClr val="E6EFF4"/>
                    </a:solidFill>
                  </a:tcPr>
                </a:tc>
              </a:tr>
              <a:tr h="457200">
                <a:tc>
                  <a:txBody>
                    <a:bodyPr/>
                    <a:lstStyle/>
                    <a:p>
                      <a:r>
                        <a:rPr sz="1100">
                          <a:solidFill>
                            <a:srgbClr val="2C3B47"/>
                          </a:solidFill>
                          <a:latin typeface="Segoe UI"/>
                        </a:rPr>
                        <a:t>Active threads</a:t>
                      </a:r>
                    </a:p>
                  </a:txBody>
                  <a:tcPr>
                    <a:solidFill>
                      <a:srgbClr val="FFFFFF"/>
                    </a:solidFill>
                  </a:tcPr>
                </a:tc>
                <a:tc>
                  <a:txBody>
                    <a:bodyPr/>
                    <a:lstStyle/>
                    <a:p>
                      <a:r>
                        <a:rPr sz="1100">
                          <a:solidFill>
                            <a:srgbClr val="2C3B47"/>
                          </a:solidFill>
                          <a:latin typeface="Segoe UI"/>
                        </a:rPr>
                        <a:t>queries running at this moment</a:t>
                      </a:r>
                    </a:p>
                  </a:txBody>
                  <a:tcPr>
                    <a:solidFill>
                      <a:srgbClr val="FFFFFF"/>
                    </a:solidFill>
                  </a:tcPr>
                </a:tc>
                <a:tc>
                  <a:txBody>
                    <a:bodyPr/>
                    <a:lstStyle/>
                    <a:p>
                      <a:r>
                        <a:rPr sz="1100">
                          <a:solidFill>
                            <a:srgbClr val="2C3B47"/>
                          </a:solidFill>
                          <a:latin typeface="Segoe UI"/>
                        </a:rPr>
                        <a:t>Overview</a:t>
                      </a:r>
                    </a:p>
                  </a:txBody>
                  <a:tcPr>
                    <a:solidFill>
                      <a:srgbClr val="FFFFFF"/>
                    </a:solidFill>
                  </a:tcPr>
                </a:tc>
              </a:tr>
              <a:tr h="457200">
                <a:tc>
                  <a:txBody>
                    <a:bodyPr/>
                    <a:lstStyle/>
                    <a:p>
                      <a:r>
                        <a:rPr sz="1100">
                          <a:solidFill>
                            <a:srgbClr val="2C3B47"/>
                          </a:solidFill>
                          <a:latin typeface="Segoe UI"/>
                        </a:rPr>
                        <a:t>Slow query ratio</a:t>
                      </a:r>
                    </a:p>
                  </a:txBody>
                  <a:tcPr>
                    <a:solidFill>
                      <a:srgbClr val="E6EFF4"/>
                    </a:solidFill>
                  </a:tcPr>
                </a:tc>
                <a:tc>
                  <a:txBody>
                    <a:bodyPr/>
                    <a:lstStyle/>
                    <a:p>
                      <a:r>
                        <a:rPr sz="1100">
                          <a:solidFill>
                            <a:srgbClr val="2C3B47"/>
                          </a:solidFill>
                          <a:latin typeface="Segoe UI"/>
                        </a:rPr>
                        <a:t>share of queries that are slow</a:t>
                      </a:r>
                    </a:p>
                  </a:txBody>
                  <a:tcPr>
                    <a:solidFill>
                      <a:srgbClr val="E6EFF4"/>
                    </a:solidFill>
                  </a:tcPr>
                </a:tc>
                <a:tc>
                  <a:txBody>
                    <a:bodyPr/>
                    <a:lstStyle/>
                    <a:p>
                      <a:r>
                        <a:rPr sz="1100">
                          <a:solidFill>
                            <a:srgbClr val="2C3B47"/>
                          </a:solidFill>
                          <a:latin typeface="Segoe UI"/>
                        </a:rPr>
                        <a:t>Slow Queries</a:t>
                      </a:r>
                    </a:p>
                  </a:txBody>
                  <a:tcPr>
                    <a:solidFill>
                      <a:srgbClr val="E6EFF4"/>
                    </a:solidFill>
                  </a:tcPr>
                </a:tc>
              </a:tr>
              <a:tr h="457200">
                <a:tc>
                  <a:txBody>
                    <a:bodyPr/>
                    <a:lstStyle/>
                    <a:p>
                      <a:r>
                        <a:rPr sz="1100">
                          <a:solidFill>
                            <a:srgbClr val="2C3B47"/>
                          </a:solidFill>
                          <a:latin typeface="Segoe UI"/>
                        </a:rPr>
                        <a:t>Host CPU %</a:t>
                      </a:r>
                    </a:p>
                  </a:txBody>
                  <a:tcPr>
                    <a:solidFill>
                      <a:srgbClr val="FFFFFF"/>
                    </a:solidFill>
                  </a:tcPr>
                </a:tc>
                <a:tc>
                  <a:txBody>
                    <a:bodyPr/>
                    <a:lstStyle/>
                    <a:p>
                      <a:r>
                        <a:rPr sz="1100">
                          <a:solidFill>
                            <a:srgbClr val="2C3B47"/>
                          </a:solidFill>
                          <a:latin typeface="Segoe UI"/>
                        </a:rPr>
                        <a:t>server CPU usage out of 100</a:t>
                      </a:r>
                    </a:p>
                  </a:txBody>
                  <a:tcPr>
                    <a:solidFill>
                      <a:srgbClr val="FFFFFF"/>
                    </a:solidFill>
                  </a:tcPr>
                </a:tc>
                <a:tc>
                  <a:txBody>
                    <a:bodyPr/>
                    <a:lstStyle/>
                    <a:p>
                      <a:r>
                        <a:rPr sz="1100">
                          <a:solidFill>
                            <a:srgbClr val="2C3B47"/>
                          </a:solidFill>
                          <a:latin typeface="Segoe UI"/>
                        </a:rPr>
                        <a:t>Host Resources</a:t>
                      </a:r>
                    </a:p>
                  </a:txBody>
                  <a:tcPr>
                    <a:solidFill>
                      <a:srgbClr val="FFFFFF"/>
                    </a:solidFill>
                  </a:tcPr>
                </a:tc>
              </a:tr>
              <a:tr h="457200">
                <a:tc>
                  <a:txBody>
                    <a:bodyPr/>
                    <a:lstStyle/>
                    <a:p>
                      <a:r>
                        <a:rPr sz="1100">
                          <a:solidFill>
                            <a:srgbClr val="2C3B47"/>
                          </a:solidFill>
                          <a:latin typeface="Segoe UI"/>
                        </a:rPr>
                        <a:t>RAM &amp; Disk</a:t>
                      </a:r>
                    </a:p>
                  </a:txBody>
                  <a:tcPr>
                    <a:solidFill>
                      <a:srgbClr val="E6EFF4"/>
                    </a:solidFill>
                  </a:tcPr>
                </a:tc>
                <a:tc>
                  <a:txBody>
                    <a:bodyPr/>
                    <a:lstStyle/>
                    <a:p>
                      <a:r>
                        <a:rPr sz="1100">
                          <a:solidFill>
                            <a:srgbClr val="2C3B47"/>
                          </a:solidFill>
                          <a:latin typeface="Segoe UI"/>
                        </a:rPr>
                        <a:t>server memory and disk usage</a:t>
                      </a:r>
                    </a:p>
                  </a:txBody>
                  <a:tcPr>
                    <a:solidFill>
                      <a:srgbClr val="E6EFF4"/>
                    </a:solidFill>
                  </a:tcPr>
                </a:tc>
                <a:tc>
                  <a:txBody>
                    <a:bodyPr/>
                    <a:lstStyle/>
                    <a:p>
                      <a:r>
                        <a:rPr sz="1100">
                          <a:solidFill>
                            <a:srgbClr val="2C3B47"/>
                          </a:solidFill>
                          <a:latin typeface="Segoe UI"/>
                        </a:rPr>
                        <a:t>Host Resources</a:t>
                      </a:r>
                    </a:p>
                  </a:txBody>
                  <a:tcPr>
                    <a:solidFill>
                      <a:srgbClr val="E6EFF4"/>
                    </a:solidFill>
                  </a:tcPr>
                </a:tc>
              </a:tr>
              <a:tr h="457200">
                <a:tc>
                  <a:txBody>
                    <a:bodyPr/>
                    <a:lstStyle/>
                    <a:p>
                      <a:r>
                        <a:rPr sz="1100">
                          <a:solidFill>
                            <a:srgbClr val="2C3B47"/>
                          </a:solidFill>
                          <a:latin typeface="Segoe UI"/>
                        </a:rPr>
                        <a:t>Replication state</a:t>
                      </a:r>
                    </a:p>
                  </a:txBody>
                  <a:tcPr>
                    <a:solidFill>
                      <a:srgbClr val="FFFFFF"/>
                    </a:solidFill>
                  </a:tcPr>
                </a:tc>
                <a:tc>
                  <a:txBody>
                    <a:bodyPr/>
                    <a:lstStyle/>
                    <a:p>
                      <a:r>
                        <a:rPr sz="1100">
                          <a:solidFill>
                            <a:srgbClr val="2C3B47"/>
                          </a:solidFill>
                          <a:latin typeface="Segoe UI"/>
                        </a:rPr>
                        <a:t>replica or standalone</a:t>
                      </a:r>
                    </a:p>
                  </a:txBody>
                  <a:tcPr>
                    <a:solidFill>
                      <a:srgbClr val="FFFFFF"/>
                    </a:solidFill>
                  </a:tcPr>
                </a:tc>
                <a:tc>
                  <a:txBody>
                    <a:bodyPr/>
                    <a:lstStyle/>
                    <a:p>
                      <a:r>
                        <a:rPr sz="1100">
                          <a:solidFill>
                            <a:srgbClr val="2C3B47"/>
                          </a:solidFill>
                          <a:latin typeface="Segoe UI"/>
                        </a:rPr>
                        <a:t>Replication</a:t>
                      </a:r>
                    </a:p>
                  </a:txBody>
                  <a:tcPr>
                    <a:solidFill>
                      <a:srgbClr val="FFFFFF"/>
                    </a:solidFill>
                  </a:tcPr>
                </a:tc>
              </a:tr>
              <a:tr h="457200">
                <a:tc>
                  <a:txBody>
                    <a:bodyPr/>
                    <a:lstStyle/>
                    <a:p>
                      <a:r>
                        <a:rPr sz="1100">
                          <a:solidFill>
                            <a:srgbClr val="2C3B47"/>
                          </a:solidFill>
                          <a:latin typeface="Segoe UI"/>
                        </a:rPr>
                        <a:t>Binlog status</a:t>
                      </a:r>
                    </a:p>
                  </a:txBody>
                  <a:tcPr>
                    <a:solidFill>
                      <a:srgbClr val="E6EFF4"/>
                    </a:solidFill>
                  </a:tcPr>
                </a:tc>
                <a:tc>
                  <a:txBody>
                    <a:bodyPr/>
                    <a:lstStyle/>
                    <a:p>
                      <a:r>
                        <a:rPr sz="1100">
                          <a:solidFill>
                            <a:srgbClr val="2C3B47"/>
                          </a:solidFill>
                          <a:latin typeface="Segoe UI"/>
                        </a:rPr>
                        <a:t>binary logging on/off and format</a:t>
                      </a:r>
                    </a:p>
                  </a:txBody>
                  <a:tcPr>
                    <a:solidFill>
                      <a:srgbClr val="E6EFF4"/>
                    </a:solidFill>
                  </a:tcPr>
                </a:tc>
                <a:tc>
                  <a:txBody>
                    <a:bodyPr/>
                    <a:lstStyle/>
                    <a:p>
                      <a:r>
                        <a:rPr sz="1100">
                          <a:solidFill>
                            <a:srgbClr val="2C3B47"/>
                          </a:solidFill>
                          <a:latin typeface="Segoe UI"/>
                        </a:rPr>
                        <a:t>Logs</a:t>
                      </a:r>
                    </a:p>
                  </a:txBody>
                  <a:tcPr>
                    <a:solidFill>
                      <a:srgbClr val="E6EFF4"/>
                    </a:solidFill>
                  </a:tcPr>
                </a:tc>
              </a:tr>
            </a:tbl>
          </a:graphicData>
        </a:graphic>
      </p:graphicFrame>
      <p:sp>
        <p:nvSpPr>
          <p:cNvPr id="9" name="TextBox 8"/>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3000" b="1">
                <a:solidFill>
                  <a:srgbClr val="1C4966"/>
                </a:solidFill>
                <a:latin typeface="Segoe UI"/>
              </a:rPr>
              <a:t>SUMMARY</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One screen to monitor, detect, analyse, heal, protect and report on MySQL.</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Monitor &amp; detect</a:t>
            </a:r>
          </a:p>
          <a:p>
            <a:pPr algn="l">
              <a:spcBef>
                <a:spcPts val="400"/>
              </a:spcBef>
            </a:pPr>
            <a:r>
              <a:rPr sz="1100" b="0">
                <a:solidFill>
                  <a:srgbClr val="FFFFFF"/>
                </a:solidFill>
                <a:latin typeface="Segoe UI"/>
              </a:rPr>
              <a:t>Actmon continuously watches the database and its server, and raises clear, colour-coded signals the moment connections, cache, queries or availability look wrong.</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Analyse with AI</a:t>
            </a:r>
          </a:p>
          <a:p>
            <a:pPr algn="l">
              <a:spcBef>
                <a:spcPts val="400"/>
              </a:spcBef>
            </a:pPr>
            <a:r>
              <a:rPr sz="1100" b="0">
                <a:solidFill>
                  <a:srgbClr val="FFFFFF"/>
                </a:solidFill>
                <a:latin typeface="Segoe UI"/>
              </a:rPr>
              <a:t>For slow queries and errors, built-in AI explains the cause in plain language and suggests concrete fixes, making expert-level troubleshooting available to the whole team.</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Heal &amp; protect</a:t>
            </a:r>
          </a:p>
          <a:p>
            <a:pPr algn="l">
              <a:spcBef>
                <a:spcPts val="400"/>
              </a:spcBef>
            </a:pPr>
            <a:r>
              <a:rPr sz="1100" b="0">
                <a:solidFill>
                  <a:srgbClr val="FFFFFF"/>
                </a:solidFill>
                <a:latin typeface="Segoe UI"/>
              </a:rPr>
              <a:t>Guided, permission-gated self-heal resolves common problems safely, while backups and point-in-time recovery keep your data protected against mistakes and failures.</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Report &amp; govern</a:t>
            </a:r>
          </a:p>
          <a:p>
            <a:pPr algn="l">
              <a:spcBef>
                <a:spcPts val="400"/>
              </a:spcBef>
            </a:pPr>
            <a:r>
              <a:rPr sz="1100" b="0">
                <a:solidFill>
                  <a:srgbClr val="FFFFFF"/>
                </a:solidFill>
                <a:latin typeface="Segoe UI"/>
              </a:rPr>
              <a:t>Scheduled reports keep everyone informed, and role-based access ensures each user only sees and does what their role allows.</a:t>
            </a:r>
          </a:p>
        </p:txBody>
      </p:sp>
      <p:sp>
        <p:nvSpPr>
          <p:cNvPr id="12" name="TextBox 11"/>
          <p:cNvSpPr txBox="1"/>
          <p:nvPr/>
        </p:nvSpPr>
        <p:spPr>
          <a:xfrm>
            <a:off x="502920" y="6473952"/>
            <a:ext cx="7315200" cy="274320"/>
          </a:xfrm>
          <a:prstGeom prst="rect">
            <a:avLst/>
          </a:prstGeom>
          <a:noFill/>
        </p:spPr>
        <p:txBody>
          <a:bodyPr wrap="square">
            <a:spAutoFit/>
          </a:bodyPr>
          <a:lstStyle/>
          <a:p>
            <a:pPr algn="l"/>
            <a:r>
              <a:rPr sz="900" b="0">
                <a:solidFill>
                  <a:srgbClr val="5E6B76"/>
                </a:solidFill>
                <a:latin typeface="Segoe UI"/>
              </a:rPr>
              <a:t>Actmon  ·  MySQL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