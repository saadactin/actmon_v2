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5486400" cy="365760"/>
          </a:xfrm>
          <a:prstGeom prst="rect">
            <a:avLst/>
          </a:prstGeom>
          <a:noFill/>
        </p:spPr>
        <p:txBody>
          <a:bodyPr wrap="square">
            <a:spAutoFit/>
          </a:bodyPr>
          <a:lstStyle/>
          <a:p>
            <a:pPr algn="l"/>
            <a:r>
              <a:rPr sz="1300" b="1">
                <a:solidFill>
                  <a:srgbClr val="1C4966"/>
                </a:solidFill>
                <a:latin typeface="Segoe UI"/>
              </a:rPr>
              <a:t>● ACTMON</a:t>
            </a:r>
          </a:p>
        </p:txBody>
      </p:sp>
      <p:sp>
        <p:nvSpPr>
          <p:cNvPr id="6" name="TextBox 5"/>
          <p:cNvSpPr txBox="1"/>
          <p:nvPr/>
        </p:nvSpPr>
        <p:spPr>
          <a:xfrm>
            <a:off x="548640" y="1737360"/>
            <a:ext cx="10058400" cy="2194560"/>
          </a:xfrm>
          <a:prstGeom prst="rect">
            <a:avLst/>
          </a:prstGeom>
          <a:noFill/>
        </p:spPr>
        <p:txBody>
          <a:bodyPr wrap="square">
            <a:spAutoFit/>
          </a:bodyPr>
          <a:lstStyle/>
          <a:p>
            <a:pPr algn="l"/>
            <a:r>
              <a:rPr sz="5000" b="1">
                <a:solidFill>
                  <a:srgbClr val="1C4966"/>
                </a:solidFill>
                <a:latin typeface="Segoe UI"/>
              </a:rPr>
              <a:t>ORACLE
MONITORING</a:t>
            </a:r>
          </a:p>
        </p:txBody>
      </p:sp>
      <p:sp>
        <p:nvSpPr>
          <p:cNvPr id="7" name="Rectangle 6"/>
          <p:cNvSpPr/>
          <p:nvPr/>
        </p:nvSpPr>
        <p:spPr>
          <a:xfrm>
            <a:off x="603504" y="4069080"/>
            <a:ext cx="2377440" cy="73152"/>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97680"/>
            <a:ext cx="10607040" cy="1828800"/>
          </a:xfrm>
          <a:prstGeom prst="rect">
            <a:avLst/>
          </a:prstGeom>
          <a:noFill/>
        </p:spPr>
        <p:txBody>
          <a:bodyPr wrap="square">
            <a:spAutoFit/>
          </a:bodyPr>
          <a:lstStyle/>
          <a:p>
            <a:pPr algn="l"/>
            <a:r>
              <a:rPr sz="1600" b="0">
                <a:solidFill>
                  <a:srgbClr val="2C3B47"/>
                </a:solidFill>
                <a:latin typeface="Segoe UI"/>
              </a:rPr>
              <a:t>Deep Oracle monitoring in real time — instance health, sessions and SQL, tablespaces, Data Guard, redo logs, and host CPU and memory from Oracle's own views.</a:t>
            </a:r>
          </a:p>
        </p:txBody>
      </p:sp>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WHAT IS ACTMON?</a:t>
            </a:r>
          </a:p>
          <a:p>
            <a:pPr algn="l">
              <a:spcBef>
                <a:spcPts val="1000"/>
              </a:spcBef>
            </a:pPr>
            <a:r>
              <a:rPr sz="1250" b="0">
                <a:solidFill>
                  <a:srgbClr val="1C4966"/>
                </a:solidFill>
                <a:latin typeface="Segoe UI"/>
              </a:rPr>
              <a:t>Actmon is a real-time monitoring dashboard for Oracle. Instead of logging into the server and running commands, your team sees the database's health, performance and the host machine in one place — in plain language anyone can follow.</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One place for everything</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No separate tools for the database, queries, logs and server — Actmon brings them together on one screen, so you switch windows less and understand Oracle more.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Always up to date</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Every number refreshes by itself every few seconds, so you always see the live state of the database, not an old snapshot, and notice changes the moment they happen.</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From symptom to cause</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When something looks wrong, click from a high-level number straight down to the exact query, session or process behind it, then act on it.</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BUSINESS BENEFITS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Clear value for managers and engineers alike.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Less downtime</a:t>
            </a:r>
          </a:p>
          <a:p>
            <a:pPr algn="l">
              <a:spcBef>
                <a:spcPts val="400"/>
              </a:spcBef>
            </a:pPr>
            <a:r>
              <a:rPr sz="1100" b="0">
                <a:solidFill>
                  <a:srgbClr val="FFFFFF"/>
                </a:solidFill>
                <a:latin typeface="Segoe UI"/>
              </a:rPr>
              <a:t>Problems show up early as clear red signals, so the team reacts before users notice a slowdown or outage in Oracle. Catching issues early is far cheaper and calmer than fixing them during a full outage.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Faster troubleshooting</a:t>
            </a:r>
          </a:p>
          <a:p>
            <a:pPr algn="l">
              <a:spcBef>
                <a:spcPts val="400"/>
              </a:spcBef>
            </a:pPr>
            <a:r>
              <a:rPr sz="1100" b="0">
                <a:solidFill>
                  <a:srgbClr val="FFFFFF"/>
                </a:solidFill>
                <a:latin typeface="Segoe UI"/>
              </a:rPr>
              <a:t>Actmon points to the slow query or busy process in seconds instead of hours of manual digging, so incidents are resolved quickly and engineers stay focused on building, not firefighting.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The real root cause</a:t>
            </a:r>
          </a:p>
          <a:p>
            <a:pPr algn="l">
              <a:spcBef>
                <a:spcPts val="400"/>
              </a:spcBef>
            </a:pPr>
            <a:r>
              <a:rPr sz="1100" b="0">
                <a:solidFill>
                  <a:srgbClr val="FFFFFF"/>
                </a:solidFill>
                <a:latin typeface="Segoe UI"/>
              </a:rPr>
              <a:t>A CPU or memory spike is not always the database. Actmon shows whether the database or another program on the server is responsible, so you fix the right thing the first time.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One affordable tool</a:t>
            </a:r>
          </a:p>
          <a:p>
            <a:pPr algn="l">
              <a:spcBef>
                <a:spcPts val="400"/>
              </a:spcBef>
            </a:pPr>
            <a:r>
              <a:rPr sz="1100" b="0">
                <a:solidFill>
                  <a:srgbClr val="FFFFFF"/>
                </a:solidFill>
                <a:latin typeface="Segoe UI"/>
              </a:rPr>
              <a:t>Health checks, query analysis, error logs and reports are in one platform that replaces several products, lowering cost, simplifying training, and giving everyone a single source of truth.</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HOW ACTMON CONNECTS</a:t>
            </a:r>
          </a:p>
          <a:p>
            <a:pPr algn="l">
              <a:spcBef>
                <a:spcPts val="1000"/>
              </a:spcBef>
            </a:pPr>
            <a:r>
              <a:rPr sz="1250" b="0">
                <a:solidFill>
                  <a:srgbClr val="1C4966"/>
                </a:solidFill>
                <a:latin typeface="Segoe UI"/>
              </a:rPr>
              <a:t>Actmon connects to the Oracle instance and reads its built-in v$ performance views. It only reads — it never changes the database on its own.</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Secure connection</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Signs in with your connection details and reads Oracle's dynamic views such as v$instance, v$session, v$sysmetric and v$osstat.</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Host metrics from Oracle</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Host CPU, CPU cores and memory come from Oracle's own v$osstat and v$sysmetric views, so server health shows even without OS or SSH access.</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Safe by design</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Monitoring is read-only. Nothing is created, changed or deleted on the database.</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WHAT ACTMON MONITORS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Full coverage of the instance, its workload and its storage.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Instance &amp; performance</a:t>
            </a:r>
          </a:p>
          <a:p>
            <a:pPr algn="l">
              <a:spcBef>
                <a:spcPts val="400"/>
              </a:spcBef>
            </a:pPr>
            <a:r>
              <a:rPr sz="1100" b="0">
                <a:solidFill>
                  <a:srgbClr val="FFFFFF"/>
                </a:solidFill>
                <a:latin typeface="Segoe UI"/>
              </a:rPr>
              <a:t>Instance status, version and uptime plus SGA and PGA memory, buffer cache hit and library cache hit — a clear view of whether the instance is healthy and well-tuned.</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Sessions &amp; SQL</a:t>
            </a:r>
          </a:p>
          <a:p>
            <a:pPr algn="l">
              <a:spcBef>
                <a:spcPts val="400"/>
              </a:spcBef>
            </a:pPr>
            <a:r>
              <a:rPr sz="1100" b="0">
                <a:solidFill>
                  <a:srgbClr val="FFFFFF"/>
                </a:solidFill>
                <a:latin typeface="Segoe UI"/>
              </a:rPr>
              <a:t>Active sessions, top SQL by elapsed time and CPU, currently running live queries and the slowest statements — so you always know what the database is working on.</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Storage &amp; objects</a:t>
            </a:r>
          </a:p>
          <a:p>
            <a:pPr algn="l">
              <a:spcBef>
                <a:spcPts val="400"/>
              </a:spcBef>
            </a:pPr>
            <a:r>
              <a:rPr sz="1100" b="0">
                <a:solidFill>
                  <a:srgbClr val="FFFFFF"/>
                </a:solidFill>
                <a:latin typeface="Segoe UI"/>
              </a:rPr>
              <a:t>Tablespace usage with free space, redo log groups, schema objects, and a full table browser showing columns, indexes and partitioning for any table.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High availability &amp; config</a:t>
            </a:r>
          </a:p>
          <a:p>
            <a:pPr algn="l">
              <a:spcBef>
                <a:spcPts val="400"/>
              </a:spcBef>
            </a:pPr>
            <a:r>
              <a:rPr sz="1100" b="0">
                <a:solidFill>
                  <a:srgbClr val="FFFFFF"/>
                </a:solidFill>
                <a:latin typeface="Segoe UI"/>
              </a:rPr>
              <a:t>Data Guard standby status, system statistics and instance parameters give you the operational and configuration picture in one place.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OVERVIEW METRICS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The most important numbers, explained in plain language.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Instance &amp; status</a:t>
            </a:r>
          </a:p>
          <a:p>
            <a:pPr algn="l">
              <a:spcBef>
                <a:spcPts val="400"/>
              </a:spcBef>
            </a:pPr>
            <a:r>
              <a:rPr sz="1100" b="0">
                <a:solidFill>
                  <a:srgbClr val="FFFFFF"/>
                </a:solidFill>
                <a:latin typeface="Segoe UI"/>
              </a:rPr>
              <a:t>The instance name, database name and open status, plus uptime and log mode — the first things to confirm the database is up and operating normally.</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Sessions vs max</a:t>
            </a:r>
          </a:p>
          <a:p>
            <a:pPr algn="l">
              <a:spcBef>
                <a:spcPts val="400"/>
              </a:spcBef>
            </a:pPr>
            <a:r>
              <a:rPr sz="1100" b="0">
                <a:solidFill>
                  <a:srgbClr val="FFFFFF"/>
                </a:solidFill>
                <a:latin typeface="Segoe UI"/>
              </a:rPr>
              <a:t>How many user sessions are active out of the configured maximum, so you can see if you are approaching the session limit during busy periods.</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SGA &amp; PGA memory</a:t>
            </a:r>
          </a:p>
          <a:p>
            <a:pPr algn="l">
              <a:spcBef>
                <a:spcPts val="400"/>
              </a:spcBef>
            </a:pPr>
            <a:r>
              <a:rPr sz="1100" b="0">
                <a:solidFill>
                  <a:srgbClr val="FFFFFF"/>
                </a:solidFill>
                <a:latin typeface="Segoe UI"/>
              </a:rPr>
              <a:t>The two main Oracle memory areas: the shared SGA and the per-process PGA. Their size and usage show whether the instance has enough memory to work efficiently.</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Host CPU &amp; cache hit</a:t>
            </a:r>
          </a:p>
          <a:p>
            <a:pPr algn="l">
              <a:spcBef>
                <a:spcPts val="400"/>
              </a:spcBef>
            </a:pPr>
            <a:r>
              <a:rPr sz="1100" b="0">
                <a:solidFill>
                  <a:srgbClr val="FFFFFF"/>
                </a:solidFill>
                <a:latin typeface="Segoe UI"/>
              </a:rPr>
              <a:t>Host CPU usage with the CPU count, plus buffer cache hit and library cache hit — together telling you if the server and the cache are keeping reads fast.</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5059680"/>
            <a:ext cx="749808" cy="426719"/>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4632960"/>
            <a:ext cx="749808" cy="426719"/>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4206240"/>
            <a:ext cx="749808" cy="426719"/>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93976" y="4846320"/>
            <a:ext cx="749808" cy="64008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93976" y="4206240"/>
            <a:ext cx="749808" cy="64008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93976" y="3566160"/>
            <a:ext cx="749808" cy="64008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27832" y="4602480"/>
            <a:ext cx="749808" cy="88392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27832" y="3718560"/>
            <a:ext cx="749808" cy="88392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27832" y="2834640"/>
            <a:ext cx="749808" cy="88392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4358640"/>
            <a:ext cx="749808" cy="112776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3230880"/>
            <a:ext cx="749808" cy="112776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2103120"/>
            <a:ext cx="749808" cy="112776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371600"/>
            <a:ext cx="5577840" cy="1371600"/>
          </a:xfrm>
          <a:prstGeom prst="rect">
            <a:avLst/>
          </a:prstGeom>
          <a:noFill/>
        </p:spPr>
        <p:txBody>
          <a:bodyPr wrap="square">
            <a:spAutoFit/>
          </a:bodyPr>
          <a:lstStyle/>
          <a:p>
            <a:pPr algn="l"/>
            <a:r>
              <a:rPr sz="3000" b="1">
                <a:solidFill>
                  <a:srgbClr val="1C4966"/>
                </a:solidFill>
                <a:latin typeface="Segoe UI"/>
              </a:rPr>
              <a:t>PERFORMANCE &amp; MEMORY</a:t>
            </a:r>
          </a:p>
        </p:txBody>
      </p:sp>
      <p:sp>
        <p:nvSpPr>
          <p:cNvPr id="18" name="Rectangle 17"/>
          <p:cNvSpPr/>
          <p:nvPr/>
        </p:nvSpPr>
        <p:spPr>
          <a:xfrm>
            <a:off x="6181344" y="260604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2834640"/>
            <a:ext cx="5623560" cy="3108960"/>
          </a:xfrm>
          <a:prstGeom prst="rect">
            <a:avLst/>
          </a:prstGeom>
          <a:noFill/>
        </p:spPr>
        <p:txBody>
          <a:bodyPr wrap="square">
            <a:spAutoFit/>
          </a:bodyPr>
          <a:lstStyle/>
          <a:p>
            <a:pPr algn="l"/>
            <a:r>
              <a:rPr sz="1300" b="0">
                <a:solidFill>
                  <a:srgbClr val="2C3B47"/>
                </a:solidFill>
                <a:latin typeface="Segoe UI"/>
              </a:rPr>
              <a:t>This view explains how efficiently the Oracle instance serves work. The buffer cache hit ratio shows how often data blocks are found in memory instead of being read from disk, and the library cache hit ratio shows how often SQL is reused instead of being re-parsed. Alongside these you see the size and usage of the SGA and PGA memory areas. When the hit ratios are high and memory is sufficient, queries run fast; when they drop, Actmon helps you see why.</a:t>
            </a:r>
          </a:p>
        </p:txBody>
      </p:sp>
      <p:sp>
        <p:nvSpPr>
          <p:cNvPr id="20" name="TextBox 19"/>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21" name="TextBox 20"/>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HOST RESOURCES</a:t>
            </a:r>
          </a:p>
          <a:p>
            <a:pPr algn="l">
              <a:spcBef>
                <a:spcPts val="1000"/>
              </a:spcBef>
            </a:pPr>
            <a:r>
              <a:rPr sz="1250" b="0">
                <a:solidFill>
                  <a:srgbClr val="1C4966"/>
                </a:solidFill>
                <a:latin typeface="Segoe UI"/>
              </a:rPr>
              <a:t>Actmon watches the machine Oracle runs on, not just the database — so you can tell a real database problem apart from an overloaded server.</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CPU, memory and disk</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On Oracle these come from v$osstat and v$sysmetric, so no SSH is needed. You see CPU usage out of 100 with the core count, RAM used versus total, and how full the disk is.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Top processes on demand</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Click a CPU or memory gauge to list the processes using the most resources, with the database clearly marked, answering 'is it the database or something else?' instantly.</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History for spikes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Past resource samples are kept, so when CPU or memory spikes you can look back at what was happening at that moment instead of relying on guesswork.</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SESSIONS &amp; SQL</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See exactly what the database is working on.</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Active sessions</a:t>
            </a:r>
          </a:p>
          <a:p>
            <a:pPr algn="l">
              <a:spcBef>
                <a:spcPts val="400"/>
              </a:spcBef>
            </a:pPr>
            <a:r>
              <a:rPr sz="1100" b="0">
                <a:solidFill>
                  <a:srgbClr val="FFFFFF"/>
                </a:solidFill>
                <a:latin typeface="Segoe UI"/>
              </a:rPr>
              <a:t>A live list of user sessions with their status and details, so you can see who is connected and what state each session is in.</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Top SQL</a:t>
            </a:r>
          </a:p>
          <a:p>
            <a:pPr algn="l">
              <a:spcBef>
                <a:spcPts val="400"/>
              </a:spcBef>
            </a:pPr>
            <a:r>
              <a:rPr sz="1100" b="0">
                <a:solidFill>
                  <a:srgbClr val="FFFFFF"/>
                </a:solidFill>
                <a:latin typeface="Segoe UI"/>
              </a:rPr>
              <a:t>The heaviest SQL ranked by elapsed time, CPU, disk reads and buffer gets, so the statements consuming the most resources are easy to find.</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Live queries</a:t>
            </a:r>
          </a:p>
          <a:p>
            <a:pPr algn="l">
              <a:spcBef>
                <a:spcPts val="400"/>
              </a:spcBef>
            </a:pPr>
            <a:r>
              <a:rPr sz="1100" b="0">
                <a:solidFill>
                  <a:srgbClr val="FFFFFF"/>
                </a:solidFill>
                <a:latin typeface="Segoe UI"/>
              </a:rPr>
              <a:t>The SQL running right now, with its schema and any wait events, so you can catch a heavy statement while it is still executing.</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Slow queries</a:t>
            </a:r>
          </a:p>
          <a:p>
            <a:pPr algn="l">
              <a:spcBef>
                <a:spcPts val="400"/>
              </a:spcBef>
            </a:pPr>
            <a:r>
              <a:rPr sz="1100" b="0">
                <a:solidFill>
                  <a:srgbClr val="FFFFFF"/>
                </a:solidFill>
                <a:latin typeface="Segoe UI"/>
              </a:rPr>
              <a:t>The slowest SQL by average elapsed and CPU time, giving you a clear, prioritised list of what to tune first.</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STORAGE &amp; OBJECTS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Keep an eye on space and the schema.</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Tablespaces</a:t>
            </a:r>
          </a:p>
          <a:p>
            <a:pPr algn="l">
              <a:spcBef>
                <a:spcPts val="400"/>
              </a:spcBef>
            </a:pPr>
            <a:r>
              <a:rPr sz="1100" b="0">
                <a:solidFill>
                  <a:srgbClr val="FFFFFF"/>
                </a:solidFill>
                <a:latin typeface="Segoe UI"/>
              </a:rPr>
              <a:t>Each tablespace with its used and free space and a usage percentage, so a tablespace filling up is spotted long before it causes errors.</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Redo logs</a:t>
            </a:r>
          </a:p>
          <a:p>
            <a:pPr algn="l">
              <a:spcBef>
                <a:spcPts val="400"/>
              </a:spcBef>
            </a:pPr>
            <a:r>
              <a:rPr sz="1100" b="0">
                <a:solidFill>
                  <a:srgbClr val="FFFFFF"/>
                </a:solidFill>
                <a:latin typeface="Segoe UI"/>
              </a:rPr>
              <a:t>Redo log groups with their size and status, which matter for recovery and for spotting excessive log switching.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Schema objects</a:t>
            </a:r>
          </a:p>
          <a:p>
            <a:pPr algn="l">
              <a:spcBef>
                <a:spcPts val="400"/>
              </a:spcBef>
            </a:pPr>
            <a:r>
              <a:rPr sz="1100" b="0">
                <a:solidFill>
                  <a:srgbClr val="FFFFFF"/>
                </a:solidFill>
                <a:latin typeface="Segoe UI"/>
              </a:rPr>
              <a:t>A list of schema objects, with invalid objects highlighted so broken procedures or views do not go unnoticed.</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Table browser</a:t>
            </a:r>
          </a:p>
          <a:p>
            <a:pPr algn="l">
              <a:spcBef>
                <a:spcPts val="400"/>
              </a:spcBef>
            </a:pPr>
            <a:r>
              <a:rPr sz="1100" b="0">
                <a:solidFill>
                  <a:srgbClr val="FFFFFF"/>
                </a:solidFill>
                <a:latin typeface="Segoe UI"/>
              </a:rPr>
              <a:t>Open any table to see its columns, indexes and partitioning in a full detail view — useful for reviewing a schema or a slow table.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DATA GUARD &amp; REDO</a:t>
            </a:r>
          </a:p>
          <a:p>
            <a:pPr algn="l">
              <a:spcBef>
                <a:spcPts val="1000"/>
              </a:spcBef>
            </a:pPr>
            <a:r>
              <a:rPr sz="1250" b="0">
                <a:solidFill>
                  <a:srgbClr val="1C4966"/>
                </a:solidFill>
                <a:latin typeface="Segoe UI"/>
              </a:rPr>
              <a:t>For databases that use a standby for disaster recovery, Actmon surfaces the Data Guard picture so you know your protection is working.</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Standby status</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Shows whether a Data Guard standby is configured and its current state, so you know your disaster-recovery copy is in place.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Redo log groups</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Lists the redo log groups and their status, helping you confirm logging is healthy and spot frequent log switches.</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Archive &amp; log mode</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The database log mode tells you whether archiving is on, which is required for point-in-time recovery and for a working standby.</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HOW ISSUES ARE DETECTED</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Actmon catches trouble with live signals and checks.</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Tablespace near full</a:t>
            </a:r>
          </a:p>
          <a:p>
            <a:pPr algn="l">
              <a:spcBef>
                <a:spcPts val="400"/>
              </a:spcBef>
            </a:pPr>
            <a:r>
              <a:rPr sz="1100" b="0">
                <a:solidFill>
                  <a:srgbClr val="FFFFFF"/>
                </a:solidFill>
                <a:latin typeface="Segoe UI"/>
              </a:rPr>
              <a:t>Tablespace usage is shown with clear thresholds, so a tablespace approaching full is flagged before it blocks inserts.</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Locks &amp; blocking</a:t>
            </a:r>
          </a:p>
          <a:p>
            <a:pPr algn="l">
              <a:spcBef>
                <a:spcPts val="400"/>
              </a:spcBef>
            </a:pPr>
            <a:r>
              <a:rPr sz="1100" b="0">
                <a:solidFill>
                  <a:srgbClr val="FFFFFF"/>
                </a:solidFill>
                <a:latin typeface="Segoe UI"/>
              </a:rPr>
              <a:t>Lock waits and enqueues show when one session is blocking others, a common cause of a database that suddenly feels stuck.</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Invalid objects</a:t>
            </a:r>
          </a:p>
          <a:p>
            <a:pPr algn="l">
              <a:spcBef>
                <a:spcPts val="400"/>
              </a:spcBef>
            </a:pPr>
            <a:r>
              <a:rPr sz="1100" b="0">
                <a:solidFill>
                  <a:srgbClr val="FFFFFF"/>
                </a:solidFill>
                <a:latin typeface="Segoe UI"/>
              </a:rPr>
              <a:t>Invalid schema objects are highlighted, so broken procedures, views or packages are noticed and can be recompiled.</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Status checks</a:t>
            </a:r>
          </a:p>
          <a:p>
            <a:pPr algn="l">
              <a:spcBef>
                <a:spcPts val="400"/>
              </a:spcBef>
            </a:pPr>
            <a:r>
              <a:rPr sz="1100" b="0">
                <a:solidFill>
                  <a:srgbClr val="FFFFFF"/>
                </a:solidFill>
                <a:latin typeface="Segoe UI"/>
              </a:rPr>
              <a:t>Instance status and key system statistics make it obvious when the database is not open or is behaving abnormally.</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ERROR HANDLING WITH AI</a:t>
            </a:r>
          </a:p>
          <a:p>
            <a:pPr algn="l">
              <a:spcBef>
                <a:spcPts val="1000"/>
              </a:spcBef>
            </a:pPr>
            <a:r>
              <a:rPr sz="1250" b="0">
                <a:solidFill>
                  <a:srgbClr val="1C4966"/>
                </a:solidFill>
                <a:latin typeface="Segoe UI"/>
              </a:rPr>
              <a:t>Oracle error messages can be hard to read. Actmon shows them clearly and uses AI to explain each one in plain language with a fix.</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Read errors</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View Oracle error entries in the dashboard so problems recorded by the database are not missed.</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AI explanation</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Click an error and AI explains what it means and why it happened, turning an ORA- message into plain language.</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Clear fix steps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You get concrete next actions to resolve the error, easy enough for a junior team member to follow.</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ROOT-CAUSE DRILL-DOWN</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Go from a high-level metric to the real reason behind it.</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Start at the metric</a:t>
            </a:r>
          </a:p>
          <a:p>
            <a:pPr algn="l">
              <a:spcBef>
                <a:spcPts val="400"/>
              </a:spcBef>
            </a:pPr>
            <a:r>
              <a:rPr sz="1100" b="0">
                <a:solidFill>
                  <a:srgbClr val="FFFFFF"/>
                </a:solidFill>
                <a:latin typeface="Segoe UI"/>
              </a:rPr>
              <a:t>When CPU or memory looks high, click that gauge to begin. No commands are needed — the drill-down guides you from the symptom toward the cause step by step.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See the top processes</a:t>
            </a:r>
          </a:p>
          <a:p>
            <a:pPr algn="l">
              <a:spcBef>
                <a:spcPts val="400"/>
              </a:spcBef>
            </a:pPr>
            <a:r>
              <a:rPr sz="1100" b="0">
                <a:solidFill>
                  <a:srgbClr val="FFFFFF"/>
                </a:solidFill>
                <a:latin typeface="Segoe UI"/>
              </a:rPr>
              <a:t>Actmon shows the processes using the most CPU or memory on the server, with the database clearly identified, so you immediately see whether it is the heavy one or not.</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Drill into the database</a:t>
            </a:r>
          </a:p>
          <a:p>
            <a:pPr algn="l">
              <a:spcBef>
                <a:spcPts val="400"/>
              </a:spcBef>
            </a:pPr>
            <a:r>
              <a:rPr sz="1100" b="0">
                <a:solidFill>
                  <a:srgbClr val="FFFFFF"/>
                </a:solidFill>
                <a:latin typeface="Segoe UI"/>
              </a:rPr>
              <a:t>Go deeper into the database's own sessions and queries to find the specific statement responsible, connecting the high-level metric to a real, fixable cause.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Root-cause report</a:t>
            </a:r>
          </a:p>
          <a:p>
            <a:pPr algn="l">
              <a:spcBef>
                <a:spcPts val="400"/>
              </a:spcBef>
            </a:pPr>
            <a:r>
              <a:rPr sz="1100" b="0">
                <a:solidFill>
                  <a:srgbClr val="FFFFFF"/>
                </a:solidFill>
                <a:latin typeface="Segoe UI"/>
              </a:rPr>
              <a:t>Actmon produces a report stating whether the database or an external process caused the spike, with a simple breakdown that always adds up to 100% (database + other processes + idle).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REPORTS &amp; PARAMETERS</a:t>
            </a:r>
          </a:p>
          <a:p>
            <a:pPr algn="l">
              <a:spcBef>
                <a:spcPts val="1000"/>
              </a:spcBef>
            </a:pPr>
            <a:r>
              <a:rPr sz="1250" b="0">
                <a:solidFill>
                  <a:srgbClr val="1C4966"/>
                </a:solidFill>
                <a:latin typeface="Segoe UI"/>
              </a:rPr>
              <a:t>Beyond live monitoring, Actmon helps you review configuration and keep stakeholders informed.</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Instance parameters</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The Parameters tab lists instance settings in one place, useful when tuning or comparing environments.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System statistics</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System statistics give a deeper view of how the instance is performing over time.</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Scheduled reports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Actmon generates Oracle reports and emails them automatically on a schedule you choose.</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800" b="1">
                <a:solidFill>
                  <a:srgbClr val="1C4966"/>
                </a:solidFill>
                <a:latin typeface="Segoe UI"/>
              </a:rPr>
              <a:t>KEY METRICS — QUICK REFERENCE</a:t>
            </a:r>
          </a:p>
        </p:txBody>
      </p:sp>
      <p:sp>
        <p:nvSpPr>
          <p:cNvPr id="6" name="Rectangle 5"/>
          <p:cNvSpPr/>
          <p:nvPr/>
        </p:nvSpPr>
        <p:spPr>
          <a:xfrm>
            <a:off x="603504" y="118872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0972800" cy="457200"/>
          </a:xfrm>
          <a:prstGeom prst="rect">
            <a:avLst/>
          </a:prstGeom>
          <a:noFill/>
        </p:spPr>
        <p:txBody>
          <a:bodyPr wrap="square">
            <a:spAutoFit/>
          </a:bodyPr>
          <a:lstStyle/>
          <a:p>
            <a:pPr algn="l"/>
            <a:r>
              <a:rPr sz="1300" b="0">
                <a:solidFill>
                  <a:srgbClr val="2C3B47"/>
                </a:solidFill>
                <a:latin typeface="Segoe UI"/>
              </a:rPr>
              <a:t>A simple cheat-sheet of what each metric means and where to find it.</a:t>
            </a:r>
          </a:p>
        </p:txBody>
      </p:sp>
      <p:graphicFrame>
        <p:nvGraphicFramePr>
          <p:cNvPr id="8" name="Table 7"/>
          <p:cNvGraphicFramePr>
            <a:graphicFrameLocks noGrp="1"/>
          </p:cNvGraphicFramePr>
          <p:nvPr/>
        </p:nvGraphicFramePr>
        <p:xfrm>
          <a:off x="548640" y="1920240"/>
          <a:ext cx="11064240" cy="32004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200" b="1">
                          <a:solidFill>
                            <a:srgbClr val="FFFFFF"/>
                          </a:solidFill>
                          <a:latin typeface="Segoe UI"/>
                        </a:rPr>
                        <a:t>Metric</a:t>
                      </a:r>
                    </a:p>
                  </a:txBody>
                  <a:tcPr>
                    <a:solidFill>
                      <a:srgbClr val="1C4966"/>
                    </a:solidFill>
                  </a:tcPr>
                </a:tc>
                <a:tc>
                  <a:txBody>
                    <a:bodyPr/>
                    <a:lstStyle/>
                    <a:p>
                      <a:r>
                        <a:rPr sz="1200" b="1">
                          <a:solidFill>
                            <a:srgbClr val="FFFFFF"/>
                          </a:solidFill>
                          <a:latin typeface="Segoe UI"/>
                        </a:rPr>
                        <a:t>What it tells you</a:t>
                      </a:r>
                    </a:p>
                  </a:txBody>
                  <a:tcPr>
                    <a:solidFill>
                      <a:srgbClr val="1C4966"/>
                    </a:solidFill>
                  </a:tcPr>
                </a:tc>
                <a:tc>
                  <a:txBody>
                    <a:bodyPr/>
                    <a:lstStyle/>
                    <a:p>
                      <a:r>
                        <a:rPr sz="1200" b="1">
                          <a:solidFill>
                            <a:srgbClr val="FFFFFF"/>
                          </a:solidFill>
                          <a:latin typeface="Segoe UI"/>
                        </a:rPr>
                        <a:t>Where to see it</a:t>
                      </a:r>
                    </a:p>
                  </a:txBody>
                  <a:tcPr>
                    <a:solidFill>
                      <a:srgbClr val="1C4966"/>
                    </a:solidFill>
                  </a:tcPr>
                </a:tc>
              </a:tr>
              <a:tr h="457200">
                <a:tc>
                  <a:txBody>
                    <a:bodyPr/>
                    <a:lstStyle/>
                    <a:p>
                      <a:r>
                        <a:rPr sz="1100">
                          <a:solidFill>
                            <a:srgbClr val="2C3B47"/>
                          </a:solidFill>
                          <a:latin typeface="Segoe UI"/>
                        </a:rPr>
                        <a:t>Sessions used</a:t>
                      </a:r>
                    </a:p>
                  </a:txBody>
                  <a:tcPr>
                    <a:solidFill>
                      <a:srgbClr val="FFFFFF"/>
                    </a:solidFill>
                  </a:tcPr>
                </a:tc>
                <a:tc>
                  <a:txBody>
                    <a:bodyPr/>
                    <a:lstStyle/>
                    <a:p>
                      <a:r>
                        <a:rPr sz="1100">
                          <a:solidFill>
                            <a:srgbClr val="2C3B47"/>
                          </a:solidFill>
                          <a:latin typeface="Segoe UI"/>
                        </a:rPr>
                        <a:t>active sessions vs the maximum</a:t>
                      </a:r>
                    </a:p>
                  </a:txBody>
                  <a:tcPr>
                    <a:solidFill>
                      <a:srgbClr val="FFFFFF"/>
                    </a:solidFill>
                  </a:tcPr>
                </a:tc>
                <a:tc>
                  <a:txBody>
                    <a:bodyPr/>
                    <a:lstStyle/>
                    <a:p>
                      <a:r>
                        <a:rPr sz="1100">
                          <a:solidFill>
                            <a:srgbClr val="2C3B47"/>
                          </a:solidFill>
                          <a:latin typeface="Segoe UI"/>
                        </a:rPr>
                        <a:t>Overview / Sessions</a:t>
                      </a:r>
                    </a:p>
                  </a:txBody>
                  <a:tcPr>
                    <a:solidFill>
                      <a:srgbClr val="FFFFFF"/>
                    </a:solidFill>
                  </a:tcPr>
                </a:tc>
              </a:tr>
              <a:tr h="457200">
                <a:tc>
                  <a:txBody>
                    <a:bodyPr/>
                    <a:lstStyle/>
                    <a:p>
                      <a:r>
                        <a:rPr sz="1100">
                          <a:solidFill>
                            <a:srgbClr val="2C3B47"/>
                          </a:solidFill>
                          <a:latin typeface="Segoe UI"/>
                        </a:rPr>
                        <a:t>SGA &amp; PGA</a:t>
                      </a:r>
                    </a:p>
                  </a:txBody>
                  <a:tcPr>
                    <a:solidFill>
                      <a:srgbClr val="E6EFF4"/>
                    </a:solidFill>
                  </a:tcPr>
                </a:tc>
                <a:tc>
                  <a:txBody>
                    <a:bodyPr/>
                    <a:lstStyle/>
                    <a:p>
                      <a:r>
                        <a:rPr sz="1100">
                          <a:solidFill>
                            <a:srgbClr val="2C3B47"/>
                          </a:solidFill>
                          <a:latin typeface="Segoe UI"/>
                        </a:rPr>
                        <a:t>main memory areas in use</a:t>
                      </a:r>
                    </a:p>
                  </a:txBody>
                  <a:tcPr>
                    <a:solidFill>
                      <a:srgbClr val="E6EFF4"/>
                    </a:solidFill>
                  </a:tcPr>
                </a:tc>
                <a:tc>
                  <a:txBody>
                    <a:bodyPr/>
                    <a:lstStyle/>
                    <a:p>
                      <a:r>
                        <a:rPr sz="1100">
                          <a:solidFill>
                            <a:srgbClr val="2C3B47"/>
                          </a:solidFill>
                          <a:latin typeface="Segoe UI"/>
                        </a:rPr>
                        <a:t>Overview / Performance</a:t>
                      </a:r>
                    </a:p>
                  </a:txBody>
                  <a:tcPr>
                    <a:solidFill>
                      <a:srgbClr val="E6EFF4"/>
                    </a:solidFill>
                  </a:tcPr>
                </a:tc>
              </a:tr>
              <a:tr h="457200">
                <a:tc>
                  <a:txBody>
                    <a:bodyPr/>
                    <a:lstStyle/>
                    <a:p>
                      <a:r>
                        <a:rPr sz="1100">
                          <a:solidFill>
                            <a:srgbClr val="2C3B47"/>
                          </a:solidFill>
                          <a:latin typeface="Segoe UI"/>
                        </a:rPr>
                        <a:t>Buffer cache hit %</a:t>
                      </a:r>
                    </a:p>
                  </a:txBody>
                  <a:tcPr>
                    <a:solidFill>
                      <a:srgbClr val="FFFFFF"/>
                    </a:solidFill>
                  </a:tcPr>
                </a:tc>
                <a:tc>
                  <a:txBody>
                    <a:bodyPr/>
                    <a:lstStyle/>
                    <a:p>
                      <a:r>
                        <a:rPr sz="1100">
                          <a:solidFill>
                            <a:srgbClr val="2C3B47"/>
                          </a:solidFill>
                          <a:latin typeface="Segoe UI"/>
                        </a:rPr>
                        <a:t>reads served from memory</a:t>
                      </a:r>
                    </a:p>
                  </a:txBody>
                  <a:tcPr>
                    <a:solidFill>
                      <a:srgbClr val="FFFFFF"/>
                    </a:solidFill>
                  </a:tcPr>
                </a:tc>
                <a:tc>
                  <a:txBody>
                    <a:bodyPr/>
                    <a:lstStyle/>
                    <a:p>
                      <a:r>
                        <a:rPr sz="1100">
                          <a:solidFill>
                            <a:srgbClr val="2C3B47"/>
                          </a:solidFill>
                          <a:latin typeface="Segoe UI"/>
                        </a:rPr>
                        <a:t>Overview / Performance</a:t>
                      </a:r>
                    </a:p>
                  </a:txBody>
                  <a:tcPr>
                    <a:solidFill>
                      <a:srgbClr val="FFFFFF"/>
                    </a:solidFill>
                  </a:tcPr>
                </a:tc>
              </a:tr>
              <a:tr h="457200">
                <a:tc>
                  <a:txBody>
                    <a:bodyPr/>
                    <a:lstStyle/>
                    <a:p>
                      <a:r>
                        <a:rPr sz="1100">
                          <a:solidFill>
                            <a:srgbClr val="2C3B47"/>
                          </a:solidFill>
                          <a:latin typeface="Segoe UI"/>
                        </a:rPr>
                        <a:t>Host CPU %</a:t>
                      </a:r>
                    </a:p>
                  </a:txBody>
                  <a:tcPr>
                    <a:solidFill>
                      <a:srgbClr val="E6EFF4"/>
                    </a:solidFill>
                  </a:tcPr>
                </a:tc>
                <a:tc>
                  <a:txBody>
                    <a:bodyPr/>
                    <a:lstStyle/>
                    <a:p>
                      <a:r>
                        <a:rPr sz="1100">
                          <a:solidFill>
                            <a:srgbClr val="2C3B47"/>
                          </a:solidFill>
                          <a:latin typeface="Segoe UI"/>
                        </a:rPr>
                        <a:t>server CPU usage (from v$ views)</a:t>
                      </a:r>
                    </a:p>
                  </a:txBody>
                  <a:tcPr>
                    <a:solidFill>
                      <a:srgbClr val="E6EFF4"/>
                    </a:solidFill>
                  </a:tcPr>
                </a:tc>
                <a:tc>
                  <a:txBody>
                    <a:bodyPr/>
                    <a:lstStyle/>
                    <a:p>
                      <a:r>
                        <a:rPr sz="1100">
                          <a:solidFill>
                            <a:srgbClr val="2C3B47"/>
                          </a:solidFill>
                          <a:latin typeface="Segoe UI"/>
                        </a:rPr>
                        <a:t>Host Resources</a:t>
                      </a:r>
                    </a:p>
                  </a:txBody>
                  <a:tcPr>
                    <a:solidFill>
                      <a:srgbClr val="E6EFF4"/>
                    </a:solidFill>
                  </a:tcPr>
                </a:tc>
              </a:tr>
              <a:tr h="457200">
                <a:tc>
                  <a:txBody>
                    <a:bodyPr/>
                    <a:lstStyle/>
                    <a:p>
                      <a:r>
                        <a:rPr sz="1100">
                          <a:solidFill>
                            <a:srgbClr val="2C3B47"/>
                          </a:solidFill>
                          <a:latin typeface="Segoe UI"/>
                        </a:rPr>
                        <a:t>Tablespace usage %</a:t>
                      </a:r>
                    </a:p>
                  </a:txBody>
                  <a:tcPr>
                    <a:solidFill>
                      <a:srgbClr val="FFFFFF"/>
                    </a:solidFill>
                  </a:tcPr>
                </a:tc>
                <a:tc>
                  <a:txBody>
                    <a:bodyPr/>
                    <a:lstStyle/>
                    <a:p>
                      <a:r>
                        <a:rPr sz="1100">
                          <a:solidFill>
                            <a:srgbClr val="2C3B47"/>
                          </a:solidFill>
                          <a:latin typeface="Segoe UI"/>
                        </a:rPr>
                        <a:t>how full each tablespace is</a:t>
                      </a:r>
                    </a:p>
                  </a:txBody>
                  <a:tcPr>
                    <a:solidFill>
                      <a:srgbClr val="FFFFFF"/>
                    </a:solidFill>
                  </a:tcPr>
                </a:tc>
                <a:tc>
                  <a:txBody>
                    <a:bodyPr/>
                    <a:lstStyle/>
                    <a:p>
                      <a:r>
                        <a:rPr sz="1100">
                          <a:solidFill>
                            <a:srgbClr val="2C3B47"/>
                          </a:solidFill>
                          <a:latin typeface="Segoe UI"/>
                        </a:rPr>
                        <a:t>Tablespaces</a:t>
                      </a:r>
                    </a:p>
                  </a:txBody>
                  <a:tcPr>
                    <a:solidFill>
                      <a:srgbClr val="FFFFFF"/>
                    </a:solidFill>
                  </a:tcPr>
                </a:tc>
              </a:tr>
              <a:tr h="457200">
                <a:tc>
                  <a:txBody>
                    <a:bodyPr/>
                    <a:lstStyle/>
                    <a:p>
                      <a:r>
                        <a:rPr sz="1100">
                          <a:solidFill>
                            <a:srgbClr val="2C3B47"/>
                          </a:solidFill>
                          <a:latin typeface="Segoe UI"/>
                        </a:rPr>
                        <a:t>Data Guard state</a:t>
                      </a:r>
                    </a:p>
                  </a:txBody>
                  <a:tcPr>
                    <a:solidFill>
                      <a:srgbClr val="E6EFF4"/>
                    </a:solidFill>
                  </a:tcPr>
                </a:tc>
                <a:tc>
                  <a:txBody>
                    <a:bodyPr/>
                    <a:lstStyle/>
                    <a:p>
                      <a:r>
                        <a:rPr sz="1100">
                          <a:solidFill>
                            <a:srgbClr val="2C3B47"/>
                          </a:solidFill>
                          <a:latin typeface="Segoe UI"/>
                        </a:rPr>
                        <a:t>standby protection status</a:t>
                      </a:r>
                    </a:p>
                  </a:txBody>
                  <a:tcPr>
                    <a:solidFill>
                      <a:srgbClr val="E6EFF4"/>
                    </a:solidFill>
                  </a:tcPr>
                </a:tc>
                <a:tc>
                  <a:txBody>
                    <a:bodyPr/>
                    <a:lstStyle/>
                    <a:p>
                      <a:r>
                        <a:rPr sz="1100">
                          <a:solidFill>
                            <a:srgbClr val="2C3B47"/>
                          </a:solidFill>
                          <a:latin typeface="Segoe UI"/>
                        </a:rPr>
                        <a:t>Data Guard</a:t>
                      </a:r>
                    </a:p>
                  </a:txBody>
                  <a:tcPr>
                    <a:solidFill>
                      <a:srgbClr val="E6EFF4"/>
                    </a:solidFill>
                  </a:tcPr>
                </a:tc>
              </a:tr>
            </a:tbl>
          </a:graphicData>
        </a:graphic>
      </p:graphicFrame>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SUMMARY</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One screen to monitor, analyse and protect Oracle.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Monitor everything</a:t>
            </a:r>
          </a:p>
          <a:p>
            <a:pPr algn="l">
              <a:spcBef>
                <a:spcPts val="400"/>
              </a:spcBef>
            </a:pPr>
            <a:r>
              <a:rPr sz="1100" b="0">
                <a:solidFill>
                  <a:srgbClr val="FFFFFF"/>
                </a:solidFill>
                <a:latin typeface="Segoe UI"/>
              </a:rPr>
              <a:t>Instance health, sessions, SQL, memory, tablespaces and host CPU — all live, with host metrics read from Oracle's own views.</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Analyse with AI</a:t>
            </a:r>
          </a:p>
          <a:p>
            <a:pPr algn="l">
              <a:spcBef>
                <a:spcPts val="400"/>
              </a:spcBef>
            </a:pPr>
            <a:r>
              <a:rPr sz="1100" b="0">
                <a:solidFill>
                  <a:srgbClr val="FFFFFF"/>
                </a:solidFill>
                <a:latin typeface="Segoe UI"/>
              </a:rPr>
              <a:t>Slow SQL and errors get plain-language explanations and concrete fixes, making expert troubleshooting available to the team.</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Protect with HA</a:t>
            </a:r>
          </a:p>
          <a:p>
            <a:pPr algn="l">
              <a:spcBef>
                <a:spcPts val="400"/>
              </a:spcBef>
            </a:pPr>
            <a:r>
              <a:rPr sz="1100" b="0">
                <a:solidFill>
                  <a:srgbClr val="FFFFFF"/>
                </a:solidFill>
                <a:latin typeface="Segoe UI"/>
              </a:rPr>
              <a:t>Data Guard, redo logs and log mode give a clear view of your recovery protection.</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Report &amp; govern</a:t>
            </a:r>
          </a:p>
          <a:p>
            <a:pPr algn="l">
              <a:spcBef>
                <a:spcPts val="400"/>
              </a:spcBef>
            </a:pPr>
            <a:r>
              <a:rPr sz="1100" b="0">
                <a:solidFill>
                  <a:srgbClr val="FFFFFF"/>
                </a:solidFill>
                <a:latin typeface="Segoe UI"/>
              </a:rPr>
              <a:t>Scheduled reports keep people informed, and role-based access controls who can see and do what.</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Oracle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