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5486400" cy="365760"/>
          </a:xfrm>
          <a:prstGeom prst="rect">
            <a:avLst/>
          </a:prstGeom>
          <a:noFill/>
        </p:spPr>
        <p:txBody>
          <a:bodyPr wrap="square">
            <a:spAutoFit/>
          </a:bodyPr>
          <a:lstStyle/>
          <a:p>
            <a:pPr algn="l"/>
            <a:r>
              <a:rPr sz="1300" b="1">
                <a:solidFill>
                  <a:srgbClr val="1C4966"/>
                </a:solidFill>
                <a:latin typeface="Segoe UI"/>
              </a:rPr>
              <a:t>● ACTMON</a:t>
            </a:r>
          </a:p>
        </p:txBody>
      </p:sp>
      <p:sp>
        <p:nvSpPr>
          <p:cNvPr id="6" name="TextBox 5"/>
          <p:cNvSpPr txBox="1"/>
          <p:nvPr/>
        </p:nvSpPr>
        <p:spPr>
          <a:xfrm>
            <a:off x="548640" y="1737360"/>
            <a:ext cx="10058400" cy="2194560"/>
          </a:xfrm>
          <a:prstGeom prst="rect">
            <a:avLst/>
          </a:prstGeom>
          <a:noFill/>
        </p:spPr>
        <p:txBody>
          <a:bodyPr wrap="square">
            <a:spAutoFit/>
          </a:bodyPr>
          <a:lstStyle/>
          <a:p>
            <a:pPr algn="l"/>
            <a:r>
              <a:rPr sz="5000" b="1">
                <a:solidFill>
                  <a:srgbClr val="1C4966"/>
                </a:solidFill>
                <a:latin typeface="Segoe UI"/>
              </a:rPr>
              <a:t>INFRASTRUCTURE
&amp; HOST MONITORING</a:t>
            </a:r>
          </a:p>
        </p:txBody>
      </p:sp>
      <p:sp>
        <p:nvSpPr>
          <p:cNvPr id="7" name="Rectangle 6"/>
          <p:cNvSpPr/>
          <p:nvPr/>
        </p:nvSpPr>
        <p:spPr>
          <a:xfrm>
            <a:off x="603504" y="4069080"/>
            <a:ext cx="2377440" cy="73152"/>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97680"/>
            <a:ext cx="10607040" cy="1828800"/>
          </a:xfrm>
          <a:prstGeom prst="rect">
            <a:avLst/>
          </a:prstGeom>
          <a:noFill/>
        </p:spPr>
        <p:txBody>
          <a:bodyPr wrap="square">
            <a:spAutoFit/>
          </a:bodyPr>
          <a:lstStyle/>
          <a:p>
            <a:pPr algn="l"/>
            <a:r>
              <a:rPr sz="1600" b="0">
                <a:solidFill>
                  <a:srgbClr val="2C3B47"/>
                </a:solidFill>
                <a:latin typeface="Segoe UI"/>
              </a:rPr>
              <a:t>Monitor the servers your databases run on — host CPU, memory, disk and processes — for both Linux and Windows hosts, with a root-cause view.</a:t>
            </a:r>
          </a:p>
        </p:txBody>
      </p:sp>
      <p:sp>
        <p:nvSpPr>
          <p:cNvPr id="9" name="TextBox 8"/>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Infrastructure &amp; Host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WHAT IS HOST MONITORING?</a:t>
            </a:r>
          </a:p>
          <a:p>
            <a:pPr algn="l">
              <a:spcBef>
                <a:spcPts val="1000"/>
              </a:spcBef>
            </a:pPr>
            <a:r>
              <a:rPr sz="1250" b="0">
                <a:solidFill>
                  <a:srgbClr val="1C4966"/>
                </a:solidFill>
                <a:latin typeface="Segoe UI"/>
              </a:rPr>
              <a:t>Every database runs on a server. Actmon watches that server alongside the database, so you can tell a database problem apart from a server problem.</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The server, not just the DB</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Actmon shows the host's CPU, memory and disk, so you see the real health of the machine, not only the database running on it.</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Linux and Windows</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It works for both Linux hosts and Windows hosts, reading each the best way available for that platform.</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Built into every dashboard</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Host resources appear inside each database dashboard, so the server is always one glance away from the database you are watching.</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Infrastructure &amp; Host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BUSINESS BENEFITS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Clear value for managers and engineers alike.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Less downtime</a:t>
            </a:r>
          </a:p>
          <a:p>
            <a:pPr algn="l">
              <a:spcBef>
                <a:spcPts val="400"/>
              </a:spcBef>
            </a:pPr>
            <a:r>
              <a:rPr sz="1100" b="0">
                <a:solidFill>
                  <a:srgbClr val="FFFFFF"/>
                </a:solidFill>
                <a:latin typeface="Segoe UI"/>
              </a:rPr>
              <a:t>Problems show up early as clear red signals, so the team reacts before users notice a slowdown or outage in the host. Catching issues early is far cheaper and calmer than fixing them during a full outage.</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Faster troubleshooting</a:t>
            </a:r>
          </a:p>
          <a:p>
            <a:pPr algn="l">
              <a:spcBef>
                <a:spcPts val="400"/>
              </a:spcBef>
            </a:pPr>
            <a:r>
              <a:rPr sz="1100" b="0">
                <a:solidFill>
                  <a:srgbClr val="FFFFFF"/>
                </a:solidFill>
                <a:latin typeface="Segoe UI"/>
              </a:rPr>
              <a:t>Actmon points to the slow query or busy process in seconds instead of hours of manual digging, so incidents are resolved quickly and engineers stay focused on building, not firefighting.</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The real root cause</a:t>
            </a:r>
          </a:p>
          <a:p>
            <a:pPr algn="l">
              <a:spcBef>
                <a:spcPts val="400"/>
              </a:spcBef>
            </a:pPr>
            <a:r>
              <a:rPr sz="1100" b="0">
                <a:solidFill>
                  <a:srgbClr val="FFFFFF"/>
                </a:solidFill>
                <a:latin typeface="Segoe UI"/>
              </a:rPr>
              <a:t>A CPU or memory spike is not always the database. Actmon shows whether the database or another program on the server is responsible, so you fix the right thing the first time.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One affordable tool</a:t>
            </a:r>
          </a:p>
          <a:p>
            <a:pPr algn="l">
              <a:spcBef>
                <a:spcPts val="400"/>
              </a:spcBef>
            </a:pPr>
            <a:r>
              <a:rPr sz="1100" b="0">
                <a:solidFill>
                  <a:srgbClr val="FFFFFF"/>
                </a:solidFill>
                <a:latin typeface="Segoe UI"/>
              </a:rPr>
              <a:t>Health checks, query analysis, error logs and reports are in one platform that replaces several products, lowering cost, simplifying training, and giving everyone a single source of truth.</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Infrastructure &amp; Host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HOW HOST MONITORING WORKS</a:t>
            </a:r>
          </a:p>
          <a:p>
            <a:pPr algn="l">
              <a:spcBef>
                <a:spcPts val="1000"/>
              </a:spcBef>
            </a:pPr>
            <a:r>
              <a:rPr sz="1250" b="0">
                <a:solidFill>
                  <a:srgbClr val="1C4966"/>
                </a:solidFill>
                <a:latin typeface="Segoe UI"/>
              </a:rPr>
              <a:t>Actmon reads host metrics using whatever method fits the platform — and never installs anything intrusive on your servers.</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Linux over SSH</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For a Linux host, Actmon reads CPU, memory, disk and the process list over SSH using standard commands.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Windows from DMVs</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For a SQL Server on Windows, host CPU, memory, disk and cores are read from SQL Server's DMVs — no SSH needed.</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Oracle and local</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Oracle host metrics come from Oracle's own views, and a database on the same machine as Actmon is read directly.</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Infrastructure &amp; Host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WHAT IS MONITORED ON EACH HOST</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The same clear picture, however the host is read.</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CPU usage</a:t>
            </a:r>
          </a:p>
          <a:p>
            <a:pPr algn="l">
              <a:spcBef>
                <a:spcPts val="400"/>
              </a:spcBef>
            </a:pPr>
            <a:r>
              <a:rPr sz="1100" b="0">
                <a:solidFill>
                  <a:srgbClr val="FFFFFF"/>
                </a:solidFill>
                <a:latin typeface="Segoe UI"/>
              </a:rPr>
              <a:t>The server's CPU usage out of 100, shown with the number of cores, so you can tell whether the machine itself is overloaded.</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Memory (RAM)</a:t>
            </a:r>
          </a:p>
          <a:p>
            <a:pPr algn="l">
              <a:spcBef>
                <a:spcPts val="400"/>
              </a:spcBef>
            </a:pPr>
            <a:r>
              <a:rPr sz="1100" b="0">
                <a:solidFill>
                  <a:srgbClr val="FFFFFF"/>
                </a:solidFill>
                <a:latin typeface="Segoe UI"/>
              </a:rPr>
              <a:t>How much memory is in use versus the total on the host, which reveals memory pressure that can slow everything down.</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Disk</a:t>
            </a:r>
          </a:p>
          <a:p>
            <a:pPr algn="l">
              <a:spcBef>
                <a:spcPts val="400"/>
              </a:spcBef>
            </a:pPr>
            <a:r>
              <a:rPr sz="1100" b="0">
                <a:solidFill>
                  <a:srgbClr val="FFFFFF"/>
                </a:solidFill>
                <a:latin typeface="Segoe UI"/>
              </a:rPr>
              <a:t>How full the server's filesystem is, so you are warned before a disk fills up and causes failures.</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Top processes</a:t>
            </a:r>
          </a:p>
          <a:p>
            <a:pPr algn="l">
              <a:spcBef>
                <a:spcPts val="400"/>
              </a:spcBef>
            </a:pPr>
            <a:r>
              <a:rPr sz="1100" b="0">
                <a:solidFill>
                  <a:srgbClr val="FFFFFF"/>
                </a:solidFill>
                <a:latin typeface="Segoe UI"/>
              </a:rPr>
              <a:t>The processes using the most CPU or memory, with the database clearly marked, so you instantly see what is heavy on the host.</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Infrastructure &amp; Host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800" b="1">
                <a:solidFill>
                  <a:srgbClr val="1C4966"/>
                </a:solidFill>
                <a:latin typeface="Segoe UI"/>
              </a:rPr>
              <a:t>HOW EACH HOST TYPE IS READ</a:t>
            </a:r>
          </a:p>
        </p:txBody>
      </p:sp>
      <p:sp>
        <p:nvSpPr>
          <p:cNvPr id="6" name="Rectangle 5"/>
          <p:cNvSpPr/>
          <p:nvPr/>
        </p:nvSpPr>
        <p:spPr>
          <a:xfrm>
            <a:off x="603504" y="1188720"/>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0972800" cy="457200"/>
          </a:xfrm>
          <a:prstGeom prst="rect">
            <a:avLst/>
          </a:prstGeom>
          <a:noFill/>
        </p:spPr>
        <p:txBody>
          <a:bodyPr wrap="square">
            <a:spAutoFit/>
          </a:bodyPr>
          <a:lstStyle/>
          <a:p>
            <a:pPr algn="l"/>
            <a:r>
              <a:rPr sz="1300" b="0">
                <a:solidFill>
                  <a:srgbClr val="2C3B47"/>
                </a:solidFill>
                <a:latin typeface="Segoe UI"/>
              </a:rPr>
              <a:t>Actmon picks the right method automatically for each server.</a:t>
            </a:r>
          </a:p>
        </p:txBody>
      </p:sp>
      <p:graphicFrame>
        <p:nvGraphicFramePr>
          <p:cNvPr id="8" name="Table 7"/>
          <p:cNvGraphicFramePr>
            <a:graphicFrameLocks noGrp="1"/>
          </p:cNvGraphicFramePr>
          <p:nvPr/>
        </p:nvGraphicFramePr>
        <p:xfrm>
          <a:off x="548640" y="192024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200" b="1">
                          <a:solidFill>
                            <a:srgbClr val="FFFFFF"/>
                          </a:solidFill>
                          <a:latin typeface="Segoe UI"/>
                        </a:rPr>
                        <a:t>Host type</a:t>
                      </a:r>
                    </a:p>
                  </a:txBody>
                  <a:tcPr>
                    <a:solidFill>
                      <a:srgbClr val="1C4966"/>
                    </a:solidFill>
                  </a:tcPr>
                </a:tc>
                <a:tc>
                  <a:txBody>
                    <a:bodyPr/>
                    <a:lstStyle/>
                    <a:p>
                      <a:r>
                        <a:rPr sz="1200" b="1">
                          <a:solidFill>
                            <a:srgbClr val="FFFFFF"/>
                          </a:solidFill>
                          <a:latin typeface="Segoe UI"/>
                        </a:rPr>
                        <a:t>How metrics are collected</a:t>
                      </a:r>
                    </a:p>
                  </a:txBody>
                  <a:tcPr>
                    <a:solidFill>
                      <a:srgbClr val="1C4966"/>
                    </a:solidFill>
                  </a:tcPr>
                </a:tc>
              </a:tr>
              <a:tr h="457200">
                <a:tc>
                  <a:txBody>
                    <a:bodyPr/>
                    <a:lstStyle/>
                    <a:p>
                      <a:r>
                        <a:rPr sz="1100">
                          <a:solidFill>
                            <a:srgbClr val="2C3B47"/>
                          </a:solidFill>
                          <a:latin typeface="Segoe UI"/>
                        </a:rPr>
                        <a:t>Linux database host</a:t>
                      </a:r>
                    </a:p>
                  </a:txBody>
                  <a:tcPr>
                    <a:solidFill>
                      <a:srgbClr val="FFFFFF"/>
                    </a:solidFill>
                  </a:tcPr>
                </a:tc>
                <a:tc>
                  <a:txBody>
                    <a:bodyPr/>
                    <a:lstStyle/>
                    <a:p>
                      <a:r>
                        <a:rPr sz="1100">
                          <a:solidFill>
                            <a:srgbClr val="2C3B47"/>
                          </a:solidFill>
                          <a:latin typeface="Segoe UI"/>
                        </a:rPr>
                        <a:t>SSH — standard top / free / df / ps commands (CPU, RAM, disk, processes)</a:t>
                      </a:r>
                    </a:p>
                  </a:txBody>
                  <a:tcPr>
                    <a:solidFill>
                      <a:srgbClr val="FFFFFF"/>
                    </a:solidFill>
                  </a:tcPr>
                </a:tc>
              </a:tr>
              <a:tr h="457200">
                <a:tc>
                  <a:txBody>
                    <a:bodyPr/>
                    <a:lstStyle/>
                    <a:p>
                      <a:r>
                        <a:rPr sz="1100">
                          <a:solidFill>
                            <a:srgbClr val="2C3B47"/>
                          </a:solidFill>
                          <a:latin typeface="Segoe UI"/>
                        </a:rPr>
                        <a:t>Windows + SQL Server</a:t>
                      </a:r>
                    </a:p>
                  </a:txBody>
                  <a:tcPr>
                    <a:solidFill>
                      <a:srgbClr val="E6EFF4"/>
                    </a:solidFill>
                  </a:tcPr>
                </a:tc>
                <a:tc>
                  <a:txBody>
                    <a:bodyPr/>
                    <a:lstStyle/>
                    <a:p>
                      <a:r>
                        <a:rPr sz="1100">
                          <a:solidFill>
                            <a:srgbClr val="2C3B47"/>
                          </a:solidFill>
                          <a:latin typeface="Segoe UI"/>
                        </a:rPr>
                        <a:t>SQL Server DMVs (CPU, RAM, disk, CPU cores) — no SSH needed</a:t>
                      </a:r>
                    </a:p>
                  </a:txBody>
                  <a:tcPr>
                    <a:solidFill>
                      <a:srgbClr val="E6EFF4"/>
                    </a:solidFill>
                  </a:tcPr>
                </a:tc>
              </a:tr>
              <a:tr h="457200">
                <a:tc>
                  <a:txBody>
                    <a:bodyPr/>
                    <a:lstStyle/>
                    <a:p>
                      <a:r>
                        <a:rPr sz="1100">
                          <a:solidFill>
                            <a:srgbClr val="2C3B47"/>
                          </a:solidFill>
                          <a:latin typeface="Segoe UI"/>
                        </a:rPr>
                        <a:t>Oracle host</a:t>
                      </a:r>
                    </a:p>
                  </a:txBody>
                  <a:tcPr>
                    <a:solidFill>
                      <a:srgbClr val="FFFFFF"/>
                    </a:solidFill>
                  </a:tcPr>
                </a:tc>
                <a:tc>
                  <a:txBody>
                    <a:bodyPr/>
                    <a:lstStyle/>
                    <a:p>
                      <a:r>
                        <a:rPr sz="1100">
                          <a:solidFill>
                            <a:srgbClr val="2C3B47"/>
                          </a:solidFill>
                          <a:latin typeface="Segoe UI"/>
                        </a:rPr>
                        <a:t>Oracle v$osstat / v$sysmetric views (CPU, cores, memory)</a:t>
                      </a:r>
                    </a:p>
                  </a:txBody>
                  <a:tcPr>
                    <a:solidFill>
                      <a:srgbClr val="FFFFFF"/>
                    </a:solidFill>
                  </a:tcPr>
                </a:tc>
              </a:tr>
              <a:tr h="457200">
                <a:tc>
                  <a:txBody>
                    <a:bodyPr/>
                    <a:lstStyle/>
                    <a:p>
                      <a:r>
                        <a:rPr sz="1100">
                          <a:solidFill>
                            <a:srgbClr val="2C3B47"/>
                          </a:solidFill>
                          <a:latin typeface="Segoe UI"/>
                        </a:rPr>
                        <a:t>Same machine as Actmon</a:t>
                      </a:r>
                    </a:p>
                  </a:txBody>
                  <a:tcPr>
                    <a:solidFill>
                      <a:srgbClr val="E6EFF4"/>
                    </a:solidFill>
                  </a:tcPr>
                </a:tc>
                <a:tc>
                  <a:txBody>
                    <a:bodyPr/>
                    <a:lstStyle/>
                    <a:p>
                      <a:r>
                        <a:rPr sz="1100">
                          <a:solidFill>
                            <a:srgbClr val="2C3B47"/>
                          </a:solidFill>
                          <a:latin typeface="Segoe UI"/>
                        </a:rPr>
                        <a:t>Read directly with the local system, for any engine</a:t>
                      </a:r>
                    </a:p>
                  </a:txBody>
                  <a:tcPr>
                    <a:solidFill>
                      <a:srgbClr val="E6EFF4"/>
                    </a:solidFill>
                  </a:tcPr>
                </a:tc>
              </a:tr>
            </a:tbl>
          </a:graphicData>
        </a:graphic>
      </p:graphicFrame>
      <p:sp>
        <p:nvSpPr>
          <p:cNvPr id="9" name="TextBox 8"/>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Infrastructure &amp; Host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SERVER &amp; INFRASTRUCTURE MANAGEMENT</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Manage the hosts and connect to them, all in one place.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OS server targets</a:t>
            </a:r>
          </a:p>
          <a:p>
            <a:pPr algn="l">
              <a:spcBef>
                <a:spcPts val="400"/>
              </a:spcBef>
            </a:pPr>
            <a:r>
              <a:rPr sz="1100" b="0">
                <a:solidFill>
                  <a:srgbClr val="FFFFFF"/>
                </a:solidFill>
                <a:latin typeface="Segoe UI"/>
              </a:rPr>
              <a:t>Add the servers you care about by hostname, IP address and OS version, building an inventory of your database hosts.</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SSH test &amp; web terminal</a:t>
            </a:r>
          </a:p>
          <a:p>
            <a:pPr algn="l">
              <a:spcBef>
                <a:spcPts val="400"/>
              </a:spcBef>
            </a:pPr>
            <a:r>
              <a:rPr sz="1100" b="0">
                <a:solidFill>
                  <a:srgbClr val="FFFFFF"/>
                </a:solidFill>
                <a:latin typeface="Segoe UI"/>
              </a:rPr>
              <a:t>Test SSH connectivity to a host, and open a live terminal to a Linux server right in the browser when you need to run a command.</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Linked instances</a:t>
            </a:r>
          </a:p>
          <a:p>
            <a:pPr algn="l">
              <a:spcBef>
                <a:spcPts val="400"/>
              </a:spcBef>
            </a:pPr>
            <a:r>
              <a:rPr sz="1100" b="0">
                <a:solidFill>
                  <a:srgbClr val="FFFFFF"/>
                </a:solidFill>
                <a:latin typeface="Segoe UI"/>
              </a:rPr>
              <a:t>See which database instances run on each host, connecting the server to the databases it carries.</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Agents &amp; live status</a:t>
            </a:r>
          </a:p>
          <a:p>
            <a:pPr algn="l">
              <a:spcBef>
                <a:spcPts val="400"/>
              </a:spcBef>
            </a:pPr>
            <a:r>
              <a:rPr sz="1100" b="0">
                <a:solidFill>
                  <a:srgbClr val="FFFFFF"/>
                </a:solidFill>
                <a:latin typeface="Segoe UI"/>
              </a:rPr>
              <a:t>Agents collect metrics on a schedule, and a live status view shows the current state and a summary of your targets.</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Infrastructure &amp; Host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ROOT-CAUSE DRILL-DOWN</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Go from a high-level metric to the real reason behind it.</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Start at the metric</a:t>
            </a:r>
          </a:p>
          <a:p>
            <a:pPr algn="l">
              <a:spcBef>
                <a:spcPts val="400"/>
              </a:spcBef>
            </a:pPr>
            <a:r>
              <a:rPr sz="1100" b="0">
                <a:solidFill>
                  <a:srgbClr val="FFFFFF"/>
                </a:solidFill>
                <a:latin typeface="Segoe UI"/>
              </a:rPr>
              <a:t>When CPU or memory looks high, click that gauge to begin. No commands are needed — the drill-down guides you from the symptom toward the cause step by step.</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See the top processes</a:t>
            </a:r>
          </a:p>
          <a:p>
            <a:pPr algn="l">
              <a:spcBef>
                <a:spcPts val="400"/>
              </a:spcBef>
            </a:pPr>
            <a:r>
              <a:rPr sz="1100" b="0">
                <a:solidFill>
                  <a:srgbClr val="FFFFFF"/>
                </a:solidFill>
                <a:latin typeface="Segoe UI"/>
              </a:rPr>
              <a:t>Actmon shows the processes using the most CPU or memory on the server, with the database clearly identified, so you immediately see whether it is the heavy one or not.</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Drill into the database</a:t>
            </a:r>
          </a:p>
          <a:p>
            <a:pPr algn="l">
              <a:spcBef>
                <a:spcPts val="400"/>
              </a:spcBef>
            </a:pPr>
            <a:r>
              <a:rPr sz="1100" b="0">
                <a:solidFill>
                  <a:srgbClr val="FFFFFF"/>
                </a:solidFill>
                <a:latin typeface="Segoe UI"/>
              </a:rPr>
              <a:t>Go deeper into the database's own sessions and queries to find the specific statement responsible, connecting the high-level metric to a real, fixable cause.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Root-cause report</a:t>
            </a:r>
          </a:p>
          <a:p>
            <a:pPr algn="l">
              <a:spcBef>
                <a:spcPts val="400"/>
              </a:spcBef>
            </a:pPr>
            <a:r>
              <a:rPr sz="1100" b="0">
                <a:solidFill>
                  <a:srgbClr val="FFFFFF"/>
                </a:solidFill>
                <a:latin typeface="Segoe UI"/>
              </a:rPr>
              <a:t>Actmon produces a report stating whether the database or an external process caused the spike, with a simple breakdown that always adds up to 100% (database + other processes + idle).</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Infrastructure &amp; Host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SUMMARY</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See the whole picture — the database and the server it runs on.</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One view</a:t>
            </a:r>
          </a:p>
          <a:p>
            <a:pPr algn="l">
              <a:spcBef>
                <a:spcPts val="400"/>
              </a:spcBef>
            </a:pPr>
            <a:r>
              <a:rPr sz="1100" b="0">
                <a:solidFill>
                  <a:srgbClr val="FFFFFF"/>
                </a:solidFill>
                <a:latin typeface="Segoe UI"/>
              </a:rPr>
              <a:t>Host CPU, memory, disk and processes sit alongside the database, so you never have to guess about the server.</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Linux and Windows</a:t>
            </a:r>
          </a:p>
          <a:p>
            <a:pPr algn="l">
              <a:spcBef>
                <a:spcPts val="400"/>
              </a:spcBef>
            </a:pPr>
            <a:r>
              <a:rPr sz="1100" b="0">
                <a:solidFill>
                  <a:srgbClr val="FFFFFF"/>
                </a:solidFill>
                <a:latin typeface="Segoe UI"/>
              </a:rPr>
              <a:t>Both platforms are covered, each read the best way for it, with no intrusive software to install.</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Find the heavy process</a:t>
            </a:r>
          </a:p>
          <a:p>
            <a:pPr algn="l">
              <a:spcBef>
                <a:spcPts val="400"/>
              </a:spcBef>
            </a:pPr>
            <a:r>
              <a:rPr sz="1100" b="0">
                <a:solidFill>
                  <a:srgbClr val="FFFFFF"/>
                </a:solidFill>
                <a:latin typeface="Segoe UI"/>
              </a:rPr>
              <a:t>Top processes and the root-cause view show exactly what is using the server's resources.</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Prove the cause</a:t>
            </a:r>
          </a:p>
          <a:p>
            <a:pPr algn="l">
              <a:spcBef>
                <a:spcPts val="400"/>
              </a:spcBef>
            </a:pPr>
            <a:r>
              <a:rPr sz="1100" b="0">
                <a:solidFill>
                  <a:srgbClr val="FFFFFF"/>
                </a:solidFill>
                <a:latin typeface="Segoe UI"/>
              </a:rPr>
              <a:t>A clear breakdown shows whether the database or another process caused a spike, so you fix the right thing.</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Infrastructure &amp; Host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